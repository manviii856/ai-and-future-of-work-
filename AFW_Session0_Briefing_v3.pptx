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74" r:id="rId24"/>
    <p:sldId id="257" r:id="rId3"/>
    <p:sldId id="273" r:id="rId23"/>
    <p:sldId id="268" r:id="rId4"/>
    <p:sldId id="267" r:id="rId5"/>
    <p:sldId id="266" r:id="rId6"/>
    <p:sldId id="272" r:id="rId22"/>
    <p:sldId id="271" r:id="rId21"/>
    <p:sldId id="265" r:id="rId7"/>
    <p:sldId id="264" r:id="rId8"/>
    <p:sldId id="263" r:id="rId9"/>
    <p:sldId id="262" r:id="rId10"/>
    <p:sldId id="261" r:id="rId11"/>
    <p:sldId id="260" r:id="rId12"/>
    <p:sldId id="270" r:id="rId20"/>
    <p:sldId id="259" r:id="rId13"/>
    <p:sldId id="269"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14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8.xml"/><Relationship Id="rId20" Type="http://schemas.openxmlformats.org/officeDocument/2006/relationships/slide" Target="slides/slide16.xml"/><Relationship Id="rId21" Type="http://schemas.openxmlformats.org/officeDocument/2006/relationships/slide" Target="slides/slide9.xml"/><Relationship Id="rId22" Type="http://schemas.openxmlformats.org/officeDocument/2006/relationships/slide" Target="slides/slide8.xml"/><Relationship Id="rId23" Type="http://schemas.openxmlformats.org/officeDocument/2006/relationships/slide" Target="slides/slide4.xml"/><Relationship Id="rId2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55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 (running total 1 min)</a:t>
            </a:r>
          </a:p>
          <a:p/>
          <a:p>
            <a:r>
              <a:t>Welcome everyone to AI &amp; the Future of Work, or AFW.</a:t>
            </a:r>
          </a:p>
          <a:p/>
          <a:p>
            <a:r>
              <a:t>This is Session 0: a short briefing before the course proper begins. Session 1 is the first of the 20 teaching sessions.</a:t>
            </a:r>
          </a:p>
          <a:p/>
          <a:p>
            <a:r>
              <a:t>This course is the next step after Foundations of AI in Business (FAB). In FAB you learned to use AI tools: prompting, checking evidence, responsible use, spreadsheets and simple custom assistants.</a:t>
            </a:r>
          </a:p>
          <a:p/>
          <a:p>
            <a:r>
              <a:t>AFW is different. You will not just use AI. You will:</a:t>
            </a:r>
          </a:p>
          <a:p>
            <a:r>
              <a:t>- investigate how work actually gets done in a real organisation,</a:t>
            </a:r>
          </a:p>
          <a:p>
            <a:r>
              <a:t>- change that process thoughtfully,</a:t>
            </a:r>
          </a:p>
          <a:p>
            <a:r>
              <a:t>- build something that works, and</a:t>
            </a:r>
          </a:p>
          <a:p>
            <a:r>
              <a:t>- defend your choices in front of a panel.</a:t>
            </a:r>
          </a:p>
          <a:p/>
          <a:p>
            <a:r>
              <a:t>The line under the title is the course's macro question: How can managers redesign work, workflows, and professional value so humans and AI systems create better business outcomes together? We will come back to it at the end.</a:t>
            </a:r>
          </a:p>
          <a:p/>
          <a:p>
            <a:r>
              <a:t>The path on the right is the whole course in one line: start from a real problem, design a better way of working, and end with a working solution.</a:t>
            </a:r>
          </a:p>
          <a:p/>
          <a:p>
            <a:r>
              <a:t>This Session 0 briefing is 30 minutes. It covers what you will make, how the course runs, what evidence you must keep, and how you will be marked.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 (running total 4 min)</a:t>
            </a:r>
          </a:p>
          <a:p/>
          <a:p>
            <a:r>
              <a:t>You will leave this course with two things you can show someone.</a:t>
            </a:r>
          </a:p>
          <a:p/>
          <a:p>
            <a:r>
              <a:t>1. As a team: a working AI-enabled solution for a real workplace problem. It could be an agent, a workflow, an app, a tool backed by a database, or a mix of these. You choose the form after you understand the problem, not before.</a:t>
            </a:r>
          </a:p>
          <a:p>
            <a:r>
              <a:t>   - An "agent" is software that can read information and take permitted steps using tools, for example reading an email and updating a record.</a:t>
            </a:r>
          </a:p>
          <a:p>
            <a:r>
              <a:t>   - A "workflow" is simply the sequence of steps through which a piece of work gets done.</a:t>
            </a:r>
          </a:p>
          <a:p/>
          <a:p>
            <a:r>
              <a:t>2. As an individual: a live e-portfolio. This is a website that an employer can open. It should show evidence of your work and your personal contribution to the team project, not just a list of skills you say you have.</a:t>
            </a:r>
          </a:p>
          <a:p/>
          <a:p>
            <a:r>
              <a:t>Stress the banner: slides describe a solution; they are not the solution. At the final panel, the solution must actually run.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1 minute (running total 7 min)</a:t>
            </a:r>
          </a:p>
          <a:p/>
          <a:p>
            <a:r>
              <a:t>Walk through the example from left to right.</a:t>
            </a:r>
          </a:p>
          <a:p/>
          <a:p>
            <a:r>
              <a:t>"Workflow" means the steps through which work gets done. Here: a customer request arrives by email, someone works out the key details, routine cases are sent to the right place, difficult cases go to a person, and the status is saved so anyone can see what happened.</a:t>
            </a:r>
          </a:p>
          <a:p/>
          <a:p>
            <a:r>
              <a:t>An "agent" could handle some of these steps. An agent is software that can read information and take permitted steps using tools. It needs boundaries: what it is allowed to do, and when it must stop and hand over.</a:t>
            </a:r>
          </a:p>
          <a:p/>
          <a:p>
            <a:r>
              <a:t>Point to the gold step. A human may still approve a sensitive decision or deal with an unusual case. Deciding who does what, the person or the AI, is what we will call "decision rights" in this course.</a:t>
            </a:r>
          </a:p>
          <a:p/>
          <a:p>
            <a:r>
              <a:t>Point to the saved record. If nothing is recorded, nobody can check, follow up or improve the process.</a:t>
            </a:r>
          </a:p>
          <a:p/>
          <a:p>
            <a:r>
              <a:t>Close with the two questions at the bottom. Do not start from "where can we add AI?" Start from "how can this work be done better?" Sometimes the better answer uses less AI, not more.</a:t>
            </a:r>
          </a:p>
          <a:p/>
          <a:p>
            <a:r>
              <a:t>This example is only an illustration. It is not a prescribed capstone topic.</a:t>
            </a:r>
          </a:p>
        </p:txBody>
      </p:sp>
    </p:spTree>
    <p:extLst>
      <p:ext uri="{BB962C8B-B14F-4D97-AF65-F5344CB8AC3E}">
        <p14:creationId xmlns:p14="http://schemas.microsoft.com/office/powerpoint/2010/main" val="4285112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1 minute (running total 8 min)</a:t>
            </a:r>
          </a:p>
          <a:p/>
          <a:p>
            <a:r>
              <a:t>The 20 sessions move through four broad modules. Do not walk through all 20 sessions; just give the shape.</a:t>
            </a:r>
          </a:p>
          <a:p/>
          <a:p>
            <a:r>
              <a:t>1. Understand the work. Find a real problem and study how the work happens now. Ask what people should do and what AI should do. That question is about "decision rights": who is allowed to decide, approve or act at each step.</a:t>
            </a:r>
          </a:p>
          <a:p>
            <a:r>
              <a:t>2. Show your skills. Build your live e-portfolio and learn how to show your contribution with evidence.</a:t>
            </a:r>
          </a:p>
          <a:p>
            <a:r>
              <a:t>3. Build the solution. Turn your understanding into a working workflow or app. Your first working version is called a "prototype": an early version that is good enough to test, not a finished product.</a:t>
            </a:r>
          </a:p>
          <a:p>
            <a:r>
              <a:t>4. Prove it works. Test the solution on realistic cases, find where it fails, improve it, and defend it at the final panel.</a:t>
            </a:r>
          </a:p>
          <a:p/>
          <a:p>
            <a:r>
              <a:t>The session ranges are a guide from the course plan. The modules overlap: for example, you keep improving your portfolio and your problem understanding throughout.</a:t>
            </a:r>
          </a:p>
          <a:p/>
          <a:p>
            <a:r>
              <a:t>The banner is the key point: the same real problem carries through all four modules, which is why finding it early matters.</a:t>
            </a:r>
          </a:p>
        </p:txBody>
      </p:sp>
    </p:spTree>
    <p:extLst>
      <p:ext uri="{BB962C8B-B14F-4D97-AF65-F5344CB8AC3E}">
        <p14:creationId xmlns:p14="http://schemas.microsoft.com/office/powerpoint/2010/main" val="2675967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10 min)</a:t>
            </a:r>
          </a:p>
          <a:p/>
          <a:p>
            <a:r>
              <a:t>"WIP" stands for work in progress. A WIP is a checkpoint where you show how far your project has moved. It is not a rehearsal of your final presentation.</a:t>
            </a:r>
          </a:p>
          <a:p/>
          <a:p>
            <a:r>
              <a:t>- WIP 1, Problem Discovery (Session 5): is this a real, specific work problem, in a real organisation?</a:t>
            </a:r>
          </a:p>
          <a:p>
            <a:r>
              <a:t>- WIP 2, Business Problem &amp; Evidence (Session 10): do you understand how the work happens today, and can you back that up? "Evidence" means material others can check: notes, documents, examples, records. Not just your opinion.</a:t>
            </a:r>
          </a:p>
          <a:p>
            <a:r>
              <a:t>- WIP 3, Future Workflow, Methodology &amp; Prototype (Session 15): does your proposed new way of working make sense, and does an early version actually work? A "prototype" is that early working version.</a:t>
            </a:r>
          </a:p>
          <a:p/>
          <a:p>
            <a:r>
              <a:t>After the WIPs: Sessions 16–17 are for testing and improving the solution; your Individual Live E-Portfolio is assessed in Session 18; and the Final Business Solution &amp; Defence takes place in Sessions 19–20, with a live demo, panel questions and an individual viva.</a:t>
            </a:r>
          </a:p>
          <a:p/>
          <a:p>
            <a:r>
              <a:t>Each WIP must show progress supported by your physical evidence folder. Respond to the feedback you get between checkpoints. Do not repeat the same presentation three times.</a:t>
            </a:r>
          </a:p>
          <a:p/>
          <a:p>
            <a:r>
              <a:t>Calendar dates and submission windows will be communicated through FIIB Hub.</a:t>
            </a:r>
          </a:p>
        </p:txBody>
      </p:sp>
    </p:spTree>
    <p:extLst>
      <p:ext uri="{BB962C8B-B14F-4D97-AF65-F5344CB8AC3E}">
        <p14:creationId xmlns:p14="http://schemas.microsoft.com/office/powerpoint/2010/main" val="1243862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16 min)</a:t>
            </a:r>
          </a:p>
          <a:p/>
          <a:p>
            <a:r>
              <a:t>Go through the five features of a suitable problem.</a:t>
            </a:r>
          </a:p>
          <a:p/>
          <a:p>
            <a:r>
              <a:t>The comparison on the right is the key idea. "HR needs AI" is a wish, not a problem. You cannot study it or test a solution for it. "Recruiters spend time checking incomplete applications before interviews" names a specific task, the people who do it, and a clear delay. You can ask how it is done today, measure it, and test an improvement.</a:t>
            </a:r>
          </a:p>
          <a:p/>
          <a:p>
            <a:r>
              <a:t>Understand the work before you choose the tool.</a:t>
            </a:r>
          </a:p>
          <a:p/>
          <a:p>
            <a:r>
              <a:t>Be clear about roles. The practitioner gives you context and feedback. Your team is responsible for the analysis, the design, the build and the testing. The practitioner is not doing the project for you.</a:t>
            </a:r>
          </a:p>
          <a:p/>
          <a:p>
            <a:r>
              <a:t>Two cautions:</a:t>
            </a:r>
          </a:p>
          <a:p>
            <a:r>
              <a:t>- Do not promise an organisation that you will deploy software into its live systems. You are building and testing a solution, not installing it in their company.</a:t>
            </a:r>
          </a:p>
          <a:p>
            <a:r>
              <a:t>- Only test with safe, permitted examples. Keep confidential or personal data out of public AI tools, GitHub and your portfolio unless the organisation has clearly permitted it.</a:t>
            </a:r>
          </a:p>
        </p:txBody>
      </p:sp>
    </p:spTree>
    <p:extLst>
      <p:ext uri="{BB962C8B-B14F-4D97-AF65-F5344CB8AC3E}">
        <p14:creationId xmlns:p14="http://schemas.microsoft.com/office/powerpoint/2010/main" val="1463378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18 min)</a:t>
            </a:r>
          </a:p>
          <a:p/>
          <a:p>
            <a:r>
              <a:t>Make the urgency clear. You need a real problem early, because all three WIPs build on it. If you start looking only when WIP 1 is close, you will not have time to understand the work properly.</a:t>
            </a:r>
          </a:p>
          <a:p/>
          <a:p>
            <a:r>
              <a:t>Walk through the five steps:</a:t>
            </a:r>
          </a:p>
          <a:p>
            <a:r>
              <a:t>1. Pick a sector or kind of organisation your team can reach.</a:t>
            </a:r>
          </a:p>
          <a:p>
            <a:r>
              <a:t>2. Find practitioners: people who actually do or manage the work.</a:t>
            </a:r>
          </a:p>
          <a:p>
            <a:r>
              <a:t>3. Write a short, polite request for a conversation. Send it from your FIIB email so the contact is traceable to the institution.</a:t>
            </a:r>
          </a:p>
          <a:p>
            <a:r>
              <a:t>4. In the conversation, ask about one work process: what the steps are, where it gets stuck, and how success is measured.</a:t>
            </a:r>
          </a:p>
          <a:p>
            <a:r>
              <a:t>5. Keep the official email trail, and write down what was said and what you agreed to do next. All of this goes into your physical evidence folder.</a:t>
            </a:r>
          </a:p>
          <a:p/>
          <a:p>
            <a:r>
              <a:t>Point to the navy box. Do not ask a practitioner to "give us an AI project." Ask about their work. The AI part comes later, once you understand the process.</a:t>
            </a:r>
          </a:p>
          <a:p/>
          <a:p>
            <a:r>
              <a:t>Each student or team should follow the course's team and outreach instructions once they are announced.</a:t>
            </a:r>
          </a:p>
        </p:txBody>
      </p:sp>
    </p:spTree>
    <p:extLst>
      <p:ext uri="{BB962C8B-B14F-4D97-AF65-F5344CB8AC3E}">
        <p14:creationId xmlns:p14="http://schemas.microsoft.com/office/powerpoint/2010/main" val="93870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20 min)</a:t>
            </a:r>
          </a:p>
          <a:p/>
          <a:p>
            <a:r>
              <a:t>Every team keeps one cumulative physical evidence folder for its industry / practitioner project. It is a paper folder, built up from WIP 1 to the final assessment. It is for the team project, not for the e-portfolio.</a:t>
            </a:r>
          </a:p>
          <a:p/>
          <a:p>
            <a:r>
              <a:t>What goes in it (the five sections on the left):</a:t>
            </a:r>
          </a:p>
          <a:p>
            <a:r>
              <a:t>- Outreach: outreach emails, practitioner replies, meeting invitations and dates, and the official communication trail.</a:t>
            </a:r>
          </a:p>
          <a:p>
            <a:r>
              <a:t>- Problem: the project charter, the organisation and practitioner/contact, problem and scope, team roles, current-process evidence, dated practitioner notes, and supporting sources.</a:t>
            </a:r>
          </a:p>
          <a:p>
            <a:r>
              <a:t>- Build: the future-state workflow, architecture and methodology decisions, prototype and build evidence, and relevant versions.</a:t>
            </a:r>
          </a:p>
          <a:p>
            <a:r>
              <a:t>- Tests: test logs, expected results, failures, fixes, retesting and the V1 to V2 improvement.</a:t>
            </a:r>
          </a:p>
          <a:p>
            <a:r>
              <a:t>- Feedback: practitioner clarifications, feedback, validation, revisions and implementation considerations.</a:t>
            </a:r>
          </a:p>
          <a:p/>
          <a:p>
            <a:r>
              <a:t>The rules:</a:t>
            </a:r>
          </a:p>
          <a:p>
            <a:r>
              <a:t>- One master team folder may be kept, but every student must keep their own copy of the required evidence. Photocopies or identical signed sets are acceptable.</a:t>
            </a:r>
          </a:p>
          <a:p>
            <a:r>
              <a:t>- Relevant documents must be faculty-signed.</a:t>
            </a:r>
          </a:p>
          <a:p>
            <a:r>
              <a:t>- Practitioner engagement must be verifiable through official communication trails: official email IDs or other official contact points. Your outreach goes from your FIIB email.</a:t>
            </a:r>
          </a:p>
          <a:p>
            <a:r>
              <a:t>- Practitioners do not sign the folder. More engagement evidence (outreach, replies, clarifications, feedback, validation, follow-up) is encouraged.</a:t>
            </a:r>
          </a:p>
          <a:p>
            <a:r>
              <a:t>- AI-generated practitioner evidence is not permitted.</a:t>
            </a:r>
          </a:p>
          <a:p>
            <a:r>
              <a:t>- Keep confidential or personal data out of public AI tools, public GitHub repositories and public portfolios.</a:t>
            </a:r>
          </a:p>
          <a:p/>
          <a:p>
            <a:r>
              <a:t>"We spoke to someone" is a claim. The folder is the proof.</a:t>
            </a:r>
          </a:p>
        </p:txBody>
      </p:sp>
    </p:spTree>
    <p:extLst>
      <p:ext uri="{BB962C8B-B14F-4D97-AF65-F5344CB8AC3E}">
        <p14:creationId xmlns:p14="http://schemas.microsoft.com/office/powerpoint/2010/main" val="2822310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1 minute (running total 21 min)</a:t>
            </a:r>
          </a:p>
          <a:p/>
          <a:p>
            <a:r>
              <a:t>The physical evidence folder is a gate, not an optional extra. It is cumulative: each checkpoint adds to what was already there.</a:t>
            </a:r>
          </a:p>
          <a:p/>
          <a:p>
            <a:r>
              <a:t>- WIP 1 (folder ready before Session 5): a project charter, a short agreement about what the team is trying to solve, for whom, and within what limits. It names the problem, the organisation, the practitioner/contact, the scope, team roles and the intended outcome, with the supporting outreach evidence.</a:t>
            </a:r>
          </a:p>
          <a:p>
            <a:r>
              <a:t>- WIP 2 (folder complete before Session 10): everything from WIP 1, plus the current-state workflow or process map, the evidence scan, practitioner notes and communication evidence, pain points, unknowns and supporting analytical work. An "evidence scan" is a sensible review of relevant documents, observations, practitioner input and other sources.</a:t>
            </a:r>
          </a:p>
          <a:p>
            <a:r>
              <a:t>- WIP 3 (folder complete before Session 15): everything from WIP 1 and 2, plus the future-state workflow, the solution architecture and methodology, a working prototype, the initial test log, documented failures, revisions and practitioner evidence.</a:t>
            </a:r>
          </a:p>
          <a:p/>
          <a:p>
            <a:r>
              <a:t>Teams without the required faculty-signed folder will not be permitted to appear for that WIP presentation.</a:t>
            </a:r>
          </a:p>
          <a:p/>
          <a:p>
            <a:r>
              <a:t>Final assessment eligibility: the complete, cumulative, faculty-signed folder must be ready in Session 18 and before Session 19. Teams arriving for the Final Business Solution &amp; Defence without the completed approved folder will not be assessed, and the folder cannot be produced on or after Session 19 to regain eligibility.</a:t>
            </a:r>
          </a:p>
          <a:p/>
          <a:p>
            <a:r>
              <a:t>Submissions received after the stated deadline will not be accepted or evaluated.</a:t>
            </a:r>
          </a:p>
        </p:txBody>
      </p:sp>
    </p:spTree>
    <p:extLst>
      <p:ext uri="{BB962C8B-B14F-4D97-AF65-F5344CB8AC3E}">
        <p14:creationId xmlns:p14="http://schemas.microsoft.com/office/powerpoint/2010/main" val="2626504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1 minute (running total 22 min)</a:t>
            </a:r>
          </a:p>
          <a:p/>
          <a:p>
            <a:r>
              <a:t>Four LinkedIn Learning courses are mandatory. Each course card on the slide is a clickable link to the course (in slideshow mode, click the card).</a:t>
            </a:r>
          </a:p>
          <a:p/>
          <a:p>
            <a:r>
              <a:t>Each one supports a session in class:</a:t>
            </a:r>
          </a:p>
          <a:p>
            <a:r>
              <a:t>1. Google Workspace Studio (Session 2): building automated, agentic workflows.</a:t>
            </a:r>
          </a:p>
          <a:p>
            <a:r>
              <a:t>2. GitHub (Session 7): keeping a version history of your work.</a:t>
            </a:r>
          </a:p>
          <a:p>
            <a:r>
              <a:t>3. Streamlit (Session 8): building a live web interface, used for your portfolio and your solution.</a:t>
            </a:r>
          </a:p>
          <a:p>
            <a:r>
              <a:t>4. Supabase (Session 11): saving data in a database (persistence), so your solution can remember records.</a:t>
            </a:r>
          </a:p>
          <a:p/>
          <a:p>
            <a:r>
              <a:t>The rules are strict:</a:t>
            </a:r>
          </a:p>
          <a:p>
            <a:r>
              <a:t>- Each valid certificate is worth 2.5 marks; four certificates = 10 marks.</a:t>
            </a:r>
          </a:p>
          <a:p>
            <a:r>
              <a:t>- Each certificate must be submitted with a working, clickable certificate / verification link. A certificate without a valid, accessible verification link receives 0 marks.</a:t>
            </a:r>
          </a:p>
          <a:p>
            <a:r>
              <a:t>- All four certificate submissions are due by Session 17.</a:t>
            </a:r>
          </a:p>
          <a:p>
            <a:r>
              <a:t>- Students who do not submit all four valid certificates by Session 17 are not eligible to appear for the Individual Live E-Portfolio assessment in Session 18 or the Final Business Solution &amp; Defence in Sessions 19–20.</a:t>
            </a:r>
          </a:p>
          <a:p>
            <a:r>
              <a:t>- AI is not used for this assessment (No AI). Complete the courses yourself.</a:t>
            </a:r>
          </a:p>
          <a:p/>
          <a:p>
            <a:r>
              <a:t>Submissions received after the stated deadline will not be accepted or evaluated.</a:t>
            </a:r>
          </a:p>
        </p:txBody>
      </p:sp>
    </p:spTree>
    <p:extLst>
      <p:ext uri="{BB962C8B-B14F-4D97-AF65-F5344CB8AC3E}">
        <p14:creationId xmlns:p14="http://schemas.microsoft.com/office/powerpoint/2010/main" val="2258573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24 min)</a:t>
            </a:r>
          </a:p>
          <a:p/>
          <a:p>
            <a:r>
              <a:t>AFW has no separate End-Term Examination. All 100 marks are assessed through seven components, AS1 to AS7.</a:t>
            </a:r>
          </a:p>
          <a:p/>
          <a:p>
            <a:r>
              <a:t>- AS1 Discussion Questions (5, individual, Session 1): short questions that check your own understanding of the course ideas. No AI.</a:t>
            </a:r>
          </a:p>
          <a:p>
            <a:r>
              <a:t>- AS2 WIP 1 – Problem Discovery (10, team, Session 5).</a:t>
            </a:r>
          </a:p>
          <a:p>
            <a:r>
              <a:t>- AS3 WIP 2 – Business Problem &amp; Evidence (10, team, Session 10).</a:t>
            </a:r>
          </a:p>
          <a:p>
            <a:r>
              <a:t>- AS4 WIP 3 – Future Workflow, Methodology &amp; Prototype (10, team, Session 15).</a:t>
            </a:r>
          </a:p>
          <a:p>
            <a:r>
              <a:t>- AS5 LinkedIn Learning Certificates (10, individual, due by Session 17): 2.5 marks per valid certificate with a working verification link.</a:t>
            </a:r>
          </a:p>
          <a:p>
            <a:r>
              <a:t>- AS6 Individual Live E-Portfolio (15, individual, Session 18).</a:t>
            </a:r>
          </a:p>
          <a:p>
            <a:r>
              <a:t>- AS7 Final Business Solution &amp; Defence (40, team with individual viva, Sessions 19–20).</a:t>
            </a:r>
          </a:p>
          <a:p/>
          <a:p>
            <a:r>
              <a:t>Point to the right-hand side. AS7's 40 marks are split into 24 for the Working AI-Enabled Business Solution and 16 for the Presentation &amp; Defence. These two numbers are inside the 40, not extra marks. 5 + 10 + 10 + 10 + 10 + 15 + 40 = 100.</a:t>
            </a:r>
          </a:p>
          <a:p/>
          <a:p>
            <a:r>
              <a:t>At the panel, each member is questioned to establish their own understanding and contribution. Being on a strong team is not enough; you must be able to explain your part.</a:t>
            </a:r>
          </a:p>
        </p:txBody>
      </p:sp>
    </p:spTree>
    <p:extLst>
      <p:ext uri="{BB962C8B-B14F-4D97-AF65-F5344CB8AC3E}">
        <p14:creationId xmlns:p14="http://schemas.microsoft.com/office/powerpoint/2010/main" val="398427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1 minute (running total 27 min)</a:t>
            </a:r>
          </a:p>
          <a:p/>
          <a:p>
            <a:r>
              <a:t>Go through the checklist. Everything above the last item can start today:</a:t>
            </a:r>
          </a:p>
          <a:p>
            <a:r>
              <a:t>- confer with your Learning Team,</a:t>
            </a:r>
          </a:p>
          <a:p>
            <a:r>
              <a:t>- choose a sector and list possible organisations,</a:t>
            </a:r>
          </a:p>
          <a:p>
            <a:r>
              <a:t>- identify at least one relevant practitioner per team member,</a:t>
            </a:r>
          </a:p>
          <a:p>
            <a:r>
              <a:t>- send your first outreach from your FIIB email,</a:t>
            </a:r>
          </a:p>
          <a:p>
            <a:r>
              <a:t>- start the team's cumulative physical evidence folder and preserve the official communication trail; every student keeps their own copy.</a:t>
            </a:r>
          </a:p>
          <a:p>
            <a:r>
              <a:t>Then come to Session 1 ready to explain the problem you are exploring.</a:t>
            </a:r>
          </a:p>
          <a:p/>
          <a:p>
            <a:r>
              <a:t>Close by repeating the course promise on the right. By the end of AFW you should be able to point to a real problem, explain how you studied it, demonstrate a working solution, show where it fails and how you improved it, and make your personal contribution visible.</a:t>
            </a:r>
          </a:p>
          <a:p/>
          <a:p>
            <a:r>
              <a:t>Read the banner aloud. A problem invented in the final week will not survive the WIPs or the panel. Start the conversation now.</a:t>
            </a:r>
          </a:p>
          <a:p/>
          <a:p>
            <a:r>
              <a:t>Leave a short moment for immediate questions.</a:t>
            </a:r>
          </a:p>
        </p:txBody>
      </p:sp>
    </p:spTree>
    <p:extLst>
      <p:ext uri="{BB962C8B-B14F-4D97-AF65-F5344CB8AC3E}">
        <p14:creationId xmlns:p14="http://schemas.microsoft.com/office/powerpoint/2010/main" val="486849072"/>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3 min)</a:t>
            </a:r>
          </a:p>
          <a:p/>
          <a:p>
            <a:r>
              <a:t>Put the macro question on screen and let it sit for a moment. Everything in this course hangs off it.</a:t>
            </a:r>
          </a:p>
          <a:p/>
          <a:p>
            <a:r>
              <a:t>In plain words: when AI can do parts of a job, how should managers change the way work is done, so that people and AI together get a better result for the business?</a:t>
            </a:r>
          </a:p>
          <a:p/>
          <a:p>
            <a:r>
              <a:t>The four learning outcomes (LOs) are how you answer it:</a:t>
            </a:r>
          </a:p>
          <a:p>
            <a:r>
              <a:t>- LO1 Analyse: how AI changes jobs, tasks, workflows, decision rights and managerial work, including where it should support people (augmentation) and where it can take over a task (automation).</a:t>
            </a:r>
          </a:p>
          <a:p>
            <a:r>
              <a:t>- LO2 Build: build and deploy AI-enabled workflows and business applications, using appropriate tools for the interface, automation, versioning (version history), persistence (saved data), agentic workflows and tool connectivity.</a:t>
            </a:r>
          </a:p>
          <a:p>
            <a:r>
              <a:t>- LO3 Design: design evidence-based human-AI solutions for real organisational problems, choosing between an agent, an app, a database-backed tool, a hybrid, or a simple rules-based approach.</a:t>
            </a:r>
          </a:p>
          <a:p>
            <a:r>
              <a:t>- LO4 Evaluate and defend: test the solution, study where it fails, improve it, govern it (privacy and control), check it with stakeholders, and plan how it would be implemented.</a:t>
            </a:r>
          </a:p>
          <a:p/>
          <a:p>
            <a:r>
              <a:t>This course builds on FAB. You already know how to use AI tools. Here you use that to redesign real work.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6 min)</a:t>
            </a:r>
          </a:p>
          <a:p/>
          <a:p>
            <a:r>
              <a:t>This is the "why this makes you employable" slide.</a:t>
            </a:r>
          </a:p>
          <a:p/>
          <a:p>
            <a:r>
              <a:t>FIIB ARC is a capability architecture, not a sequence. All four arcs are built together across the course:</a:t>
            </a:r>
          </a:p>
          <a:p>
            <a:r>
              <a:t>- Foundation: the core language of AI-shaped work: jobs versus tasks, workflows, agents, augmentation versus automation.</a:t>
            </a:r>
          </a:p>
          <a:p>
            <a:r>
              <a:t>- Connection: how people, process, data and tools link across functions when a piece of work is redesigned.</a:t>
            </a:r>
          </a:p>
          <a:p>
            <a:r>
              <a:t>- Analysis &amp; Intelligence: mapping how work happens today, gathering evidence, and building and testing with real tools.</a:t>
            </a:r>
          </a:p>
          <a:p>
            <a:r>
              <a:t>- Judgement &amp; Impact: deciding what AI should and should not do, governing it, and defending that choice to a panel.</a:t>
            </a:r>
          </a:p>
          <a:p/>
          <a:p>
            <a:r>
              <a:t>Employability Signal: Professional Core. This is a core course that builds professional capability you can show, not just knowledge.</a:t>
            </a:r>
          </a:p>
          <a:p/>
          <a:p>
            <a:r>
              <a:t>The roles on the right come from the course plan. In each of them, you would be expected to look at a process, work out where AI helps and where people must decide, build or specify a solution, and prove that it works. That is exactly what your project and portfolio will show an employer.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12 min)</a:t>
            </a:r>
          </a:p>
          <a:p/>
          <a:p>
            <a:r>
              <a:t>This is how the course is taught. It follows the five ActionWorks movements, all applied to your team's real problem:</a:t>
            </a:r>
          </a:p>
          <a:p>
            <a:r>
              <a:t>1. Experience: you meet a real work problem, through your practitioner conversations and the live cases in class.</a:t>
            </a:r>
          </a:p>
          <a:p>
            <a:r>
              <a:t>2. Explore: you map how the work happens today and gather evidence (this is WIP 2).</a:t>
            </a:r>
          </a:p>
          <a:p>
            <a:r>
              <a:t>3. Execute: you build the workflow, agent or app.</a:t>
            </a:r>
          </a:p>
          <a:p>
            <a:r>
              <a:t>4. Evaluate: you test it on normal, difficult and "break" cases, other teams red-team it (deliberately try to break it), and you defend it.</a:t>
            </a:r>
          </a:p>
          <a:p>
            <a:r>
              <a:t>5. Evolve: you use feedback and failures to improve from version 1 to version 2.</a:t>
            </a:r>
          </a:p>
          <a:p/>
          <a:p>
            <a:r>
              <a:t>Learning styles you will see: discussion-based learning, live cases, AI as a co-pilot, hands-on tool application labs (Workspace Studio, GitHub, Streamlit, Supabase), decision simulators (for example, scenario testing of when a workflow should escalate to a person), project studios, critique and reflection (for example a 90-second peer recruiter test of your portfolio), and industry / practitioner interaction.</a:t>
            </a:r>
          </a:p>
          <a:p/>
          <a:p>
            <a:r>
              <a:t>Each session has the same ingredients: a micro question, a recent live case, a hands-on activity, and an artefact you keep.</a:t>
            </a:r>
          </a:p>
          <a:p/>
          <a:p>
            <a:r>
              <a:t>These are selected live cases from 2026, not the full list used in the course: Basis (an onboarding agent cuts a two-hour setup to 30 minutes), Proaction (a fleet-maintenance agent that seeks approval for estimates), Bell with ServiceNow (agents that validate and triage customer cases), Clay (a persistent workspace per sales account), 1Password with Codex (turning user stories into working features within security boundaries), BBVA with OpenAI (about 100,000 employees using enterprise AI), and Asana with Codex (a migration estimated at five years done in about two weeks, with every change reviewed by engineers).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14 min)</a:t>
            </a:r>
          </a:p>
          <a:p/>
          <a:p>
            <a:r>
              <a:t>Be explicit and honest about AI from day zero.</a:t>
            </a:r>
          </a:p>
          <a:p/>
          <a:p>
            <a:r>
              <a:t>AI is your co-pilot, not a bolt-on. You will use it actively to analyse, compare, generate, critique, build, test and iterate. In this course AI is also part of what you build: your solution may itself be an agent.</a:t>
            </a:r>
          </a:p>
          <a:p/>
          <a:p>
            <a:r>
              <a:t>What AI cannot replace. These stay yours:</a:t>
            </a:r>
          </a:p>
          <a:p>
            <a:r>
              <a:t>- choosing and framing the problem;</a:t>
            </a:r>
          </a:p>
          <a:p>
            <a:r>
              <a:t>- authentic practitioner evidence. It records real conversations and must never be AI-generated;</a:t>
            </a:r>
          </a:p>
          <a:p>
            <a:r>
              <a:t>- final judgement on whether the solution is appropriate;</a:t>
            </a:r>
          </a:p>
          <a:p>
            <a:r>
              <a:t>- your answers during the live panel and viva;</a:t>
            </a:r>
          </a:p>
          <a:p>
            <a:r>
              <a:t>- claims about your own contribution.</a:t>
            </a:r>
          </a:p>
          <a:p/>
          <a:p>
            <a:r>
              <a:t>AI Assessment Level for each assessment:</a:t>
            </a:r>
          </a:p>
          <a:p>
            <a:r>
              <a:t>- AS1 Discussion Questions: No AI. They check your own understanding.</a:t>
            </a:r>
          </a:p>
          <a:p>
            <a:r>
              <a:t>- AS2–AS4 WIP 1, 2 and 3: AI Collaboration. AI may support structuring, drafting, synthesis, design and prototyping, but you must check and modify what it produces, and be able to explain how AI-supported outputs were checked and used.</a:t>
            </a:r>
          </a:p>
          <a:p>
            <a:r>
              <a:t>- AS5 LinkedIn Learning Certificates: No AI. You complete the courses yourself.</a:t>
            </a:r>
          </a:p>
          <a:p>
            <a:r>
              <a:t>- AS6 Individual Live E-Portfolio: AI Collaboration. AI may help plan, refine, code and test it; you choose the evidence, make the claims and explain your work.</a:t>
            </a:r>
          </a:p>
          <a:p>
            <a:r>
              <a:t>- AS7 Working AI-Enabled Business Solution (24): Full AI. Use AI extensively to build, test and improve it.</a:t>
            </a:r>
          </a:p>
          <a:p>
            <a:r>
              <a:t>- AS7 Presentation &amp; Defence (16): No AI during the live presentation, questioning or viva.</a:t>
            </a:r>
          </a:p>
          <a:p/>
          <a:p>
            <a:r>
              <a:t>Misuse of AI, or undisclosed AI use where it is restricted, is treated under FIIB's academic integrity policy.</a:t>
            </a:r>
          </a:p>
          <a:p/>
          <a:p>
            <a:r>
              <a:t>Responsibility: think about privacy, data minimisation, permissions, decision rights, escalation and stakeholder impact. Keep confidential or personal data out of public AI tools, public GitHub repositories and public portfolios.</a:t>
            </a:r>
          </a:p>
          <a:p/>
          <a:p>
            <a:r>
              <a:t>Tools: Google Workspace Studio, Gemini / Gems, NotebookLM, GitHub, Streamlit, Supabase and MCP-based tool connectivity, plus approved GenAI tools and agents. Tool choice follows problem fit; no single stack is mandatory for every project.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2 minutes (running total 26 min)</a:t>
            </a:r>
          </a:p>
          <a:p/>
          <a:p>
            <a:r>
              <a:t>Cover the essentials quickly.</a:t>
            </a:r>
          </a:p>
          <a:p>
            <a:r>
              <a:t>- Punctuality and attendance: be on time; attendance follows FIIB policy.</a:t>
            </a:r>
          </a:p>
          <a:p>
            <a:r>
              <a:t>- Devices: devices are for class work (building, testing, research), not for anything else during class.</a:t>
            </a:r>
          </a:p>
          <a:p>
            <a:r>
              <a:t>- Deadlines: late submission is no submission. Submissions received after the stated deadline will not be accepted or evaluated; no delayed submission is permitted. This applies to every assessment.</a:t>
            </a:r>
          </a:p>
          <a:p>
            <a:r>
              <a:t>- Respect: challenge ideas, not people. Constructive disagreement is part of red-teaming and panel defence.</a:t>
            </a:r>
          </a:p>
          <a:p/>
          <a:p>
            <a:r>
              <a:t>Then co-create the class contract. Ask the class for 3 to 5 shared habits (on post-its or called out) and write them into the boxes. Examples to prompt with, only if needed: "come with the evidence folder updated", "say 'I don't know yet' instead of guessing", "give feedback on the work, not the person".</a:t>
            </a:r>
          </a:p>
          <a:p/>
          <a:p>
            <a:r>
              <a:t>Emphasise community: we are co-learners and co-creators. Many of you will know more about a specific tool than someone else in the room.</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time: 3 minutes (running total 30 min)</a:t>
            </a:r>
          </a:p>
          <a:p/>
          <a:p>
            <a:r>
              <a:t>Open the floor for questions. Use the FAQ to answer the common ones quickly; take any others live.</a:t>
            </a:r>
          </a:p>
          <a:p/>
          <a:p>
            <a:r>
              <a:t>Answers in a little more detail:</a:t>
            </a:r>
          </a:p>
          <a:p>
            <a:r>
              <a:t>- Own organisation: yes, as long as the problem is real and specific and someone there can help you understand how the work happens.</a:t>
            </a:r>
          </a:p>
          <a:p>
            <a:r>
              <a:t>- No official email: ask the faculty to approve an alternative evidence route before you rely on it.</a:t>
            </a:r>
          </a:p>
          <a:p>
            <a:r>
              <a:t>- Coding: no prior coding is assumed. The tool labs and the four LinkedIn Learning courses cover the tools step by step.</a:t>
            </a:r>
          </a:p>
          <a:p>
            <a:r>
              <a:t>- AI use: yes, within the AI Assessment Level of each assessment. Your judgement, practitioner evidence and live defence stay your own.</a:t>
            </a:r>
          </a:p>
          <a:p>
            <a:r>
              <a:t>- Late work: late submission is no submission. Work received after the stated deadline is not accepted or evaluated.</a:t>
            </a:r>
          </a:p>
          <a:p>
            <a:r>
              <a:t>- E-portfolio: individual, 15 marks, and it must show your own contribution. No physical evidence folder is needed for it.</a:t>
            </a:r>
          </a:p>
          <a:p>
            <a:r>
              <a:t>- LinkedIn certificates: each valid certificate is worth 2.5 marks and needs a working, clickable verification link. All four are due by Session 17. Without all four valid certificates you are not eligible for the Individual Live E-Portfolio (Session 18) or the Final Business Solution &amp; Defence (Sessions 19–20).</a:t>
            </a:r>
          </a:p>
          <a:p>
            <a:r>
              <a:t>- Evidence folder: it is a checkpoint and final-assessment gate. Without the required faculty-signed folder, the team cannot appear for that WIP presentation. For the final assessment it must be complete in Session 18, before Session 19.</a:t>
            </a:r>
          </a:p>
          <a:p/>
          <a:p>
            <a:r>
              <a:t>Close by leaving the macro question on screen (the banner). It is the through-line you will keep returning to all term.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hyperlink" Target="https://www.linkedin.com/learning/hands-on-ai-build-automated-workflows-in-google-workspace-studio" TargetMode="External"/><Relationship Id="rId6" Type="http://schemas.openxmlformats.org/officeDocument/2006/relationships/image" Target="../media/image20.png"/><Relationship Id="rId7" Type="http://schemas.openxmlformats.org/officeDocument/2006/relationships/hyperlink" Target="https://www.linkedin.com/learning/github-essential-training-1-the-basics" TargetMode="External"/><Relationship Id="rId8" Type="http://schemas.openxmlformats.org/officeDocument/2006/relationships/image" Target="../media/image21.png"/><Relationship Id="rId9" Type="http://schemas.openxmlformats.org/officeDocument/2006/relationships/hyperlink" Target="https://www.linkedin.com/learning/build-with-ai-llm-powered-applications-with-streamlit" TargetMode="External"/><Relationship Id="rId10" Type="http://schemas.openxmlformats.org/officeDocument/2006/relationships/image" Target="../media/image22.png"/><Relationship Id="rId11" Type="http://schemas.openxmlformats.org/officeDocument/2006/relationships/hyperlink" Target="https://www.linkedin.com/learning/supabase-essential-training" TargetMode="External"/><Relationship Id="rId12" Type="http://schemas.openxmlformats.org/officeDocument/2006/relationships/image" Target="../media/image10.png"/><Relationship Id="rId13" Type="http://schemas.openxmlformats.org/officeDocument/2006/relationships/image" Target="../media/image23.png"/><Relationship Id="rId1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3.jpe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502920" y="2852928"/>
            <a:ext cx="8138160" cy="219456"/>
          </a:xfrm>
          <a:prstGeom prst="rect">
            <a:avLst/>
          </a:prstGeom>
          <a:noFill/>
          <a:ln/>
        </p:spPr>
        <p:txBody>
          <a:bodyPr wrap="square" lIns="0" tIns="0" rIns="0" bIns="0" rtlCol="0" anchor="ctr"/>
          <a:lstStyle/>
          <a:p>
            <a:pPr marL="0" indent="0" algn="ctr">
              <a:buNone/>
            </a:pPr>
            <a:r>
              <a:rPr lang="en-US" sz="750" b="1" kern="0" spc="100" dirty="0">
                <a:solidFill>
                  <a:srgbClr val="A9740A"/>
                </a:solidFill>
                <a:latin typeface="Calibri" pitchFamily="34" charset="0"/>
                <a:ea typeface="Calibri" pitchFamily="34" charset="-122"/>
                <a:cs typeface="Calibri" pitchFamily="34" charset="-120"/>
              </a:rPr>
              <a:t>COURSE BRIEFING   ·   SESSION 0</a:t>
            </a:r>
            <a:endParaRPr lang="en-US" sz="750" dirty="0"/>
          </a:p>
        </p:txBody>
      </p:sp>
      <p:sp>
        <p:nvSpPr>
          <p:cNvPr id="4" name="Text 1"/>
          <p:cNvSpPr/>
          <p:nvPr/>
        </p:nvSpPr>
        <p:spPr>
          <a:xfrm>
            <a:off x="502920" y="3072384"/>
            <a:ext cx="8138160" cy="512064"/>
          </a:xfrm>
          <a:prstGeom prst="rect">
            <a:avLst/>
          </a:prstGeom>
          <a:noFill/>
          <a:ln/>
        </p:spPr>
        <p:txBody>
          <a:bodyPr wrap="square" lIns="0" tIns="0" rIns="0" bIns="0" rtlCol="0" anchor="ctr"/>
          <a:lstStyle/>
          <a:p>
            <a:pPr marL="0" indent="0" algn="ctr">
              <a:buNone/>
            </a:pPr>
            <a:r>
              <a:rPr lang="en-US" sz="3100" b="1" dirty="0">
                <a:solidFill>
                  <a:srgbClr val="1E4173"/>
                </a:solidFill>
                <a:latin typeface="Cambria" pitchFamily="34" charset="0"/>
                <a:ea typeface="Cambria" pitchFamily="34" charset="-122"/>
                <a:cs typeface="Cambria" pitchFamily="34" charset="-120"/>
              </a:rPr>
              <a:t>AI &amp; the Future of Work</a:t>
            </a:r>
            <a:endParaRPr lang="en-US" sz="3100" dirty="0"/>
          </a:p>
        </p:txBody>
      </p:sp>
      <p:sp>
        <p:nvSpPr>
          <p:cNvPr id="5" name="Text 2"/>
          <p:cNvSpPr/>
          <p:nvPr/>
        </p:nvSpPr>
        <p:spPr>
          <a:xfrm>
            <a:off x="502920" y="3584448"/>
            <a:ext cx="8138160" cy="329184"/>
          </a:xfrm>
          <a:prstGeom prst="rect">
            <a:avLst/>
          </a:prstGeom>
          <a:noFill/>
          <a:ln/>
        </p:spPr>
        <p:txBody>
          <a:bodyPr wrap="square" lIns="0" tIns="0" rIns="0" bIns="0" rtlCol="0" anchor="ctr"/>
          <a:lstStyle/>
          <a:p>
            <a:pPr marL="0" indent="0" algn="ctr">
              <a:buNone/>
            </a:pPr>
            <a:r>
              <a:rPr lang="en-US" sz="1700" i="1" dirty="0">
                <a:solidFill>
                  <a:srgbClr val="A9740A"/>
                </a:solidFill>
                <a:latin typeface="Cambria" pitchFamily="34" charset="0"/>
                <a:ea typeface="Cambria" pitchFamily="34" charset="-122"/>
                <a:cs typeface="Cambria" pitchFamily="34" charset="-120"/>
              </a:rPr>
              <a:t>From using AI to redesigning real work</a:t>
            </a:r>
            <a:endParaRPr lang="en-US" sz="1700" dirty="0"/>
          </a:p>
        </p:txBody>
      </p:sp>
      <p:sp>
        <p:nvSpPr>
          <p:cNvPr id="6" name="Text 3"/>
          <p:cNvSpPr/>
          <p:nvPr/>
        </p:nvSpPr>
        <p:spPr>
          <a:xfrm>
            <a:off x="502920" y="3931920"/>
            <a:ext cx="8138160" cy="237744"/>
          </a:xfrm>
          <a:prstGeom prst="rect">
            <a:avLst/>
          </a:prstGeom>
          <a:noFill/>
          <a:ln/>
        </p:spPr>
        <p:txBody>
          <a:bodyPr wrap="square" lIns="0" tIns="0" rIns="0" bIns="0" rtlCol="0" anchor="ctr"/>
          <a:lstStyle/>
          <a:p>
            <a:pPr marL="0" indent="0" algn="ctr">
              <a:buNone/>
            </a:pPr>
            <a:r>
              <a:rPr lang="en-US" sz="950" dirty="0">
                <a:solidFill>
                  <a:srgbClr val="445060"/>
                </a:solidFill>
                <a:latin typeface="Calibri" pitchFamily="34" charset="0"/>
                <a:ea typeface="Calibri" pitchFamily="34" charset="-122"/>
                <a:cs typeface="Calibri" pitchFamily="34" charset="-120"/>
              </a:rPr>
              <a:t>“How can managers redesign work, workflows, and professional value so humans and AI systems create better business outcomes together?”</a:t>
            </a:r>
            <a:endParaRPr lang="en-US" sz="950" dirty="0"/>
          </a:p>
        </p:txBody>
      </p:sp>
      <p:sp>
        <p:nvSpPr>
          <p:cNvPr id="7" name="Text 4"/>
          <p:cNvSpPr/>
          <p:nvPr/>
        </p:nvSpPr>
        <p:spPr>
          <a:xfrm>
            <a:off x="502920" y="4169664"/>
            <a:ext cx="8138160" cy="219456"/>
          </a:xfrm>
          <a:prstGeom prst="rect">
            <a:avLst/>
          </a:prstGeom>
          <a:noFill/>
          <a:ln/>
        </p:spPr>
        <p:txBody>
          <a:bodyPr wrap="square" lIns="0" tIns="0" rIns="0" bIns="0" rtlCol="0" anchor="ctr"/>
          <a:lstStyle/>
          <a:p>
            <a:pPr marL="0" indent="0" algn="ctr">
              <a:buNone/>
            </a:pPr>
            <a:r>
              <a:rPr lang="en-US" sz="800" dirty="0">
                <a:solidFill>
                  <a:srgbClr val="5A6472"/>
                </a:solidFill>
                <a:latin typeface="Calibri" pitchFamily="34" charset="0"/>
                <a:ea typeface="Calibri" pitchFamily="34" charset="-122"/>
                <a:cs typeface="Calibri" pitchFamily="34" charset="-120"/>
              </a:rPr>
              <a:t>Term II   |   Core course   |   3 credits   |   20 sessions · 30 hours   |   Prerequisite: Foundations of AI in Business</a:t>
            </a:r>
            <a:endParaRPr lang="en-US" sz="800" dirty="0"/>
          </a:p>
        </p:txBody>
      </p:sp>
      <p:sp>
        <p:nvSpPr>
          <p:cNvPr id="8" name="Rounded Rectangle 7"/>
          <p:cNvSpPr/>
          <p:nvPr/>
        </p:nvSpPr>
        <p:spPr>
          <a:xfrm>
            <a:off x="6629400" y="1097280"/>
            <a:ext cx="1965960" cy="384048"/>
          </a:xfrm>
          <a:prstGeom prst="roundRect">
            <a:avLst>
              <a:gd name="adj" fmla="val 50000"/>
            </a:avLst>
          </a:prstGeom>
          <a:solidFill>
            <a:srgbClr val="FFFFFF"/>
          </a:solidFill>
          <a:ln w="15875">
            <a:solidFill>
              <a:srgbClr val="1E4173"/>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1E4173"/>
                </a:solidFill>
                <a:latin typeface="Calibri"/>
              </a:rPr>
              <a:t>Real problem</a:t>
            </a:r>
          </a:p>
        </p:txBody>
      </p:sp>
      <p:sp>
        <p:nvSpPr>
          <p:cNvPr id="9" name="Down Arrow 8"/>
          <p:cNvSpPr/>
          <p:nvPr/>
        </p:nvSpPr>
        <p:spPr>
          <a:xfrm>
            <a:off x="7493507" y="1554480"/>
            <a:ext cx="237744" cy="182880"/>
          </a:xfrm>
          <a:prstGeom prst="downArrow">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0" name="Rounded Rectangle 9"/>
          <p:cNvSpPr/>
          <p:nvPr/>
        </p:nvSpPr>
        <p:spPr>
          <a:xfrm>
            <a:off x="6629400" y="1755648"/>
            <a:ext cx="1965960" cy="384048"/>
          </a:xfrm>
          <a:prstGeom prst="roundRect">
            <a:avLst>
              <a:gd name="adj" fmla="val 50000"/>
            </a:avLst>
          </a:prstGeom>
          <a:solidFill>
            <a:srgbClr val="FFFFFF"/>
          </a:solidFill>
          <a:ln w="15875">
            <a:solidFill>
              <a:srgbClr val="1E4173"/>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1E4173"/>
                </a:solidFill>
                <a:latin typeface="Calibri"/>
              </a:rPr>
              <a:t>Better way of working</a:t>
            </a:r>
          </a:p>
        </p:txBody>
      </p:sp>
      <p:sp>
        <p:nvSpPr>
          <p:cNvPr id="11" name="Down Arrow 10"/>
          <p:cNvSpPr/>
          <p:nvPr/>
        </p:nvSpPr>
        <p:spPr>
          <a:xfrm>
            <a:off x="7493507" y="2212848"/>
            <a:ext cx="237744" cy="182880"/>
          </a:xfrm>
          <a:prstGeom prst="downArrow">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2" name="Rounded Rectangle 11"/>
          <p:cNvSpPr/>
          <p:nvPr/>
        </p:nvSpPr>
        <p:spPr>
          <a:xfrm>
            <a:off x="6629400" y="2414015"/>
            <a:ext cx="1965960" cy="384048"/>
          </a:xfrm>
          <a:prstGeom prst="roundRect">
            <a:avLst>
              <a:gd name="adj" fmla="val 50000"/>
            </a:avLst>
          </a:prstGeom>
          <a:solidFill>
            <a:srgbClr val="1E4173"/>
          </a:solidFill>
          <a:ln w="15875">
            <a:solidFill>
              <a:srgbClr val="1E4173"/>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FFFFFF"/>
                </a:solidFill>
                <a:latin typeface="Calibri"/>
              </a:rPr>
              <a:t>Working solution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02</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Why this course matters</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One macro question. Four learning outcomes that answer it.</a:t>
            </a:r>
            <a:endParaRPr lang="en-US" sz="900" dirty="0"/>
          </a:p>
        </p:txBody>
      </p:sp>
      <p:sp>
        <p:nvSpPr>
          <p:cNvPr id="7" name="Rounded Rectangle 6"/>
          <p:cNvSpPr/>
          <p:nvPr/>
        </p:nvSpPr>
        <p:spPr>
          <a:xfrm>
            <a:off x="502920" y="1481328"/>
            <a:ext cx="8138160" cy="786384"/>
          </a:xfrm>
          <a:prstGeom prst="roundRect">
            <a:avLst>
              <a:gd name="adj" fmla="val 11627"/>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8" name="TextBox 7"/>
          <p:cNvSpPr txBox="1"/>
          <p:nvPr/>
        </p:nvSpPr>
        <p:spPr>
          <a:xfrm>
            <a:off x="731520" y="1572768"/>
            <a:ext cx="3657600" cy="182880"/>
          </a:xfrm>
          <a:prstGeom prst="rect">
            <a:avLst/>
          </a:prstGeom>
          <a:noFill/>
        </p:spPr>
        <p:txBody>
          <a:bodyPr wrap="square" lIns="0" rIns="0" tIns="0" bIns="0" anchor="t">
            <a:spAutoFit/>
          </a:bodyPr>
          <a:lstStyle/>
          <a:p>
            <a:pPr algn="l"/>
            <a:r>
              <a:rPr sz="850" b="1" i="0">
                <a:solidFill>
                  <a:srgbClr val="F2D28B"/>
                </a:solidFill>
                <a:latin typeface="Calibri"/>
              </a:rPr>
              <a:t>THE MACRO QUESTION</a:t>
            </a:r>
          </a:p>
        </p:txBody>
      </p:sp>
      <p:sp>
        <p:nvSpPr>
          <p:cNvPr id="9" name="TextBox 8"/>
          <p:cNvSpPr txBox="1"/>
          <p:nvPr/>
        </p:nvSpPr>
        <p:spPr>
          <a:xfrm>
            <a:off x="731520" y="1755648"/>
            <a:ext cx="7680960" cy="457200"/>
          </a:xfrm>
          <a:prstGeom prst="rect">
            <a:avLst/>
          </a:prstGeom>
          <a:noFill/>
        </p:spPr>
        <p:txBody>
          <a:bodyPr wrap="square" lIns="0" rIns="0" tIns="0" bIns="0" anchor="t">
            <a:spAutoFit/>
          </a:bodyPr>
          <a:lstStyle/>
          <a:p>
            <a:pPr algn="l"/>
            <a:r>
              <a:rPr sz="1350" b="1" i="0">
                <a:solidFill>
                  <a:srgbClr val="FFFFFF"/>
                </a:solidFill>
                <a:latin typeface="Cambria"/>
              </a:rPr>
              <a:t>“How can managers redesign work, workflows, and professional value so humans and AI systems create better business outcomes together?”</a:t>
            </a:r>
          </a:p>
        </p:txBody>
      </p:sp>
      <p:sp>
        <p:nvSpPr>
          <p:cNvPr id="10" name="Rounded Rectangle 9"/>
          <p:cNvSpPr/>
          <p:nvPr/>
        </p:nvSpPr>
        <p:spPr>
          <a:xfrm>
            <a:off x="502920" y="2432304"/>
            <a:ext cx="1897380" cy="1536192"/>
          </a:xfrm>
          <a:prstGeom prst="roundRect">
            <a:avLst>
              <a:gd name="adj" fmla="val 625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1" name="TextBox 10"/>
          <p:cNvSpPr txBox="1"/>
          <p:nvPr/>
        </p:nvSpPr>
        <p:spPr>
          <a:xfrm>
            <a:off x="667512" y="2542032"/>
            <a:ext cx="914400" cy="310896"/>
          </a:xfrm>
          <a:prstGeom prst="rect">
            <a:avLst/>
          </a:prstGeom>
          <a:noFill/>
        </p:spPr>
        <p:txBody>
          <a:bodyPr wrap="square" lIns="0" rIns="0" tIns="0" bIns="0" anchor="t">
            <a:spAutoFit/>
          </a:bodyPr>
          <a:lstStyle/>
          <a:p>
            <a:pPr algn="l"/>
            <a:r>
              <a:rPr sz="1600" b="1" i="0">
                <a:solidFill>
                  <a:srgbClr val="A9740A"/>
                </a:solidFill>
                <a:latin typeface="Cambria"/>
              </a:rPr>
              <a:t>LO1</a:t>
            </a:r>
          </a:p>
        </p:txBody>
      </p:sp>
      <p:sp>
        <p:nvSpPr>
          <p:cNvPr id="12" name="TextBox 11"/>
          <p:cNvSpPr txBox="1"/>
          <p:nvPr/>
        </p:nvSpPr>
        <p:spPr>
          <a:xfrm>
            <a:off x="667512" y="2798064"/>
            <a:ext cx="1623060" cy="274320"/>
          </a:xfrm>
          <a:prstGeom prst="rect">
            <a:avLst/>
          </a:prstGeom>
          <a:noFill/>
        </p:spPr>
        <p:txBody>
          <a:bodyPr wrap="square" lIns="0" rIns="0" tIns="0" bIns="0" anchor="t">
            <a:spAutoFit/>
          </a:bodyPr>
          <a:lstStyle/>
          <a:p>
            <a:pPr algn="l"/>
            <a:r>
              <a:rPr sz="1250" b="1" i="0">
                <a:solidFill>
                  <a:srgbClr val="1E4173"/>
                </a:solidFill>
                <a:latin typeface="Calibri"/>
              </a:rPr>
              <a:t>Analyse</a:t>
            </a:r>
          </a:p>
        </p:txBody>
      </p:sp>
      <p:sp>
        <p:nvSpPr>
          <p:cNvPr id="13" name="TextBox 12"/>
          <p:cNvSpPr txBox="1"/>
          <p:nvPr/>
        </p:nvSpPr>
        <p:spPr>
          <a:xfrm>
            <a:off x="667512" y="3054096"/>
            <a:ext cx="1623060" cy="868680"/>
          </a:xfrm>
          <a:prstGeom prst="rect">
            <a:avLst/>
          </a:prstGeom>
          <a:noFill/>
        </p:spPr>
        <p:txBody>
          <a:bodyPr wrap="square" lIns="0" rIns="0" tIns="0" bIns="0" anchor="t">
            <a:spAutoFit/>
          </a:bodyPr>
          <a:lstStyle/>
          <a:p>
            <a:pPr algn="l"/>
            <a:r>
              <a:rPr sz="1000" b="0" i="0">
                <a:solidFill>
                  <a:srgbClr val="3A4450"/>
                </a:solidFill>
                <a:latin typeface="Calibri"/>
              </a:rPr>
              <a:t>How AI changes jobs, tasks, workflows, decision rights and managerial work.</a:t>
            </a:r>
          </a:p>
        </p:txBody>
      </p:sp>
      <p:sp>
        <p:nvSpPr>
          <p:cNvPr id="14" name="Rounded Rectangle 13"/>
          <p:cNvSpPr/>
          <p:nvPr/>
        </p:nvSpPr>
        <p:spPr>
          <a:xfrm>
            <a:off x="2583180" y="2432304"/>
            <a:ext cx="1897380" cy="1536192"/>
          </a:xfrm>
          <a:prstGeom prst="roundRect">
            <a:avLst>
              <a:gd name="adj" fmla="val 625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5" name="TextBox 14"/>
          <p:cNvSpPr txBox="1"/>
          <p:nvPr/>
        </p:nvSpPr>
        <p:spPr>
          <a:xfrm>
            <a:off x="2747772" y="2542032"/>
            <a:ext cx="914400" cy="310896"/>
          </a:xfrm>
          <a:prstGeom prst="rect">
            <a:avLst/>
          </a:prstGeom>
          <a:noFill/>
        </p:spPr>
        <p:txBody>
          <a:bodyPr wrap="square" lIns="0" rIns="0" tIns="0" bIns="0" anchor="t">
            <a:spAutoFit/>
          </a:bodyPr>
          <a:lstStyle/>
          <a:p>
            <a:pPr algn="l"/>
            <a:r>
              <a:rPr sz="1600" b="1" i="0">
                <a:solidFill>
                  <a:srgbClr val="A9740A"/>
                </a:solidFill>
                <a:latin typeface="Cambria"/>
              </a:rPr>
              <a:t>LO2</a:t>
            </a:r>
          </a:p>
        </p:txBody>
      </p:sp>
      <p:sp>
        <p:nvSpPr>
          <p:cNvPr id="16" name="TextBox 15"/>
          <p:cNvSpPr txBox="1"/>
          <p:nvPr/>
        </p:nvSpPr>
        <p:spPr>
          <a:xfrm>
            <a:off x="2747772" y="2798064"/>
            <a:ext cx="1623060" cy="274320"/>
          </a:xfrm>
          <a:prstGeom prst="rect">
            <a:avLst/>
          </a:prstGeom>
          <a:noFill/>
        </p:spPr>
        <p:txBody>
          <a:bodyPr wrap="square" lIns="0" rIns="0" tIns="0" bIns="0" anchor="t">
            <a:spAutoFit/>
          </a:bodyPr>
          <a:lstStyle/>
          <a:p>
            <a:pPr algn="l"/>
            <a:r>
              <a:rPr sz="1250" b="1" i="0">
                <a:solidFill>
                  <a:srgbClr val="1E4173"/>
                </a:solidFill>
                <a:latin typeface="Calibri"/>
              </a:rPr>
              <a:t>Build</a:t>
            </a:r>
          </a:p>
        </p:txBody>
      </p:sp>
      <p:sp>
        <p:nvSpPr>
          <p:cNvPr id="17" name="TextBox 16"/>
          <p:cNvSpPr txBox="1"/>
          <p:nvPr/>
        </p:nvSpPr>
        <p:spPr>
          <a:xfrm>
            <a:off x="2747772" y="3054096"/>
            <a:ext cx="1623060" cy="868680"/>
          </a:xfrm>
          <a:prstGeom prst="rect">
            <a:avLst/>
          </a:prstGeom>
          <a:noFill/>
        </p:spPr>
        <p:txBody>
          <a:bodyPr wrap="square" lIns="0" rIns="0" tIns="0" bIns="0" anchor="t">
            <a:spAutoFit/>
          </a:bodyPr>
          <a:lstStyle/>
          <a:p>
            <a:pPr algn="l"/>
            <a:r>
              <a:rPr sz="1000" b="0" i="0">
                <a:solidFill>
                  <a:srgbClr val="3A4450"/>
                </a:solidFill>
                <a:latin typeface="Calibri"/>
              </a:rPr>
              <a:t>AI-enabled workflows and business apps: interface, automation, versioning, persistence, agentic workflows and tool connectivity.</a:t>
            </a:r>
          </a:p>
        </p:txBody>
      </p:sp>
      <p:sp>
        <p:nvSpPr>
          <p:cNvPr id="18" name="Rounded Rectangle 17"/>
          <p:cNvSpPr/>
          <p:nvPr/>
        </p:nvSpPr>
        <p:spPr>
          <a:xfrm>
            <a:off x="4663440" y="2432304"/>
            <a:ext cx="1897380" cy="1536192"/>
          </a:xfrm>
          <a:prstGeom prst="roundRect">
            <a:avLst>
              <a:gd name="adj" fmla="val 625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9" name="TextBox 18"/>
          <p:cNvSpPr txBox="1"/>
          <p:nvPr/>
        </p:nvSpPr>
        <p:spPr>
          <a:xfrm>
            <a:off x="4828032" y="2542032"/>
            <a:ext cx="914400" cy="310896"/>
          </a:xfrm>
          <a:prstGeom prst="rect">
            <a:avLst/>
          </a:prstGeom>
          <a:noFill/>
        </p:spPr>
        <p:txBody>
          <a:bodyPr wrap="square" lIns="0" rIns="0" tIns="0" bIns="0" anchor="t">
            <a:spAutoFit/>
          </a:bodyPr>
          <a:lstStyle/>
          <a:p>
            <a:pPr algn="l"/>
            <a:r>
              <a:rPr sz="1600" b="1" i="0">
                <a:solidFill>
                  <a:srgbClr val="A9740A"/>
                </a:solidFill>
                <a:latin typeface="Cambria"/>
              </a:rPr>
              <a:t>LO3</a:t>
            </a:r>
          </a:p>
        </p:txBody>
      </p:sp>
      <p:sp>
        <p:nvSpPr>
          <p:cNvPr id="20" name="TextBox 19"/>
          <p:cNvSpPr txBox="1"/>
          <p:nvPr/>
        </p:nvSpPr>
        <p:spPr>
          <a:xfrm>
            <a:off x="4828032" y="2798064"/>
            <a:ext cx="1623060" cy="274320"/>
          </a:xfrm>
          <a:prstGeom prst="rect">
            <a:avLst/>
          </a:prstGeom>
          <a:noFill/>
        </p:spPr>
        <p:txBody>
          <a:bodyPr wrap="square" lIns="0" rIns="0" tIns="0" bIns="0" anchor="t">
            <a:spAutoFit/>
          </a:bodyPr>
          <a:lstStyle/>
          <a:p>
            <a:pPr algn="l"/>
            <a:r>
              <a:rPr sz="1250" b="1" i="0">
                <a:solidFill>
                  <a:srgbClr val="1E4173"/>
                </a:solidFill>
                <a:latin typeface="Calibri"/>
              </a:rPr>
              <a:t>Design</a:t>
            </a:r>
          </a:p>
        </p:txBody>
      </p:sp>
      <p:sp>
        <p:nvSpPr>
          <p:cNvPr id="21" name="TextBox 20"/>
          <p:cNvSpPr txBox="1"/>
          <p:nvPr/>
        </p:nvSpPr>
        <p:spPr>
          <a:xfrm>
            <a:off x="4828032" y="3054096"/>
            <a:ext cx="1623060" cy="868680"/>
          </a:xfrm>
          <a:prstGeom prst="rect">
            <a:avLst/>
          </a:prstGeom>
          <a:noFill/>
        </p:spPr>
        <p:txBody>
          <a:bodyPr wrap="square" lIns="0" rIns="0" tIns="0" bIns="0" anchor="t">
            <a:spAutoFit/>
          </a:bodyPr>
          <a:lstStyle/>
          <a:p>
            <a:pPr algn="l"/>
            <a:r>
              <a:rPr sz="1000" b="0" i="0">
                <a:solidFill>
                  <a:srgbClr val="3A4450"/>
                </a:solidFill>
                <a:latin typeface="Calibri"/>
              </a:rPr>
              <a:t>Evidence-based human-AI solutions for real organisational problems.</a:t>
            </a:r>
          </a:p>
        </p:txBody>
      </p:sp>
      <p:sp>
        <p:nvSpPr>
          <p:cNvPr id="22" name="Rounded Rectangle 21"/>
          <p:cNvSpPr/>
          <p:nvPr/>
        </p:nvSpPr>
        <p:spPr>
          <a:xfrm>
            <a:off x="6743700" y="2432304"/>
            <a:ext cx="1897380" cy="1536192"/>
          </a:xfrm>
          <a:prstGeom prst="roundRect">
            <a:avLst>
              <a:gd name="adj" fmla="val 625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3" name="TextBox 22"/>
          <p:cNvSpPr txBox="1"/>
          <p:nvPr/>
        </p:nvSpPr>
        <p:spPr>
          <a:xfrm>
            <a:off x="6908292" y="2542032"/>
            <a:ext cx="914400" cy="310896"/>
          </a:xfrm>
          <a:prstGeom prst="rect">
            <a:avLst/>
          </a:prstGeom>
          <a:noFill/>
        </p:spPr>
        <p:txBody>
          <a:bodyPr wrap="square" lIns="0" rIns="0" tIns="0" bIns="0" anchor="t">
            <a:spAutoFit/>
          </a:bodyPr>
          <a:lstStyle/>
          <a:p>
            <a:pPr algn="l"/>
            <a:r>
              <a:rPr sz="1600" b="1" i="0">
                <a:solidFill>
                  <a:srgbClr val="A9740A"/>
                </a:solidFill>
                <a:latin typeface="Cambria"/>
              </a:rPr>
              <a:t>LO4</a:t>
            </a:r>
          </a:p>
        </p:txBody>
      </p:sp>
      <p:sp>
        <p:nvSpPr>
          <p:cNvPr id="24" name="TextBox 23"/>
          <p:cNvSpPr txBox="1"/>
          <p:nvPr/>
        </p:nvSpPr>
        <p:spPr>
          <a:xfrm>
            <a:off x="6908292" y="2798064"/>
            <a:ext cx="1623060" cy="274320"/>
          </a:xfrm>
          <a:prstGeom prst="rect">
            <a:avLst/>
          </a:prstGeom>
          <a:noFill/>
        </p:spPr>
        <p:txBody>
          <a:bodyPr wrap="square" lIns="0" rIns="0" tIns="0" bIns="0" anchor="t">
            <a:spAutoFit/>
          </a:bodyPr>
          <a:lstStyle/>
          <a:p>
            <a:pPr algn="l"/>
            <a:r>
              <a:rPr sz="1250" b="1" i="0">
                <a:solidFill>
                  <a:srgbClr val="1E4173"/>
                </a:solidFill>
                <a:latin typeface="Calibri"/>
              </a:rPr>
              <a:t>Evaluate &amp; defend</a:t>
            </a:r>
          </a:p>
        </p:txBody>
      </p:sp>
      <p:sp>
        <p:nvSpPr>
          <p:cNvPr id="25" name="TextBox 24"/>
          <p:cNvSpPr txBox="1"/>
          <p:nvPr/>
        </p:nvSpPr>
        <p:spPr>
          <a:xfrm>
            <a:off x="6908292" y="3054096"/>
            <a:ext cx="1623060" cy="868680"/>
          </a:xfrm>
          <a:prstGeom prst="rect">
            <a:avLst/>
          </a:prstGeom>
          <a:noFill/>
        </p:spPr>
        <p:txBody>
          <a:bodyPr wrap="square" lIns="0" rIns="0" tIns="0" bIns="0" anchor="t">
            <a:spAutoFit/>
          </a:bodyPr>
          <a:lstStyle/>
          <a:p>
            <a:pPr algn="l"/>
            <a:r>
              <a:rPr sz="1000" b="0" i="0">
                <a:solidFill>
                  <a:srgbClr val="3A4450"/>
                </a:solidFill>
                <a:latin typeface="Calibri"/>
              </a:rPr>
              <a:t>Test, improve, govern and defend AI-enabled solutions.</a:t>
            </a:r>
          </a:p>
        </p:txBody>
      </p:sp>
      <p:sp>
        <p:nvSpPr>
          <p:cNvPr id="26" name="TextBox 25"/>
          <p:cNvSpPr txBox="1"/>
          <p:nvPr/>
        </p:nvSpPr>
        <p:spPr>
          <a:xfrm>
            <a:off x="502920" y="4078224"/>
            <a:ext cx="8138160" cy="201168"/>
          </a:xfrm>
          <a:prstGeom prst="rect">
            <a:avLst/>
          </a:prstGeom>
          <a:noFill/>
        </p:spPr>
        <p:txBody>
          <a:bodyPr wrap="square" lIns="0" rIns="0" tIns="0" bIns="0" anchor="t">
            <a:spAutoFit/>
          </a:bodyPr>
          <a:lstStyle/>
          <a:p>
            <a:pPr algn="l"/>
            <a:r>
              <a:rPr sz="950" b="0" i="1">
                <a:solidFill>
                  <a:srgbClr val="5A6472"/>
                </a:solidFill>
                <a:latin typeface="Calibri"/>
              </a:rPr>
              <a:t>Builds on Foundations of AI in Business (FAB): prompting, evidence checks, responsible AI, spreadsheets, simple custom assistants.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03</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What will you make?</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Two things you can actually show</a:t>
            </a:r>
            <a:endParaRPr lang="en-US" sz="900" dirty="0"/>
          </a:p>
        </p:txBody>
      </p:sp>
      <p:sp>
        <p:nvSpPr>
          <p:cNvPr id="11" name="Shape 8"/>
          <p:cNvSpPr/>
          <p:nvPr/>
        </p:nvSpPr>
        <p:spPr>
          <a:xfrm>
            <a:off x="502920" y="3968496"/>
            <a:ext cx="8138160" cy="384048"/>
          </a:xfrm>
          <a:prstGeom prst="roundRect">
            <a:avLst>
              <a:gd name="adj" fmla="val 9524"/>
            </a:avLst>
          </a:prstGeom>
          <a:solidFill>
            <a:srgbClr val="1E4173"/>
          </a:solidFill>
          <a:ln w="9525">
            <a:solidFill>
              <a:srgbClr val="1E4173"/>
            </a:solidFill>
            <a:prstDash val="solid"/>
          </a:ln>
        </p:spPr>
        <p:txBody>
          <a:bodyPr/>
          <a:p/>
        </p:txBody>
      </p:sp>
      <p:sp>
        <p:nvSpPr>
          <p:cNvPr id="12" name="Text 9"/>
          <p:cNvSpPr/>
          <p:nvPr/>
        </p:nvSpPr>
        <p:spPr>
          <a:xfrm>
            <a:off x="667512" y="3968496"/>
            <a:ext cx="7808976" cy="384048"/>
          </a:xfrm>
          <a:prstGeom prst="rect">
            <a:avLst/>
          </a:prstGeom>
          <a:noFill/>
          <a:ln/>
        </p:spPr>
        <p:txBody>
          <a:bodyPr wrap="square" lIns="0" tIns="0" rIns="0" bIns="0" rtlCol="0" anchor="ctr"/>
          <a:lstStyle/>
          <a:p>
            <a:pPr marL="0" indent="0">
              <a:buNone/>
            </a:pPr>
            <a:r>
              <a:rPr lang="en-US" sz="950" b="1" i="1" dirty="0">
                <a:solidFill>
                  <a:srgbClr val="FFFFFF"/>
                </a:solidFill>
                <a:latin typeface="Calibri" pitchFamily="34" charset="0"/>
                <a:ea typeface="Calibri" pitchFamily="34" charset="-122"/>
                <a:cs typeface="Calibri" pitchFamily="34" charset="-120"/>
              </a:rPr>
              <a:t>A presentation alone is not the solution. The solution must work beyond the slides.</a:t>
            </a:r>
            <a:endParaRPr lang="en-US" sz="950" dirty="0"/>
          </a:p>
        </p:txBody>
      </p:sp>
      <p:sp>
        <p:nvSpPr>
          <p:cNvPr id="13" name="Rounded Rectangle 12"/>
          <p:cNvSpPr/>
          <p:nvPr/>
        </p:nvSpPr>
        <p:spPr>
          <a:xfrm>
            <a:off x="502920" y="1508760"/>
            <a:ext cx="3931920" cy="228600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4" name="Oval 13"/>
          <p:cNvSpPr/>
          <p:nvPr/>
        </p:nvSpPr>
        <p:spPr>
          <a:xfrm>
            <a:off x="758952" y="1719072"/>
            <a:ext cx="566928" cy="56692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15" name="Picture 14" descr="team_w.png"/>
          <p:cNvPicPr>
            <a:picLocks noChangeAspect="1"/>
          </p:cNvPicPr>
          <p:nvPr/>
        </p:nvPicPr>
        <p:blipFill>
          <a:blip r:embed="rId5"/>
          <a:stretch>
            <a:fillRect/>
          </a:stretch>
        </p:blipFill>
        <p:spPr>
          <a:xfrm>
            <a:off x="906353" y="1866473"/>
            <a:ext cx="272125" cy="272125"/>
          </a:xfrm>
          <a:prstGeom prst="rect">
            <a:avLst/>
          </a:prstGeom>
        </p:spPr>
      </p:pic>
      <p:sp>
        <p:nvSpPr>
          <p:cNvPr id="16" name="TextBox 15"/>
          <p:cNvSpPr txBox="1"/>
          <p:nvPr/>
        </p:nvSpPr>
        <p:spPr>
          <a:xfrm>
            <a:off x="1490472" y="1737360"/>
            <a:ext cx="2743200" cy="182880"/>
          </a:xfrm>
          <a:prstGeom prst="rect">
            <a:avLst/>
          </a:prstGeom>
          <a:noFill/>
        </p:spPr>
        <p:txBody>
          <a:bodyPr wrap="square" lIns="0" tIns="0" rIns="0" bIns="0" anchor="t">
            <a:spAutoFit/>
          </a:bodyPr>
          <a:lstStyle/>
          <a:p>
            <a:pPr algn="l"/>
            <a:r>
              <a:rPr sz="850" b="1" i="0">
                <a:solidFill>
                  <a:srgbClr val="A9740A"/>
                </a:solidFill>
                <a:latin typeface="Calibri"/>
              </a:rPr>
              <a:t>AS A TEAM</a:t>
            </a:r>
          </a:p>
        </p:txBody>
      </p:sp>
      <p:sp>
        <p:nvSpPr>
          <p:cNvPr id="17" name="TextBox 16"/>
          <p:cNvSpPr txBox="1"/>
          <p:nvPr/>
        </p:nvSpPr>
        <p:spPr>
          <a:xfrm>
            <a:off x="1490472" y="1920240"/>
            <a:ext cx="2743200" cy="365760"/>
          </a:xfrm>
          <a:prstGeom prst="rect">
            <a:avLst/>
          </a:prstGeom>
          <a:noFill/>
        </p:spPr>
        <p:txBody>
          <a:bodyPr wrap="square" lIns="0" tIns="0" rIns="0" bIns="0" anchor="t">
            <a:spAutoFit/>
          </a:bodyPr>
          <a:lstStyle/>
          <a:p>
            <a:pPr algn="l"/>
            <a:r>
              <a:rPr sz="1700" b="1" i="0">
                <a:solidFill>
                  <a:srgbClr val="1E4173"/>
                </a:solidFill>
                <a:latin typeface="Cambria"/>
              </a:rPr>
              <a:t>Team solution</a:t>
            </a:r>
          </a:p>
        </p:txBody>
      </p:sp>
      <p:sp>
        <p:nvSpPr>
          <p:cNvPr id="18" name="TextBox 17"/>
          <p:cNvSpPr txBox="1"/>
          <p:nvPr/>
        </p:nvSpPr>
        <p:spPr>
          <a:xfrm>
            <a:off x="758952" y="2487168"/>
            <a:ext cx="3429000" cy="566928"/>
          </a:xfrm>
          <a:prstGeom prst="rect">
            <a:avLst/>
          </a:prstGeom>
          <a:noFill/>
        </p:spPr>
        <p:txBody>
          <a:bodyPr wrap="square" lIns="0" tIns="0" rIns="0" bIns="0" anchor="t">
            <a:spAutoFit/>
          </a:bodyPr>
          <a:lstStyle/>
          <a:p>
            <a:pPr algn="l"/>
            <a:r>
              <a:rPr sz="1300" b="1" i="0">
                <a:solidFill>
                  <a:srgbClr val="3A4450"/>
                </a:solidFill>
                <a:latin typeface="Calibri"/>
              </a:rPr>
              <a:t>A working AI-enabled business solution for a real workplace problem.</a:t>
            </a:r>
          </a:p>
        </p:txBody>
      </p:sp>
      <p:sp>
        <p:nvSpPr>
          <p:cNvPr id="19" name="TextBox 18"/>
          <p:cNvSpPr txBox="1"/>
          <p:nvPr/>
        </p:nvSpPr>
        <p:spPr>
          <a:xfrm>
            <a:off x="758952" y="3127248"/>
            <a:ext cx="3429000" cy="548640"/>
          </a:xfrm>
          <a:prstGeom prst="rect">
            <a:avLst/>
          </a:prstGeom>
          <a:noFill/>
        </p:spPr>
        <p:txBody>
          <a:bodyPr wrap="square" lIns="0" tIns="0" rIns="0" bIns="0" anchor="t">
            <a:spAutoFit/>
          </a:bodyPr>
          <a:lstStyle/>
          <a:p>
            <a:pPr algn="l"/>
            <a:r>
              <a:rPr sz="1050" b="0" i="0">
                <a:solidFill>
                  <a:srgbClr val="5A6472"/>
                </a:solidFill>
                <a:latin typeface="Calibri"/>
              </a:rPr>
              <a:t>Could be an agent, a workflow, an app, a database-backed tool, or a combination. The problem decides.</a:t>
            </a:r>
          </a:p>
        </p:txBody>
      </p:sp>
      <p:sp>
        <p:nvSpPr>
          <p:cNvPr id="20" name="Rounded Rectangle 19"/>
          <p:cNvSpPr/>
          <p:nvPr/>
        </p:nvSpPr>
        <p:spPr>
          <a:xfrm>
            <a:off x="4709159" y="1508760"/>
            <a:ext cx="3931920" cy="2286000"/>
          </a:xfrm>
          <a:prstGeom prst="roundRect">
            <a:avLst>
              <a:gd name="adj" fmla="val 4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1" name="Oval 20"/>
          <p:cNvSpPr/>
          <p:nvPr/>
        </p:nvSpPr>
        <p:spPr>
          <a:xfrm>
            <a:off x="4965192" y="1719072"/>
            <a:ext cx="566928" cy="56692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22" name="Picture 21" descr="portfolio_w.png"/>
          <p:cNvPicPr>
            <a:picLocks noChangeAspect="1"/>
          </p:cNvPicPr>
          <p:nvPr/>
        </p:nvPicPr>
        <p:blipFill>
          <a:blip r:embed="rId6"/>
          <a:stretch>
            <a:fillRect/>
          </a:stretch>
        </p:blipFill>
        <p:spPr>
          <a:xfrm>
            <a:off x="5112593" y="1866473"/>
            <a:ext cx="272125" cy="272125"/>
          </a:xfrm>
          <a:prstGeom prst="rect">
            <a:avLst/>
          </a:prstGeom>
        </p:spPr>
      </p:pic>
      <p:sp>
        <p:nvSpPr>
          <p:cNvPr id="23" name="TextBox 22"/>
          <p:cNvSpPr txBox="1"/>
          <p:nvPr/>
        </p:nvSpPr>
        <p:spPr>
          <a:xfrm>
            <a:off x="5696712" y="1737360"/>
            <a:ext cx="2743200" cy="182880"/>
          </a:xfrm>
          <a:prstGeom prst="rect">
            <a:avLst/>
          </a:prstGeom>
          <a:noFill/>
        </p:spPr>
        <p:txBody>
          <a:bodyPr wrap="square" lIns="0" tIns="0" rIns="0" bIns="0" anchor="t">
            <a:spAutoFit/>
          </a:bodyPr>
          <a:lstStyle/>
          <a:p>
            <a:pPr algn="l"/>
            <a:r>
              <a:rPr sz="850" b="1" i="0">
                <a:solidFill>
                  <a:srgbClr val="A9740A"/>
                </a:solidFill>
                <a:latin typeface="Calibri"/>
              </a:rPr>
              <a:t>AS AN INDIVIDUAL</a:t>
            </a:r>
          </a:p>
        </p:txBody>
      </p:sp>
      <p:sp>
        <p:nvSpPr>
          <p:cNvPr id="24" name="TextBox 23"/>
          <p:cNvSpPr txBox="1"/>
          <p:nvPr/>
        </p:nvSpPr>
        <p:spPr>
          <a:xfrm>
            <a:off x="5696712" y="1920240"/>
            <a:ext cx="2743200" cy="261610"/>
          </a:xfrm>
          <a:prstGeom prst="rect">
            <a:avLst/>
          </a:prstGeom>
          <a:noFill/>
        </p:spPr>
        <p:txBody>
          <a:bodyPr wrap="square" lIns="0" tIns="0" rIns="0" bIns="0" anchor="t">
            <a:spAutoFit/>
          </a:bodyPr>
          <a:lstStyle/>
          <a:p>
            <a:pPr algn="l"/>
            <a:r>
              <a:rPr sz="1700" b="1" i="0" dirty="0">
                <a:solidFill>
                  <a:srgbClr val="1E4173"/>
                </a:solidFill>
                <a:latin typeface="Cambria"/>
              </a:rPr>
              <a:t>My </a:t>
            </a:r>
            <a:r>
              <a:rPr lang="en-IN" sz="1700" b="1" i="0" dirty="0" smtClean="0">
                <a:solidFill>
                  <a:srgbClr val="1E4173"/>
                </a:solidFill>
                <a:latin typeface="Cambria"/>
              </a:rPr>
              <a:t>e-</a:t>
            </a:r>
            <a:r>
              <a:rPr sz="1700" b="1" i="0" dirty="0" smtClean="0">
                <a:solidFill>
                  <a:srgbClr val="1E4173"/>
                </a:solidFill>
                <a:latin typeface="Cambria"/>
              </a:rPr>
              <a:t>portfolio</a:t>
            </a:r>
            <a:endParaRPr sz="1700" b="1" i="0" dirty="0">
              <a:solidFill>
                <a:srgbClr val="1E4173"/>
              </a:solidFill>
              <a:latin typeface="Cambria"/>
            </a:endParaRPr>
          </a:p>
        </p:txBody>
      </p:sp>
      <p:sp>
        <p:nvSpPr>
          <p:cNvPr id="25" name="TextBox 24"/>
          <p:cNvSpPr txBox="1"/>
          <p:nvPr/>
        </p:nvSpPr>
        <p:spPr>
          <a:xfrm>
            <a:off x="4965192" y="2487168"/>
            <a:ext cx="3429000" cy="566928"/>
          </a:xfrm>
          <a:prstGeom prst="rect">
            <a:avLst/>
          </a:prstGeom>
          <a:noFill/>
        </p:spPr>
        <p:txBody>
          <a:bodyPr wrap="square" lIns="0" tIns="0" rIns="0" bIns="0" anchor="t">
            <a:spAutoFit/>
          </a:bodyPr>
          <a:lstStyle/>
          <a:p>
            <a:pPr algn="l"/>
            <a:r>
              <a:rPr sz="1300" b="1" i="0">
                <a:solidFill>
                  <a:srgbClr val="3A4450"/>
                </a:solidFill>
                <a:latin typeface="Calibri"/>
              </a:rPr>
              <a:t>A live professional e-portfolio showing your projects, skills, evidence and your own contribution.</a:t>
            </a:r>
          </a:p>
        </p:txBody>
      </p:sp>
      <p:sp>
        <p:nvSpPr>
          <p:cNvPr id="26" name="TextBox 25"/>
          <p:cNvSpPr txBox="1"/>
          <p:nvPr/>
        </p:nvSpPr>
        <p:spPr>
          <a:xfrm>
            <a:off x="4965192" y="3127248"/>
            <a:ext cx="3429000" cy="548640"/>
          </a:xfrm>
          <a:prstGeom prst="rect">
            <a:avLst/>
          </a:prstGeom>
          <a:noFill/>
        </p:spPr>
        <p:txBody>
          <a:bodyPr wrap="square" lIns="0" tIns="0" rIns="0" bIns="0" anchor="t">
            <a:spAutoFit/>
          </a:bodyPr>
          <a:lstStyle/>
          <a:p>
            <a:pPr algn="l"/>
            <a:r>
              <a:rPr sz="1050" b="0" i="0">
                <a:solidFill>
                  <a:srgbClr val="5A6472"/>
                </a:solidFill>
                <a:latin typeface="Calibri"/>
              </a:rPr>
              <a:t>It shows an employer evidence of your work, not a list of claimed skills.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04</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Capability and career pathway</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What this course builds, and where it can take you.</a:t>
            </a:r>
            <a:endParaRPr lang="en-US" sz="900" dirty="0"/>
          </a:p>
        </p:txBody>
      </p:sp>
      <p:sp>
        <p:nvSpPr>
          <p:cNvPr id="7" name="TextBox 6"/>
          <p:cNvSpPr txBox="1"/>
          <p:nvPr/>
        </p:nvSpPr>
        <p:spPr>
          <a:xfrm>
            <a:off x="502920" y="1499616"/>
            <a:ext cx="4754880" cy="182880"/>
          </a:xfrm>
          <a:prstGeom prst="rect">
            <a:avLst/>
          </a:prstGeom>
          <a:noFill/>
        </p:spPr>
        <p:txBody>
          <a:bodyPr wrap="square" lIns="0" rIns="0" tIns="0" bIns="0" anchor="t">
            <a:spAutoFit/>
          </a:bodyPr>
          <a:lstStyle/>
          <a:p>
            <a:pPr algn="l"/>
            <a:r>
              <a:rPr sz="850" b="1" i="0">
                <a:solidFill>
                  <a:srgbClr val="A9740A"/>
                </a:solidFill>
                <a:latin typeface="Calibri"/>
              </a:rPr>
              <a:t>FIIB ARC  ·  FOUR ARCS, BUILT TOGETHER</a:t>
            </a:r>
          </a:p>
        </p:txBody>
      </p:sp>
      <p:sp>
        <p:nvSpPr>
          <p:cNvPr id="8" name="Rounded Rectangle 7"/>
          <p:cNvSpPr/>
          <p:nvPr/>
        </p:nvSpPr>
        <p:spPr>
          <a:xfrm>
            <a:off x="502920" y="1755648"/>
            <a:ext cx="1234440" cy="457200"/>
          </a:xfrm>
          <a:prstGeom prst="roundRect">
            <a:avLst>
              <a:gd name="adj" fmla="val 16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Foundation</a:t>
            </a:r>
          </a:p>
        </p:txBody>
      </p:sp>
      <p:sp>
        <p:nvSpPr>
          <p:cNvPr id="9" name="TextBox 8"/>
          <p:cNvSpPr txBox="1"/>
          <p:nvPr/>
        </p:nvSpPr>
        <p:spPr>
          <a:xfrm>
            <a:off x="1874519" y="1755648"/>
            <a:ext cx="3429000" cy="457200"/>
          </a:xfrm>
          <a:prstGeom prst="rect">
            <a:avLst/>
          </a:prstGeom>
          <a:noFill/>
        </p:spPr>
        <p:txBody>
          <a:bodyPr wrap="square" lIns="0" rIns="0" tIns="0" bIns="0" anchor="ctr">
            <a:spAutoFit/>
          </a:bodyPr>
          <a:lstStyle/>
          <a:p>
            <a:pPr algn="l"/>
            <a:r>
              <a:rPr sz="1050" b="0" i="0">
                <a:solidFill>
                  <a:srgbClr val="3A4450"/>
                </a:solidFill>
                <a:latin typeface="Calibri"/>
              </a:rPr>
              <a:t>The language of AI-shaped work: jobs vs tasks, workflows, agents, augmentation vs automation.</a:t>
            </a:r>
          </a:p>
        </p:txBody>
      </p:sp>
      <p:sp>
        <p:nvSpPr>
          <p:cNvPr id="10" name="Rounded Rectangle 9"/>
          <p:cNvSpPr/>
          <p:nvPr/>
        </p:nvSpPr>
        <p:spPr>
          <a:xfrm>
            <a:off x="502920" y="2286000"/>
            <a:ext cx="1234440" cy="457200"/>
          </a:xfrm>
          <a:prstGeom prst="roundRect">
            <a:avLst>
              <a:gd name="adj" fmla="val 16000"/>
            </a:avLst>
          </a:prstGeom>
          <a:solidFill>
            <a:srgbClr val="3D5C8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Connection</a:t>
            </a:r>
          </a:p>
        </p:txBody>
      </p:sp>
      <p:sp>
        <p:nvSpPr>
          <p:cNvPr id="11" name="TextBox 10"/>
          <p:cNvSpPr txBox="1"/>
          <p:nvPr/>
        </p:nvSpPr>
        <p:spPr>
          <a:xfrm>
            <a:off x="1874519" y="2286000"/>
            <a:ext cx="3429000" cy="457200"/>
          </a:xfrm>
          <a:prstGeom prst="rect">
            <a:avLst/>
          </a:prstGeom>
          <a:noFill/>
        </p:spPr>
        <p:txBody>
          <a:bodyPr wrap="square" lIns="0" rIns="0" tIns="0" bIns="0" anchor="ctr">
            <a:spAutoFit/>
          </a:bodyPr>
          <a:lstStyle/>
          <a:p>
            <a:pPr algn="l"/>
            <a:r>
              <a:rPr sz="1050" b="0" i="0">
                <a:solidFill>
                  <a:srgbClr val="3A4450"/>
                </a:solidFill>
                <a:latin typeface="Calibri"/>
              </a:rPr>
              <a:t>How people, process, data and tools link across functions when work is redesigned.</a:t>
            </a:r>
          </a:p>
        </p:txBody>
      </p:sp>
      <p:sp>
        <p:nvSpPr>
          <p:cNvPr id="12" name="Rounded Rectangle 11"/>
          <p:cNvSpPr/>
          <p:nvPr/>
        </p:nvSpPr>
        <p:spPr>
          <a:xfrm>
            <a:off x="502920" y="2816352"/>
            <a:ext cx="1234440" cy="457200"/>
          </a:xfrm>
          <a:prstGeom prst="roundRect">
            <a:avLst>
              <a:gd name="adj" fmla="val 16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Analysis &amp;
Intelligence</a:t>
            </a:r>
          </a:p>
        </p:txBody>
      </p:sp>
      <p:sp>
        <p:nvSpPr>
          <p:cNvPr id="13" name="TextBox 12"/>
          <p:cNvSpPr txBox="1"/>
          <p:nvPr/>
        </p:nvSpPr>
        <p:spPr>
          <a:xfrm>
            <a:off x="1874519" y="2816352"/>
            <a:ext cx="3429000" cy="457200"/>
          </a:xfrm>
          <a:prstGeom prst="rect">
            <a:avLst/>
          </a:prstGeom>
          <a:noFill/>
        </p:spPr>
        <p:txBody>
          <a:bodyPr wrap="square" lIns="0" rIns="0" tIns="0" bIns="0" anchor="ctr">
            <a:spAutoFit/>
          </a:bodyPr>
          <a:lstStyle/>
          <a:p>
            <a:pPr algn="l"/>
            <a:r>
              <a:rPr sz="1050" b="0" i="0">
                <a:solidFill>
                  <a:srgbClr val="3A4450"/>
                </a:solidFill>
                <a:latin typeface="Calibri"/>
              </a:rPr>
              <a:t>Mapping today’s work, gathering evidence, and building and testing with real tools.</a:t>
            </a:r>
          </a:p>
        </p:txBody>
      </p:sp>
      <p:sp>
        <p:nvSpPr>
          <p:cNvPr id="14" name="Rounded Rectangle 13"/>
          <p:cNvSpPr/>
          <p:nvPr/>
        </p:nvSpPr>
        <p:spPr>
          <a:xfrm>
            <a:off x="502920" y="3346703"/>
            <a:ext cx="1234440" cy="457200"/>
          </a:xfrm>
          <a:prstGeom prst="roundRect">
            <a:avLst>
              <a:gd name="adj" fmla="val 16000"/>
            </a:avLst>
          </a:prstGeom>
          <a:solidFill>
            <a:srgbClr val="3D5C8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Judgement &amp;
Impact</a:t>
            </a:r>
          </a:p>
        </p:txBody>
      </p:sp>
      <p:sp>
        <p:nvSpPr>
          <p:cNvPr id="15" name="TextBox 14"/>
          <p:cNvSpPr txBox="1"/>
          <p:nvPr/>
        </p:nvSpPr>
        <p:spPr>
          <a:xfrm>
            <a:off x="1874519" y="3346703"/>
            <a:ext cx="3429000" cy="457200"/>
          </a:xfrm>
          <a:prstGeom prst="rect">
            <a:avLst/>
          </a:prstGeom>
          <a:noFill/>
        </p:spPr>
        <p:txBody>
          <a:bodyPr wrap="square" lIns="0" rIns="0" tIns="0" bIns="0" anchor="ctr">
            <a:spAutoFit/>
          </a:bodyPr>
          <a:lstStyle/>
          <a:p>
            <a:pPr algn="l"/>
            <a:r>
              <a:rPr sz="1050" b="0" i="0">
                <a:solidFill>
                  <a:srgbClr val="3A4450"/>
                </a:solidFill>
                <a:latin typeface="Calibri"/>
              </a:rPr>
              <a:t>Deciding what AI should and should not do, governing it, and defending the choice.</a:t>
            </a:r>
          </a:p>
        </p:txBody>
      </p:sp>
      <p:sp>
        <p:nvSpPr>
          <p:cNvPr id="16" name="Rounded Rectangle 15"/>
          <p:cNvSpPr/>
          <p:nvPr/>
        </p:nvSpPr>
        <p:spPr>
          <a:xfrm>
            <a:off x="5577840" y="1481328"/>
            <a:ext cx="3063240" cy="2432304"/>
          </a:xfrm>
          <a:prstGeom prst="roundRect">
            <a:avLst>
              <a:gd name="adj" fmla="val 4511"/>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7" name="TextBox 16"/>
          <p:cNvSpPr txBox="1"/>
          <p:nvPr/>
        </p:nvSpPr>
        <p:spPr>
          <a:xfrm>
            <a:off x="5779008" y="1591056"/>
            <a:ext cx="2743200" cy="182880"/>
          </a:xfrm>
          <a:prstGeom prst="rect">
            <a:avLst/>
          </a:prstGeom>
          <a:noFill/>
        </p:spPr>
        <p:txBody>
          <a:bodyPr wrap="square" lIns="0" rIns="0" tIns="0" bIns="0" anchor="t">
            <a:spAutoFit/>
          </a:bodyPr>
          <a:lstStyle/>
          <a:p>
            <a:pPr algn="l"/>
            <a:r>
              <a:rPr sz="850" b="1" i="0">
                <a:solidFill>
                  <a:srgbClr val="1E4173"/>
                </a:solidFill>
                <a:latin typeface="Calibri"/>
              </a:rPr>
              <a:t>EMPLOYABILITY SIGNAL</a:t>
            </a:r>
          </a:p>
        </p:txBody>
      </p:sp>
      <p:sp>
        <p:nvSpPr>
          <p:cNvPr id="18" name="Rounded Rectangle 17"/>
          <p:cNvSpPr/>
          <p:nvPr/>
        </p:nvSpPr>
        <p:spPr>
          <a:xfrm>
            <a:off x="5779008" y="1810512"/>
            <a:ext cx="1463040" cy="274320"/>
          </a:xfrm>
          <a:prstGeom prst="roundRect">
            <a:avLst>
              <a:gd name="adj" fmla="val 50000"/>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Professional Core</a:t>
            </a:r>
          </a:p>
        </p:txBody>
      </p:sp>
      <p:sp>
        <p:nvSpPr>
          <p:cNvPr id="19" name="TextBox 18"/>
          <p:cNvSpPr txBox="1"/>
          <p:nvPr/>
        </p:nvSpPr>
        <p:spPr>
          <a:xfrm>
            <a:off x="5779008" y="2231136"/>
            <a:ext cx="2743200" cy="182880"/>
          </a:xfrm>
          <a:prstGeom prst="rect">
            <a:avLst/>
          </a:prstGeom>
          <a:noFill/>
        </p:spPr>
        <p:txBody>
          <a:bodyPr wrap="square" lIns="0" rIns="0" tIns="0" bIns="0" anchor="t">
            <a:spAutoFit/>
          </a:bodyPr>
          <a:lstStyle/>
          <a:p>
            <a:pPr algn="l"/>
            <a:r>
              <a:rPr sz="850" b="1" i="0">
                <a:solidFill>
                  <a:srgbClr val="1E4173"/>
                </a:solidFill>
                <a:latin typeface="Calibri"/>
              </a:rPr>
              <a:t>ROLES THIS PREPARES YOU FOR</a:t>
            </a:r>
          </a:p>
        </p:txBody>
      </p:sp>
      <p:sp>
        <p:nvSpPr>
          <p:cNvPr id="20" name="TextBox 19"/>
          <p:cNvSpPr txBox="1"/>
          <p:nvPr/>
        </p:nvSpPr>
        <p:spPr>
          <a:xfrm>
            <a:off x="5779008" y="2450592"/>
            <a:ext cx="2743200" cy="1417320"/>
          </a:xfrm>
          <a:prstGeom prst="rect">
            <a:avLst/>
          </a:prstGeom>
          <a:noFill/>
        </p:spPr>
        <p:txBody>
          <a:bodyPr wrap="square" lIns="0" rIns="0" tIns="0" bIns="0">
            <a:spAutoFit/>
          </a:bodyPr>
          <a:lstStyle/>
          <a:p>
            <a:pPr>
              <a:spcAft>
                <a:spcPts val="150"/>
              </a:spcAft>
            </a:pPr>
            <a:r>
              <a:rPr sz="650" b="1" i="0">
                <a:solidFill>
                  <a:srgbClr val="A9740A"/>
                </a:solidFill>
                <a:latin typeface="Calibri"/>
              </a:rPr>
              <a:t>■  </a:t>
            </a:r>
            <a:r>
              <a:rPr sz="1000" b="1" i="0">
                <a:solidFill>
                  <a:srgbClr val="1E4173"/>
                </a:solidFill>
                <a:latin typeface="Calibri"/>
              </a:rPr>
              <a:t>AI-enabled Business Analyst</a:t>
            </a:r>
          </a:p>
          <a:p>
            <a:pPr>
              <a:spcAft>
                <a:spcPts val="150"/>
              </a:spcAft>
            </a:pPr>
            <a:r>
              <a:rPr sz="650" b="1" i="0">
                <a:solidFill>
                  <a:srgbClr val="A9740A"/>
                </a:solidFill>
                <a:latin typeface="Calibri"/>
              </a:rPr>
              <a:t>■  </a:t>
            </a:r>
            <a:r>
              <a:rPr sz="1000" b="1" i="0">
                <a:solidFill>
                  <a:srgbClr val="1E4173"/>
                </a:solidFill>
                <a:latin typeface="Calibri"/>
              </a:rPr>
              <a:t>Digital Transformation Analyst</a:t>
            </a:r>
          </a:p>
          <a:p>
            <a:pPr>
              <a:spcAft>
                <a:spcPts val="150"/>
              </a:spcAft>
            </a:pPr>
            <a:r>
              <a:rPr sz="650" b="1" i="0">
                <a:solidFill>
                  <a:srgbClr val="A9740A"/>
                </a:solidFill>
                <a:latin typeface="Calibri"/>
              </a:rPr>
              <a:t>■  </a:t>
            </a:r>
            <a:r>
              <a:rPr sz="1000" b="1" i="0">
                <a:solidFill>
                  <a:srgbClr val="1E4173"/>
                </a:solidFill>
                <a:latin typeface="Calibri"/>
              </a:rPr>
              <a:t>Business Process Analyst</a:t>
            </a:r>
          </a:p>
          <a:p>
            <a:pPr>
              <a:spcAft>
                <a:spcPts val="150"/>
              </a:spcAft>
            </a:pPr>
            <a:r>
              <a:rPr sz="650" b="1" i="0">
                <a:solidFill>
                  <a:srgbClr val="A9740A"/>
                </a:solidFill>
                <a:latin typeface="Calibri"/>
              </a:rPr>
              <a:t>■  </a:t>
            </a:r>
            <a:r>
              <a:rPr sz="1000" b="1" i="0">
                <a:solidFill>
                  <a:srgbClr val="1E4173"/>
                </a:solidFill>
                <a:latin typeface="Calibri"/>
              </a:rPr>
              <a:t>Automation Analyst</a:t>
            </a:r>
          </a:p>
          <a:p>
            <a:pPr>
              <a:spcAft>
                <a:spcPts val="150"/>
              </a:spcAft>
            </a:pPr>
            <a:r>
              <a:rPr sz="650" b="1" i="0">
                <a:solidFill>
                  <a:srgbClr val="A9740A"/>
                </a:solidFill>
                <a:latin typeface="Calibri"/>
              </a:rPr>
              <a:t>■  </a:t>
            </a:r>
            <a:r>
              <a:rPr sz="1000" b="1" i="0">
                <a:solidFill>
                  <a:srgbClr val="1E4173"/>
                </a:solidFill>
                <a:latin typeface="Calibri"/>
              </a:rPr>
              <a:t>AI Operations / Implementation Analyst</a:t>
            </a:r>
          </a:p>
          <a:p>
            <a:pPr>
              <a:spcAft>
                <a:spcPts val="150"/>
              </a:spcAft>
            </a:pPr>
            <a:r>
              <a:rPr sz="650" b="1" i="0">
                <a:solidFill>
                  <a:srgbClr val="A9740A"/>
                </a:solidFill>
                <a:latin typeface="Calibri"/>
              </a:rPr>
              <a:t>■  </a:t>
            </a:r>
            <a:r>
              <a:rPr sz="1000" b="1" i="0">
                <a:solidFill>
                  <a:srgbClr val="1E4173"/>
                </a:solidFill>
                <a:latin typeface="Calibri"/>
              </a:rPr>
              <a:t>Consulting Analyst</a:t>
            </a:r>
          </a:p>
          <a:p>
            <a:pPr>
              <a:spcAft>
                <a:spcPts val="150"/>
              </a:spcAft>
            </a:pPr>
            <a:r>
              <a:rPr sz="650" b="1" i="0">
                <a:solidFill>
                  <a:srgbClr val="A9740A"/>
                </a:solidFill>
                <a:latin typeface="Calibri"/>
              </a:rPr>
              <a:t>■  </a:t>
            </a:r>
            <a:r>
              <a:rPr sz="1000" b="1" i="0">
                <a:solidFill>
                  <a:srgbClr val="1E4173"/>
                </a:solidFill>
                <a:latin typeface="Calibri"/>
              </a:rPr>
              <a:t>Product / Operations Analyst</a:t>
            </a:r>
          </a:p>
        </p:txBody>
      </p:sp>
      <p:sp>
        <p:nvSpPr>
          <p:cNvPr id="21" name="TextBox 20"/>
          <p:cNvSpPr txBox="1"/>
          <p:nvPr/>
        </p:nvSpPr>
        <p:spPr>
          <a:xfrm>
            <a:off x="502920" y="4041648"/>
            <a:ext cx="8138160" cy="201168"/>
          </a:xfrm>
          <a:prstGeom prst="rect">
            <a:avLst/>
          </a:prstGeom>
          <a:noFill/>
        </p:spPr>
        <p:txBody>
          <a:bodyPr wrap="square" lIns="0" rIns="0" tIns="0" bIns="0" anchor="t">
            <a:spAutoFit/>
          </a:bodyPr>
          <a:lstStyle/>
          <a:p>
            <a:pPr algn="l"/>
            <a:r>
              <a:rPr sz="950" b="0" i="1">
                <a:solidFill>
                  <a:srgbClr val="5A6472"/>
                </a:solidFill>
                <a:latin typeface="Calibri"/>
              </a:rPr>
              <a:t>…and functional managerial roles that need AI-workflow capability.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05</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A simple example</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Imagine a company receives customer requests by email.</a:t>
            </a:r>
            <a:endParaRPr lang="en-US" sz="900" dirty="0"/>
          </a:p>
        </p:txBody>
      </p:sp>
      <p:sp>
        <p:nvSpPr>
          <p:cNvPr id="7" name="Rounded Rectangle 6"/>
          <p:cNvSpPr/>
          <p:nvPr/>
        </p:nvSpPr>
        <p:spPr>
          <a:xfrm>
            <a:off x="502920" y="1536192"/>
            <a:ext cx="1408176" cy="1188720"/>
          </a:xfrm>
          <a:prstGeom prst="roundRect">
            <a:avLst>
              <a:gd name="adj" fmla="val 769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8" name="Oval 7"/>
          <p:cNvSpPr/>
          <p:nvPr/>
        </p:nvSpPr>
        <p:spPr>
          <a:xfrm>
            <a:off x="996696" y="1645920"/>
            <a:ext cx="420624" cy="420624"/>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9" name="Picture 8" descr="mail_w.png"/>
          <p:cNvPicPr>
            <a:picLocks noChangeAspect="1"/>
          </p:cNvPicPr>
          <p:nvPr/>
        </p:nvPicPr>
        <p:blipFill>
          <a:blip r:embed="rId5"/>
          <a:stretch>
            <a:fillRect/>
          </a:stretch>
        </p:blipFill>
        <p:spPr>
          <a:xfrm>
            <a:off x="1106058" y="1755282"/>
            <a:ext cx="201899" cy="201899"/>
          </a:xfrm>
          <a:prstGeom prst="rect">
            <a:avLst/>
          </a:prstGeom>
        </p:spPr>
      </p:pic>
      <p:sp>
        <p:nvSpPr>
          <p:cNvPr id="10" name="TextBox 9"/>
          <p:cNvSpPr txBox="1"/>
          <p:nvPr/>
        </p:nvSpPr>
        <p:spPr>
          <a:xfrm>
            <a:off x="594360" y="2157984"/>
            <a:ext cx="1225296" cy="502920"/>
          </a:xfrm>
          <a:prstGeom prst="rect">
            <a:avLst/>
          </a:prstGeom>
          <a:noFill/>
        </p:spPr>
        <p:txBody>
          <a:bodyPr wrap="square" lIns="0" tIns="0" rIns="0" bIns="0" anchor="t">
            <a:spAutoFit/>
          </a:bodyPr>
          <a:lstStyle/>
          <a:p>
            <a:pPr algn="ctr"/>
            <a:r>
              <a:rPr sz="1100" b="1" i="0">
                <a:solidFill>
                  <a:srgbClr val="1E4173"/>
                </a:solidFill>
                <a:latin typeface="Calibri"/>
              </a:rPr>
              <a:t>Request arrives</a:t>
            </a:r>
          </a:p>
        </p:txBody>
      </p:sp>
      <p:sp>
        <p:nvSpPr>
          <p:cNvPr id="11" name="Chevron 10"/>
          <p:cNvSpPr/>
          <p:nvPr/>
        </p:nvSpPr>
        <p:spPr>
          <a:xfrm>
            <a:off x="1984248" y="2011680"/>
            <a:ext cx="137160"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2" name="Rounded Rectangle 11"/>
          <p:cNvSpPr/>
          <p:nvPr/>
        </p:nvSpPr>
        <p:spPr>
          <a:xfrm>
            <a:off x="2189988" y="1536192"/>
            <a:ext cx="1408176" cy="1188720"/>
          </a:xfrm>
          <a:prstGeom prst="roundRect">
            <a:avLst>
              <a:gd name="adj" fmla="val 769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3" name="Oval 12"/>
          <p:cNvSpPr/>
          <p:nvPr/>
        </p:nvSpPr>
        <p:spPr>
          <a:xfrm>
            <a:off x="2683764" y="1645920"/>
            <a:ext cx="420624" cy="420624"/>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14" name="Picture 13" descr="search_w.png"/>
          <p:cNvPicPr>
            <a:picLocks noChangeAspect="1"/>
          </p:cNvPicPr>
          <p:nvPr/>
        </p:nvPicPr>
        <p:blipFill>
          <a:blip r:embed="rId6"/>
          <a:stretch>
            <a:fillRect/>
          </a:stretch>
        </p:blipFill>
        <p:spPr>
          <a:xfrm>
            <a:off x="2793126" y="1755282"/>
            <a:ext cx="201899" cy="201899"/>
          </a:xfrm>
          <a:prstGeom prst="rect">
            <a:avLst/>
          </a:prstGeom>
        </p:spPr>
      </p:pic>
      <p:sp>
        <p:nvSpPr>
          <p:cNvPr id="15" name="TextBox 14"/>
          <p:cNvSpPr txBox="1"/>
          <p:nvPr/>
        </p:nvSpPr>
        <p:spPr>
          <a:xfrm>
            <a:off x="2281428" y="2157984"/>
            <a:ext cx="1225296" cy="502920"/>
          </a:xfrm>
          <a:prstGeom prst="rect">
            <a:avLst/>
          </a:prstGeom>
          <a:noFill/>
        </p:spPr>
        <p:txBody>
          <a:bodyPr wrap="square" lIns="0" tIns="0" rIns="0" bIns="0" anchor="t">
            <a:spAutoFit/>
          </a:bodyPr>
          <a:lstStyle/>
          <a:p>
            <a:pPr algn="ctr"/>
            <a:r>
              <a:rPr sz="1100" b="1" i="0">
                <a:solidFill>
                  <a:srgbClr val="1E4173"/>
                </a:solidFill>
                <a:latin typeface="Calibri"/>
              </a:rPr>
              <a:t>Key details are identified</a:t>
            </a:r>
          </a:p>
        </p:txBody>
      </p:sp>
      <p:sp>
        <p:nvSpPr>
          <p:cNvPr id="16" name="Chevron 15"/>
          <p:cNvSpPr/>
          <p:nvPr/>
        </p:nvSpPr>
        <p:spPr>
          <a:xfrm>
            <a:off x="3671315" y="2011680"/>
            <a:ext cx="137160"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7" name="Rounded Rectangle 16"/>
          <p:cNvSpPr/>
          <p:nvPr/>
        </p:nvSpPr>
        <p:spPr>
          <a:xfrm>
            <a:off x="3877056" y="1536192"/>
            <a:ext cx="1408176" cy="1188720"/>
          </a:xfrm>
          <a:prstGeom prst="roundRect">
            <a:avLst>
              <a:gd name="adj" fmla="val 769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8" name="Oval 17"/>
          <p:cNvSpPr/>
          <p:nvPr/>
        </p:nvSpPr>
        <p:spPr>
          <a:xfrm>
            <a:off x="4370831" y="1645920"/>
            <a:ext cx="420624" cy="420624"/>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19" name="Picture 18" descr="route_w.png"/>
          <p:cNvPicPr>
            <a:picLocks noChangeAspect="1"/>
          </p:cNvPicPr>
          <p:nvPr/>
        </p:nvPicPr>
        <p:blipFill>
          <a:blip r:embed="rId7"/>
          <a:stretch>
            <a:fillRect/>
          </a:stretch>
        </p:blipFill>
        <p:spPr>
          <a:xfrm>
            <a:off x="4480194" y="1755282"/>
            <a:ext cx="201899" cy="201899"/>
          </a:xfrm>
          <a:prstGeom prst="rect">
            <a:avLst/>
          </a:prstGeom>
        </p:spPr>
      </p:pic>
      <p:sp>
        <p:nvSpPr>
          <p:cNvPr id="20" name="TextBox 19"/>
          <p:cNvSpPr txBox="1"/>
          <p:nvPr/>
        </p:nvSpPr>
        <p:spPr>
          <a:xfrm>
            <a:off x="3968496" y="2157984"/>
            <a:ext cx="1225296" cy="502920"/>
          </a:xfrm>
          <a:prstGeom prst="rect">
            <a:avLst/>
          </a:prstGeom>
          <a:noFill/>
        </p:spPr>
        <p:txBody>
          <a:bodyPr wrap="square" lIns="0" tIns="0" rIns="0" bIns="0" anchor="t">
            <a:spAutoFit/>
          </a:bodyPr>
          <a:lstStyle/>
          <a:p>
            <a:pPr algn="ctr"/>
            <a:r>
              <a:rPr sz="1100" b="1" i="0">
                <a:solidFill>
                  <a:srgbClr val="1E4173"/>
                </a:solidFill>
                <a:latin typeface="Calibri"/>
              </a:rPr>
              <a:t>Routine cases are routed</a:t>
            </a:r>
          </a:p>
        </p:txBody>
      </p:sp>
      <p:sp>
        <p:nvSpPr>
          <p:cNvPr id="21" name="Chevron 20"/>
          <p:cNvSpPr/>
          <p:nvPr/>
        </p:nvSpPr>
        <p:spPr>
          <a:xfrm>
            <a:off x="5358384" y="2011680"/>
            <a:ext cx="137160"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2" name="Rounded Rectangle 21"/>
          <p:cNvSpPr/>
          <p:nvPr/>
        </p:nvSpPr>
        <p:spPr>
          <a:xfrm>
            <a:off x="5564124" y="1536192"/>
            <a:ext cx="1408176" cy="1188720"/>
          </a:xfrm>
          <a:prstGeom prst="roundRect">
            <a:avLst>
              <a:gd name="adj" fmla="val 7692"/>
            </a:avLst>
          </a:prstGeom>
          <a:solidFill>
            <a:srgbClr val="F8F0DF"/>
          </a:solidFill>
          <a:ln w="15875">
            <a:solidFill>
              <a:srgbClr val="A9740A"/>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3" name="Oval 22"/>
          <p:cNvSpPr/>
          <p:nvPr/>
        </p:nvSpPr>
        <p:spPr>
          <a:xfrm>
            <a:off x="6057900" y="1645920"/>
            <a:ext cx="420624" cy="420624"/>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24" name="Picture 23" descr="person_w.png"/>
          <p:cNvPicPr>
            <a:picLocks noChangeAspect="1"/>
          </p:cNvPicPr>
          <p:nvPr/>
        </p:nvPicPr>
        <p:blipFill>
          <a:blip r:embed="rId8"/>
          <a:stretch>
            <a:fillRect/>
          </a:stretch>
        </p:blipFill>
        <p:spPr>
          <a:xfrm>
            <a:off x="6167262" y="1755282"/>
            <a:ext cx="201899" cy="201899"/>
          </a:xfrm>
          <a:prstGeom prst="rect">
            <a:avLst/>
          </a:prstGeom>
        </p:spPr>
      </p:pic>
      <p:sp>
        <p:nvSpPr>
          <p:cNvPr id="25" name="TextBox 24"/>
          <p:cNvSpPr txBox="1"/>
          <p:nvPr/>
        </p:nvSpPr>
        <p:spPr>
          <a:xfrm>
            <a:off x="5655564" y="2157984"/>
            <a:ext cx="1225296" cy="502920"/>
          </a:xfrm>
          <a:prstGeom prst="rect">
            <a:avLst/>
          </a:prstGeom>
          <a:noFill/>
        </p:spPr>
        <p:txBody>
          <a:bodyPr wrap="square" lIns="0" tIns="0" rIns="0" bIns="0" anchor="t">
            <a:spAutoFit/>
          </a:bodyPr>
          <a:lstStyle/>
          <a:p>
            <a:pPr algn="ctr"/>
            <a:r>
              <a:rPr sz="1100" b="1" i="0">
                <a:solidFill>
                  <a:srgbClr val="1E4173"/>
                </a:solidFill>
                <a:latin typeface="Calibri"/>
              </a:rPr>
              <a:t>Difficult cases go to a person</a:t>
            </a:r>
          </a:p>
        </p:txBody>
      </p:sp>
      <p:sp>
        <p:nvSpPr>
          <p:cNvPr id="26" name="Chevron 25"/>
          <p:cNvSpPr/>
          <p:nvPr/>
        </p:nvSpPr>
        <p:spPr>
          <a:xfrm>
            <a:off x="7045452" y="2011680"/>
            <a:ext cx="137160"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7" name="Rounded Rectangle 26"/>
          <p:cNvSpPr/>
          <p:nvPr/>
        </p:nvSpPr>
        <p:spPr>
          <a:xfrm>
            <a:off x="5673852" y="2798064"/>
            <a:ext cx="1188720" cy="219456"/>
          </a:xfrm>
          <a:prstGeom prst="roundRect">
            <a:avLst>
              <a:gd name="adj" fmla="val 50000"/>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800" b="1" i="0">
                <a:solidFill>
                  <a:srgbClr val="FFFFFF"/>
                </a:solidFill>
                <a:latin typeface="Calibri"/>
              </a:rPr>
              <a:t>HUMAN HANDOFF</a:t>
            </a:r>
          </a:p>
        </p:txBody>
      </p:sp>
      <p:sp>
        <p:nvSpPr>
          <p:cNvPr id="28" name="Rounded Rectangle 27"/>
          <p:cNvSpPr/>
          <p:nvPr/>
        </p:nvSpPr>
        <p:spPr>
          <a:xfrm>
            <a:off x="7251192" y="1536192"/>
            <a:ext cx="1408176" cy="1188720"/>
          </a:xfrm>
          <a:prstGeom prst="roundRect">
            <a:avLst>
              <a:gd name="adj" fmla="val 769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9" name="Oval 28"/>
          <p:cNvSpPr/>
          <p:nvPr/>
        </p:nvSpPr>
        <p:spPr>
          <a:xfrm>
            <a:off x="7744967" y="1645920"/>
            <a:ext cx="420624" cy="420624"/>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30" name="Picture 29" descr="db_w.png"/>
          <p:cNvPicPr>
            <a:picLocks noChangeAspect="1"/>
          </p:cNvPicPr>
          <p:nvPr/>
        </p:nvPicPr>
        <p:blipFill>
          <a:blip r:embed="rId9"/>
          <a:stretch>
            <a:fillRect/>
          </a:stretch>
        </p:blipFill>
        <p:spPr>
          <a:xfrm>
            <a:off x="7854330" y="1755282"/>
            <a:ext cx="201899" cy="201899"/>
          </a:xfrm>
          <a:prstGeom prst="rect">
            <a:avLst/>
          </a:prstGeom>
        </p:spPr>
      </p:pic>
      <p:sp>
        <p:nvSpPr>
          <p:cNvPr id="31" name="TextBox 30"/>
          <p:cNvSpPr txBox="1"/>
          <p:nvPr/>
        </p:nvSpPr>
        <p:spPr>
          <a:xfrm>
            <a:off x="7342631" y="2157984"/>
            <a:ext cx="1225296" cy="502920"/>
          </a:xfrm>
          <a:prstGeom prst="rect">
            <a:avLst/>
          </a:prstGeom>
          <a:noFill/>
        </p:spPr>
        <p:txBody>
          <a:bodyPr wrap="square" lIns="0" tIns="0" rIns="0" bIns="0" anchor="t">
            <a:spAutoFit/>
          </a:bodyPr>
          <a:lstStyle/>
          <a:p>
            <a:pPr algn="ctr"/>
            <a:r>
              <a:rPr sz="1100" b="1" i="0">
                <a:solidFill>
                  <a:srgbClr val="1E4173"/>
                </a:solidFill>
                <a:latin typeface="Calibri"/>
              </a:rPr>
              <a:t>Status is saved</a:t>
            </a:r>
          </a:p>
        </p:txBody>
      </p:sp>
      <p:sp>
        <p:nvSpPr>
          <p:cNvPr id="32" name="Rounded Rectangle 31"/>
          <p:cNvSpPr/>
          <p:nvPr/>
        </p:nvSpPr>
        <p:spPr>
          <a:xfrm>
            <a:off x="7360919" y="2798064"/>
            <a:ext cx="1188720" cy="219456"/>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800" b="1" i="0">
                <a:solidFill>
                  <a:srgbClr val="FFFFFF"/>
                </a:solidFill>
                <a:latin typeface="Calibri"/>
              </a:rPr>
              <a:t>SAVED RECORD</a:t>
            </a:r>
          </a:p>
        </p:txBody>
      </p:sp>
      <p:sp>
        <p:nvSpPr>
          <p:cNvPr id="33" name="Rounded Rectangle 32"/>
          <p:cNvSpPr/>
          <p:nvPr/>
        </p:nvSpPr>
        <p:spPr>
          <a:xfrm>
            <a:off x="502920" y="3200400"/>
            <a:ext cx="3931920" cy="713232"/>
          </a:xfrm>
          <a:prstGeom prst="roundRect">
            <a:avLst>
              <a:gd name="adj" fmla="val 1282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4" name="TextBox 33"/>
          <p:cNvSpPr txBox="1"/>
          <p:nvPr/>
        </p:nvSpPr>
        <p:spPr>
          <a:xfrm>
            <a:off x="731520" y="3291840"/>
            <a:ext cx="3474720" cy="182880"/>
          </a:xfrm>
          <a:prstGeom prst="rect">
            <a:avLst/>
          </a:prstGeom>
          <a:noFill/>
        </p:spPr>
        <p:txBody>
          <a:bodyPr wrap="square" lIns="0" tIns="0" rIns="0" bIns="0" anchor="t">
            <a:spAutoFit/>
          </a:bodyPr>
          <a:lstStyle/>
          <a:p>
            <a:pPr algn="l"/>
            <a:r>
              <a:rPr sz="850" b="1" i="0">
                <a:solidFill>
                  <a:srgbClr val="5A6472"/>
                </a:solidFill>
                <a:latin typeface="Calibri"/>
              </a:rPr>
              <a:t>THE QUESTION IS NOT</a:t>
            </a:r>
          </a:p>
        </p:txBody>
      </p:sp>
      <p:sp>
        <p:nvSpPr>
          <p:cNvPr id="35" name="TextBox 34"/>
          <p:cNvSpPr txBox="1"/>
          <p:nvPr/>
        </p:nvSpPr>
        <p:spPr>
          <a:xfrm>
            <a:off x="731520" y="3493008"/>
            <a:ext cx="3566160" cy="320040"/>
          </a:xfrm>
          <a:prstGeom prst="rect">
            <a:avLst/>
          </a:prstGeom>
          <a:noFill/>
        </p:spPr>
        <p:txBody>
          <a:bodyPr wrap="square" lIns="0" tIns="0" rIns="0" bIns="0" anchor="t">
            <a:spAutoFit/>
          </a:bodyPr>
          <a:lstStyle/>
          <a:p>
            <a:pPr algn="l"/>
            <a:r>
              <a:rPr sz="1500" b="0" i="1">
                <a:solidFill>
                  <a:srgbClr val="5A6472"/>
                </a:solidFill>
                <a:latin typeface="Cambria"/>
              </a:rPr>
              <a:t>“Where can we add AI?”</a:t>
            </a:r>
          </a:p>
        </p:txBody>
      </p:sp>
      <p:sp>
        <p:nvSpPr>
          <p:cNvPr id="36" name="Rounded Rectangle 35"/>
          <p:cNvSpPr/>
          <p:nvPr/>
        </p:nvSpPr>
        <p:spPr>
          <a:xfrm>
            <a:off x="4709160" y="3200400"/>
            <a:ext cx="3931920" cy="713232"/>
          </a:xfrm>
          <a:prstGeom prst="roundRect">
            <a:avLst>
              <a:gd name="adj" fmla="val 1282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7" name="TextBox 36"/>
          <p:cNvSpPr txBox="1"/>
          <p:nvPr/>
        </p:nvSpPr>
        <p:spPr>
          <a:xfrm>
            <a:off x="4937760" y="3291840"/>
            <a:ext cx="3474720" cy="182880"/>
          </a:xfrm>
          <a:prstGeom prst="rect">
            <a:avLst/>
          </a:prstGeom>
          <a:noFill/>
        </p:spPr>
        <p:txBody>
          <a:bodyPr wrap="square" lIns="0" tIns="0" rIns="0" bIns="0" anchor="t">
            <a:spAutoFit/>
          </a:bodyPr>
          <a:lstStyle/>
          <a:p>
            <a:pPr algn="l"/>
            <a:r>
              <a:rPr sz="850" b="1" i="0">
                <a:solidFill>
                  <a:srgbClr val="F2D28B"/>
                </a:solidFill>
                <a:latin typeface="Calibri"/>
              </a:rPr>
              <a:t>THE QUESTION IS</a:t>
            </a:r>
          </a:p>
        </p:txBody>
      </p:sp>
      <p:sp>
        <p:nvSpPr>
          <p:cNvPr id="38" name="TextBox 37"/>
          <p:cNvSpPr txBox="1"/>
          <p:nvPr/>
        </p:nvSpPr>
        <p:spPr>
          <a:xfrm>
            <a:off x="4937760" y="3493008"/>
            <a:ext cx="3611880" cy="320040"/>
          </a:xfrm>
          <a:prstGeom prst="rect">
            <a:avLst/>
          </a:prstGeom>
          <a:noFill/>
        </p:spPr>
        <p:txBody>
          <a:bodyPr wrap="square" lIns="0" tIns="0" rIns="0" bIns="0" anchor="t">
            <a:spAutoFit/>
          </a:bodyPr>
          <a:lstStyle/>
          <a:p>
            <a:pPr algn="l"/>
            <a:r>
              <a:rPr sz="1500" b="1" i="0">
                <a:solidFill>
                  <a:srgbClr val="FFFFFF"/>
                </a:solidFill>
                <a:latin typeface="Cambria"/>
              </a:rPr>
              <a:t>“How can this work be done better?”</a:t>
            </a:r>
          </a:p>
        </p:txBody>
      </p:sp>
      <p:sp>
        <p:nvSpPr>
          <p:cNvPr id="39" name="TextBox 38"/>
          <p:cNvSpPr txBox="1"/>
          <p:nvPr/>
        </p:nvSpPr>
        <p:spPr>
          <a:xfrm>
            <a:off x="502920" y="4023360"/>
            <a:ext cx="8138160" cy="201168"/>
          </a:xfrm>
          <a:prstGeom prst="rect">
            <a:avLst/>
          </a:prstGeom>
          <a:noFill/>
        </p:spPr>
        <p:txBody>
          <a:bodyPr wrap="square" lIns="0" tIns="0" rIns="0" bIns="0" anchor="t">
            <a:spAutoFit/>
          </a:bodyPr>
          <a:lstStyle/>
          <a:p>
            <a:pPr algn="l"/>
            <a:r>
              <a:rPr sz="900" b="0" i="1">
                <a:solidFill>
                  <a:srgbClr val="5A6472"/>
                </a:solidFill>
                <a:latin typeface="Calibri"/>
              </a:rPr>
              <a:t>An illustration only. It is not a set project topic.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06</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The course in four </a:t>
            </a:r>
            <a:r>
              <a:rPr lang="en-US" sz="2000" b="1" dirty="0" smtClean="0">
                <a:solidFill>
                  <a:srgbClr val="1E4173"/>
                </a:solidFill>
                <a:latin typeface="Cambria" pitchFamily="34" charset="0"/>
                <a:ea typeface="Cambria" pitchFamily="34" charset="-122"/>
                <a:cs typeface="Cambria" pitchFamily="34" charset="-120"/>
              </a:rPr>
              <a:t>Modules</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20 sessions, four broad </a:t>
            </a:r>
            <a:r>
              <a:rPr lang="en-US" sz="900" i="1" dirty="0" smtClean="0">
                <a:solidFill>
                  <a:srgbClr val="5A6472"/>
                </a:solidFill>
                <a:latin typeface="Calibri" pitchFamily="34" charset="0"/>
                <a:ea typeface="Calibri" pitchFamily="34" charset="-122"/>
                <a:cs typeface="Calibri" pitchFamily="34" charset="-120"/>
              </a:rPr>
              <a:t>modules</a:t>
            </a:r>
            <a:endParaRPr lang="en-US" sz="900" dirty="0"/>
          </a:p>
        </p:txBody>
      </p:sp>
      <p:sp>
        <p:nvSpPr>
          <p:cNvPr id="11" name="Shape 8"/>
          <p:cNvSpPr/>
          <p:nvPr/>
        </p:nvSpPr>
        <p:spPr>
          <a:xfrm>
            <a:off x="502920" y="3968496"/>
            <a:ext cx="8138160" cy="384048"/>
          </a:xfrm>
          <a:prstGeom prst="roundRect">
            <a:avLst>
              <a:gd name="adj" fmla="val 9524"/>
            </a:avLst>
          </a:prstGeom>
          <a:solidFill>
            <a:srgbClr val="1E4173"/>
          </a:solidFill>
          <a:ln w="9525">
            <a:solidFill>
              <a:srgbClr val="1E4173"/>
            </a:solidFill>
            <a:prstDash val="solid"/>
          </a:ln>
        </p:spPr>
        <p:txBody>
          <a:bodyPr/>
          <a:p/>
        </p:txBody>
      </p:sp>
      <p:sp>
        <p:nvSpPr>
          <p:cNvPr id="12" name="Text 9"/>
          <p:cNvSpPr/>
          <p:nvPr/>
        </p:nvSpPr>
        <p:spPr>
          <a:xfrm>
            <a:off x="667512" y="3968496"/>
            <a:ext cx="7808976" cy="384048"/>
          </a:xfrm>
          <a:prstGeom prst="rect">
            <a:avLst/>
          </a:prstGeom>
          <a:noFill/>
          <a:ln/>
        </p:spPr>
        <p:txBody>
          <a:bodyPr wrap="square" lIns="0" tIns="0" rIns="0" bIns="0" rtlCol="0" anchor="ctr"/>
          <a:lstStyle/>
          <a:p>
            <a:pPr marL="0" indent="0">
              <a:buNone/>
            </a:pPr>
            <a:r>
              <a:rPr lang="en-US" sz="950" b="1" i="1" dirty="0">
                <a:solidFill>
                  <a:srgbClr val="FFFFFF"/>
                </a:solidFill>
                <a:latin typeface="Calibri" pitchFamily="34" charset="0"/>
                <a:ea typeface="Calibri" pitchFamily="34" charset="-122"/>
                <a:cs typeface="Calibri" pitchFamily="34" charset="-120"/>
              </a:rPr>
              <a:t>One real problem runs through all </a:t>
            </a:r>
            <a:r>
              <a:rPr lang="en-US" sz="950" b="1" i="1" dirty="0" smtClean="0">
                <a:solidFill>
                  <a:srgbClr val="FFFFFF"/>
                </a:solidFill>
                <a:latin typeface="Calibri" pitchFamily="34" charset="0"/>
                <a:ea typeface="Calibri" pitchFamily="34" charset="-122"/>
                <a:cs typeface="Calibri" pitchFamily="34" charset="-120"/>
              </a:rPr>
              <a:t>four modules.</a:t>
            </a:r>
            <a:endParaRPr lang="en-US" sz="950" dirty="0"/>
          </a:p>
        </p:txBody>
      </p:sp>
      <p:sp>
        <p:nvSpPr>
          <p:cNvPr id="13" name="Rounded Rectangle 12"/>
          <p:cNvSpPr/>
          <p:nvPr/>
        </p:nvSpPr>
        <p:spPr>
          <a:xfrm>
            <a:off x="502920" y="1508760"/>
            <a:ext cx="1828800" cy="22860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4" name="TextBox 13"/>
          <p:cNvSpPr txBox="1"/>
          <p:nvPr/>
        </p:nvSpPr>
        <p:spPr>
          <a:xfrm>
            <a:off x="685800" y="1572768"/>
            <a:ext cx="548640" cy="548640"/>
          </a:xfrm>
          <a:prstGeom prst="rect">
            <a:avLst/>
          </a:prstGeom>
          <a:noFill/>
        </p:spPr>
        <p:txBody>
          <a:bodyPr wrap="square" lIns="0" tIns="0" rIns="0" bIns="0" anchor="t">
            <a:spAutoFit/>
          </a:bodyPr>
          <a:lstStyle/>
          <a:p>
            <a:pPr algn="l"/>
            <a:r>
              <a:rPr sz="3000" b="1" i="0">
                <a:solidFill>
                  <a:srgbClr val="A9740A"/>
                </a:solidFill>
                <a:latin typeface="Cambria"/>
              </a:rPr>
              <a:t>1</a:t>
            </a:r>
          </a:p>
        </p:txBody>
      </p:sp>
      <p:sp>
        <p:nvSpPr>
          <p:cNvPr id="15" name="Oval 14"/>
          <p:cNvSpPr/>
          <p:nvPr/>
        </p:nvSpPr>
        <p:spPr>
          <a:xfrm>
            <a:off x="1709927" y="1664208"/>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16" name="Picture 15" descr="understand_w.png"/>
          <p:cNvPicPr>
            <a:picLocks noChangeAspect="1"/>
          </p:cNvPicPr>
          <p:nvPr/>
        </p:nvPicPr>
        <p:blipFill>
          <a:blip r:embed="rId5"/>
          <a:stretch>
            <a:fillRect/>
          </a:stretch>
        </p:blipFill>
        <p:spPr>
          <a:xfrm>
            <a:off x="1824045" y="1778325"/>
            <a:ext cx="210677" cy="210677"/>
          </a:xfrm>
          <a:prstGeom prst="rect">
            <a:avLst/>
          </a:prstGeom>
        </p:spPr>
      </p:pic>
      <p:sp>
        <p:nvSpPr>
          <p:cNvPr id="17" name="TextBox 16"/>
          <p:cNvSpPr txBox="1"/>
          <p:nvPr/>
        </p:nvSpPr>
        <p:spPr>
          <a:xfrm>
            <a:off x="685800" y="2212848"/>
            <a:ext cx="1463040" cy="457200"/>
          </a:xfrm>
          <a:prstGeom prst="rect">
            <a:avLst/>
          </a:prstGeom>
          <a:noFill/>
        </p:spPr>
        <p:txBody>
          <a:bodyPr wrap="square" lIns="0" tIns="0" rIns="0" bIns="0" anchor="t">
            <a:spAutoFit/>
          </a:bodyPr>
          <a:lstStyle/>
          <a:p>
            <a:pPr algn="l"/>
            <a:r>
              <a:rPr sz="1400" b="1" i="0">
                <a:solidFill>
                  <a:srgbClr val="1E4173"/>
                </a:solidFill>
                <a:latin typeface="Cambria"/>
              </a:rPr>
              <a:t>Understand the work</a:t>
            </a:r>
          </a:p>
        </p:txBody>
      </p:sp>
      <p:sp>
        <p:nvSpPr>
          <p:cNvPr id="18" name="TextBox 17"/>
          <p:cNvSpPr txBox="1"/>
          <p:nvPr/>
        </p:nvSpPr>
        <p:spPr>
          <a:xfrm>
            <a:off x="685800" y="2697480"/>
            <a:ext cx="1463040" cy="731520"/>
          </a:xfrm>
          <a:prstGeom prst="rect">
            <a:avLst/>
          </a:prstGeom>
          <a:noFill/>
        </p:spPr>
        <p:txBody>
          <a:bodyPr wrap="square" lIns="0" tIns="0" rIns="0" bIns="0" anchor="t">
            <a:spAutoFit/>
          </a:bodyPr>
          <a:lstStyle/>
          <a:p>
            <a:pPr algn="l"/>
            <a:r>
              <a:rPr sz="1100" b="0" i="0">
                <a:solidFill>
                  <a:srgbClr val="3A4450"/>
                </a:solidFill>
                <a:latin typeface="Calibri"/>
              </a:rPr>
              <a:t>What is the problem, and what should people and AI each do?</a:t>
            </a:r>
          </a:p>
        </p:txBody>
      </p:sp>
      <p:sp>
        <p:nvSpPr>
          <p:cNvPr id="19" name="TextBox 18"/>
          <p:cNvSpPr txBox="1"/>
          <p:nvPr/>
        </p:nvSpPr>
        <p:spPr>
          <a:xfrm>
            <a:off x="685800" y="3474720"/>
            <a:ext cx="1463040" cy="182880"/>
          </a:xfrm>
          <a:prstGeom prst="rect">
            <a:avLst/>
          </a:prstGeom>
          <a:noFill/>
        </p:spPr>
        <p:txBody>
          <a:bodyPr wrap="square" lIns="0" tIns="0" rIns="0" bIns="0" anchor="t">
            <a:spAutoFit/>
          </a:bodyPr>
          <a:lstStyle/>
          <a:p>
            <a:pPr algn="l"/>
            <a:r>
              <a:rPr sz="850" b="1" i="0">
                <a:solidFill>
                  <a:srgbClr val="5A6472"/>
                </a:solidFill>
                <a:latin typeface="Calibri"/>
              </a:rPr>
              <a:t>SESSIONS 1–5</a:t>
            </a:r>
          </a:p>
        </p:txBody>
      </p:sp>
      <p:sp>
        <p:nvSpPr>
          <p:cNvPr id="20" name="Chevron 19"/>
          <p:cNvSpPr/>
          <p:nvPr/>
        </p:nvSpPr>
        <p:spPr>
          <a:xfrm>
            <a:off x="2404872" y="2514600"/>
            <a:ext cx="128016"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1" name="Rounded Rectangle 20"/>
          <p:cNvSpPr/>
          <p:nvPr/>
        </p:nvSpPr>
        <p:spPr>
          <a:xfrm>
            <a:off x="2606039" y="1508760"/>
            <a:ext cx="1828800" cy="22860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2" name="TextBox 21"/>
          <p:cNvSpPr txBox="1"/>
          <p:nvPr/>
        </p:nvSpPr>
        <p:spPr>
          <a:xfrm>
            <a:off x="2788920" y="1572768"/>
            <a:ext cx="548640" cy="548640"/>
          </a:xfrm>
          <a:prstGeom prst="rect">
            <a:avLst/>
          </a:prstGeom>
          <a:noFill/>
        </p:spPr>
        <p:txBody>
          <a:bodyPr wrap="square" lIns="0" tIns="0" rIns="0" bIns="0" anchor="t">
            <a:spAutoFit/>
          </a:bodyPr>
          <a:lstStyle/>
          <a:p>
            <a:pPr algn="l"/>
            <a:r>
              <a:rPr sz="3000" b="1" i="0">
                <a:solidFill>
                  <a:srgbClr val="A9740A"/>
                </a:solidFill>
                <a:latin typeface="Cambria"/>
              </a:rPr>
              <a:t>2</a:t>
            </a:r>
          </a:p>
        </p:txBody>
      </p:sp>
      <p:sp>
        <p:nvSpPr>
          <p:cNvPr id="23" name="Oval 22"/>
          <p:cNvSpPr/>
          <p:nvPr/>
        </p:nvSpPr>
        <p:spPr>
          <a:xfrm>
            <a:off x="3813048" y="1664208"/>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24" name="Picture 23" descr="skills_w.png"/>
          <p:cNvPicPr>
            <a:picLocks noChangeAspect="1"/>
          </p:cNvPicPr>
          <p:nvPr/>
        </p:nvPicPr>
        <p:blipFill>
          <a:blip r:embed="rId6"/>
          <a:stretch>
            <a:fillRect/>
          </a:stretch>
        </p:blipFill>
        <p:spPr>
          <a:xfrm>
            <a:off x="3927165" y="1778325"/>
            <a:ext cx="210677" cy="210677"/>
          </a:xfrm>
          <a:prstGeom prst="rect">
            <a:avLst/>
          </a:prstGeom>
        </p:spPr>
      </p:pic>
      <p:sp>
        <p:nvSpPr>
          <p:cNvPr id="25" name="TextBox 24"/>
          <p:cNvSpPr txBox="1"/>
          <p:nvPr/>
        </p:nvSpPr>
        <p:spPr>
          <a:xfrm>
            <a:off x="2788920" y="2212848"/>
            <a:ext cx="1463040" cy="457200"/>
          </a:xfrm>
          <a:prstGeom prst="rect">
            <a:avLst/>
          </a:prstGeom>
          <a:noFill/>
        </p:spPr>
        <p:txBody>
          <a:bodyPr wrap="square" lIns="0" tIns="0" rIns="0" bIns="0" anchor="t">
            <a:spAutoFit/>
          </a:bodyPr>
          <a:lstStyle/>
          <a:p>
            <a:pPr algn="l"/>
            <a:r>
              <a:rPr sz="1400" b="1" i="0">
                <a:solidFill>
                  <a:srgbClr val="1E4173"/>
                </a:solidFill>
                <a:latin typeface="Cambria"/>
              </a:rPr>
              <a:t>Show your skills</a:t>
            </a:r>
          </a:p>
        </p:txBody>
      </p:sp>
      <p:sp>
        <p:nvSpPr>
          <p:cNvPr id="26" name="TextBox 25"/>
          <p:cNvSpPr txBox="1"/>
          <p:nvPr/>
        </p:nvSpPr>
        <p:spPr>
          <a:xfrm>
            <a:off x="2788920" y="2697480"/>
            <a:ext cx="1463040" cy="731520"/>
          </a:xfrm>
          <a:prstGeom prst="rect">
            <a:avLst/>
          </a:prstGeom>
          <a:noFill/>
        </p:spPr>
        <p:txBody>
          <a:bodyPr wrap="square" lIns="0" tIns="0" rIns="0" bIns="0" anchor="t">
            <a:spAutoFit/>
          </a:bodyPr>
          <a:lstStyle/>
          <a:p>
            <a:pPr algn="l"/>
            <a:r>
              <a:rPr sz="1100" b="0" i="0">
                <a:solidFill>
                  <a:srgbClr val="3A4450"/>
                </a:solidFill>
                <a:latin typeface="Calibri"/>
              </a:rPr>
              <a:t>Build a live portfolio and explain your contribution.</a:t>
            </a:r>
          </a:p>
        </p:txBody>
      </p:sp>
      <p:sp>
        <p:nvSpPr>
          <p:cNvPr id="27" name="TextBox 26"/>
          <p:cNvSpPr txBox="1"/>
          <p:nvPr/>
        </p:nvSpPr>
        <p:spPr>
          <a:xfrm>
            <a:off x="2788920" y="3474720"/>
            <a:ext cx="1463040" cy="182880"/>
          </a:xfrm>
          <a:prstGeom prst="rect">
            <a:avLst/>
          </a:prstGeom>
          <a:noFill/>
        </p:spPr>
        <p:txBody>
          <a:bodyPr wrap="square" lIns="0" tIns="0" rIns="0" bIns="0" anchor="t">
            <a:spAutoFit/>
          </a:bodyPr>
          <a:lstStyle/>
          <a:p>
            <a:pPr algn="l"/>
            <a:r>
              <a:rPr sz="850" b="1" i="0">
                <a:solidFill>
                  <a:srgbClr val="5A6472"/>
                </a:solidFill>
                <a:latin typeface="Calibri"/>
              </a:rPr>
              <a:t>SESSIONS 6–9</a:t>
            </a:r>
          </a:p>
        </p:txBody>
      </p:sp>
      <p:sp>
        <p:nvSpPr>
          <p:cNvPr id="28" name="Chevron 27"/>
          <p:cNvSpPr/>
          <p:nvPr/>
        </p:nvSpPr>
        <p:spPr>
          <a:xfrm>
            <a:off x="4507992" y="2514600"/>
            <a:ext cx="128016"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9" name="Rounded Rectangle 28"/>
          <p:cNvSpPr/>
          <p:nvPr/>
        </p:nvSpPr>
        <p:spPr>
          <a:xfrm>
            <a:off x="4709159" y="1508760"/>
            <a:ext cx="1828800" cy="22860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0" name="TextBox 29"/>
          <p:cNvSpPr txBox="1"/>
          <p:nvPr/>
        </p:nvSpPr>
        <p:spPr>
          <a:xfrm>
            <a:off x="4892040" y="1572768"/>
            <a:ext cx="548640" cy="548640"/>
          </a:xfrm>
          <a:prstGeom prst="rect">
            <a:avLst/>
          </a:prstGeom>
          <a:noFill/>
        </p:spPr>
        <p:txBody>
          <a:bodyPr wrap="square" lIns="0" tIns="0" rIns="0" bIns="0" anchor="t">
            <a:spAutoFit/>
          </a:bodyPr>
          <a:lstStyle/>
          <a:p>
            <a:pPr algn="l"/>
            <a:r>
              <a:rPr sz="3000" b="1" i="0">
                <a:solidFill>
                  <a:srgbClr val="A9740A"/>
                </a:solidFill>
                <a:latin typeface="Cambria"/>
              </a:rPr>
              <a:t>3</a:t>
            </a:r>
          </a:p>
        </p:txBody>
      </p:sp>
      <p:sp>
        <p:nvSpPr>
          <p:cNvPr id="31" name="Oval 30"/>
          <p:cNvSpPr/>
          <p:nvPr/>
        </p:nvSpPr>
        <p:spPr>
          <a:xfrm>
            <a:off x="5916168" y="1664208"/>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32" name="Picture 31" descr="build_w.png"/>
          <p:cNvPicPr>
            <a:picLocks noChangeAspect="1"/>
          </p:cNvPicPr>
          <p:nvPr/>
        </p:nvPicPr>
        <p:blipFill>
          <a:blip r:embed="rId7"/>
          <a:stretch>
            <a:fillRect/>
          </a:stretch>
        </p:blipFill>
        <p:spPr>
          <a:xfrm>
            <a:off x="6030285" y="1778325"/>
            <a:ext cx="210677" cy="210677"/>
          </a:xfrm>
          <a:prstGeom prst="rect">
            <a:avLst/>
          </a:prstGeom>
        </p:spPr>
      </p:pic>
      <p:sp>
        <p:nvSpPr>
          <p:cNvPr id="33" name="TextBox 32"/>
          <p:cNvSpPr txBox="1"/>
          <p:nvPr/>
        </p:nvSpPr>
        <p:spPr>
          <a:xfrm>
            <a:off x="4892040" y="2212848"/>
            <a:ext cx="1463040" cy="457200"/>
          </a:xfrm>
          <a:prstGeom prst="rect">
            <a:avLst/>
          </a:prstGeom>
          <a:noFill/>
        </p:spPr>
        <p:txBody>
          <a:bodyPr wrap="square" lIns="0" tIns="0" rIns="0" bIns="0" anchor="t">
            <a:spAutoFit/>
          </a:bodyPr>
          <a:lstStyle/>
          <a:p>
            <a:pPr algn="l"/>
            <a:r>
              <a:rPr sz="1400" b="1" i="0">
                <a:solidFill>
                  <a:srgbClr val="1E4173"/>
                </a:solidFill>
                <a:latin typeface="Cambria"/>
              </a:rPr>
              <a:t>Build the solution</a:t>
            </a:r>
          </a:p>
        </p:txBody>
      </p:sp>
      <p:sp>
        <p:nvSpPr>
          <p:cNvPr id="34" name="TextBox 33"/>
          <p:cNvSpPr txBox="1"/>
          <p:nvPr/>
        </p:nvSpPr>
        <p:spPr>
          <a:xfrm>
            <a:off x="4892040" y="2697480"/>
            <a:ext cx="1463040" cy="731520"/>
          </a:xfrm>
          <a:prstGeom prst="rect">
            <a:avLst/>
          </a:prstGeom>
          <a:noFill/>
        </p:spPr>
        <p:txBody>
          <a:bodyPr wrap="square" lIns="0" tIns="0" rIns="0" bIns="0" anchor="t">
            <a:spAutoFit/>
          </a:bodyPr>
          <a:lstStyle/>
          <a:p>
            <a:pPr algn="l"/>
            <a:r>
              <a:rPr sz="1100" b="0" i="0">
                <a:solidFill>
                  <a:srgbClr val="3A4450"/>
                </a:solidFill>
                <a:latin typeface="Calibri"/>
              </a:rPr>
              <a:t>Make a useful workflow or app for the problem.</a:t>
            </a:r>
          </a:p>
        </p:txBody>
      </p:sp>
      <p:sp>
        <p:nvSpPr>
          <p:cNvPr id="35" name="TextBox 34"/>
          <p:cNvSpPr txBox="1"/>
          <p:nvPr/>
        </p:nvSpPr>
        <p:spPr>
          <a:xfrm>
            <a:off x="4892040" y="3474720"/>
            <a:ext cx="1463040" cy="182880"/>
          </a:xfrm>
          <a:prstGeom prst="rect">
            <a:avLst/>
          </a:prstGeom>
          <a:noFill/>
        </p:spPr>
        <p:txBody>
          <a:bodyPr wrap="square" lIns="0" tIns="0" rIns="0" bIns="0" anchor="t">
            <a:spAutoFit/>
          </a:bodyPr>
          <a:lstStyle/>
          <a:p>
            <a:pPr algn="l"/>
            <a:r>
              <a:rPr sz="850" b="1" i="0">
                <a:solidFill>
                  <a:srgbClr val="5A6472"/>
                </a:solidFill>
                <a:latin typeface="Calibri"/>
              </a:rPr>
              <a:t>SESSIONS 10–15</a:t>
            </a:r>
          </a:p>
        </p:txBody>
      </p:sp>
      <p:sp>
        <p:nvSpPr>
          <p:cNvPr id="36" name="Chevron 35"/>
          <p:cNvSpPr/>
          <p:nvPr/>
        </p:nvSpPr>
        <p:spPr>
          <a:xfrm>
            <a:off x="6611112" y="2514600"/>
            <a:ext cx="128016" cy="237744"/>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7" name="Rounded Rectangle 36"/>
          <p:cNvSpPr/>
          <p:nvPr/>
        </p:nvSpPr>
        <p:spPr>
          <a:xfrm>
            <a:off x="6812279" y="1508760"/>
            <a:ext cx="1828800" cy="22860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8" name="TextBox 37"/>
          <p:cNvSpPr txBox="1"/>
          <p:nvPr/>
        </p:nvSpPr>
        <p:spPr>
          <a:xfrm>
            <a:off x="6995159" y="1572768"/>
            <a:ext cx="548640" cy="548640"/>
          </a:xfrm>
          <a:prstGeom prst="rect">
            <a:avLst/>
          </a:prstGeom>
          <a:noFill/>
        </p:spPr>
        <p:txBody>
          <a:bodyPr wrap="square" lIns="0" tIns="0" rIns="0" bIns="0" anchor="t">
            <a:spAutoFit/>
          </a:bodyPr>
          <a:lstStyle/>
          <a:p>
            <a:pPr algn="l"/>
            <a:r>
              <a:rPr sz="3000" b="1" i="0">
                <a:solidFill>
                  <a:srgbClr val="A9740A"/>
                </a:solidFill>
                <a:latin typeface="Cambria"/>
              </a:rPr>
              <a:t>4</a:t>
            </a:r>
          </a:p>
        </p:txBody>
      </p:sp>
      <p:sp>
        <p:nvSpPr>
          <p:cNvPr id="39" name="Oval 38"/>
          <p:cNvSpPr/>
          <p:nvPr/>
        </p:nvSpPr>
        <p:spPr>
          <a:xfrm>
            <a:off x="8019288" y="1664208"/>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40" name="Picture 39" descr="prove_w.png"/>
          <p:cNvPicPr>
            <a:picLocks noChangeAspect="1"/>
          </p:cNvPicPr>
          <p:nvPr/>
        </p:nvPicPr>
        <p:blipFill>
          <a:blip r:embed="rId8"/>
          <a:stretch>
            <a:fillRect/>
          </a:stretch>
        </p:blipFill>
        <p:spPr>
          <a:xfrm>
            <a:off x="8133405" y="1778325"/>
            <a:ext cx="210677" cy="210677"/>
          </a:xfrm>
          <a:prstGeom prst="rect">
            <a:avLst/>
          </a:prstGeom>
        </p:spPr>
      </p:pic>
      <p:sp>
        <p:nvSpPr>
          <p:cNvPr id="41" name="TextBox 40"/>
          <p:cNvSpPr txBox="1"/>
          <p:nvPr/>
        </p:nvSpPr>
        <p:spPr>
          <a:xfrm>
            <a:off x="6995159" y="2212848"/>
            <a:ext cx="1463040" cy="457200"/>
          </a:xfrm>
          <a:prstGeom prst="rect">
            <a:avLst/>
          </a:prstGeom>
          <a:noFill/>
        </p:spPr>
        <p:txBody>
          <a:bodyPr wrap="square" lIns="0" tIns="0" rIns="0" bIns="0" anchor="t">
            <a:spAutoFit/>
          </a:bodyPr>
          <a:lstStyle/>
          <a:p>
            <a:pPr algn="l"/>
            <a:r>
              <a:rPr sz="1400" b="1" i="0">
                <a:solidFill>
                  <a:srgbClr val="1E4173"/>
                </a:solidFill>
                <a:latin typeface="Cambria"/>
              </a:rPr>
              <a:t>Prove it works</a:t>
            </a:r>
          </a:p>
        </p:txBody>
      </p:sp>
      <p:sp>
        <p:nvSpPr>
          <p:cNvPr id="42" name="TextBox 41"/>
          <p:cNvSpPr txBox="1"/>
          <p:nvPr/>
        </p:nvSpPr>
        <p:spPr>
          <a:xfrm>
            <a:off x="6995159" y="2697480"/>
            <a:ext cx="1463040" cy="731520"/>
          </a:xfrm>
          <a:prstGeom prst="rect">
            <a:avLst/>
          </a:prstGeom>
          <a:noFill/>
        </p:spPr>
        <p:txBody>
          <a:bodyPr wrap="square" lIns="0" tIns="0" rIns="0" bIns="0" anchor="t">
            <a:spAutoFit/>
          </a:bodyPr>
          <a:lstStyle/>
          <a:p>
            <a:pPr algn="l"/>
            <a:r>
              <a:rPr sz="1100" b="0" i="0">
                <a:solidFill>
                  <a:srgbClr val="3A4450"/>
                </a:solidFill>
                <a:latin typeface="Calibri"/>
              </a:rPr>
              <a:t>Test it, improve it, and defend it.</a:t>
            </a:r>
          </a:p>
        </p:txBody>
      </p:sp>
      <p:sp>
        <p:nvSpPr>
          <p:cNvPr id="43" name="TextBox 42"/>
          <p:cNvSpPr txBox="1"/>
          <p:nvPr/>
        </p:nvSpPr>
        <p:spPr>
          <a:xfrm>
            <a:off x="6995159" y="3474720"/>
            <a:ext cx="1463040" cy="182880"/>
          </a:xfrm>
          <a:prstGeom prst="rect">
            <a:avLst/>
          </a:prstGeom>
          <a:noFill/>
        </p:spPr>
        <p:txBody>
          <a:bodyPr wrap="square" lIns="0" tIns="0" rIns="0" bIns="0" anchor="t">
            <a:spAutoFit/>
          </a:bodyPr>
          <a:lstStyle/>
          <a:p>
            <a:pPr algn="l"/>
            <a:r>
              <a:rPr sz="850" b="1" i="0">
                <a:solidFill>
                  <a:srgbClr val="5A6472"/>
                </a:solidFill>
                <a:latin typeface="Calibri"/>
              </a:rPr>
              <a:t>SESSIONS 16–20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07</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The main checkpoints</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WIP means “work in progress.” Each WIP is a checkpoint, not a final-project rehearsal.</a:t>
            </a:r>
            <a:endParaRPr lang="en-US" sz="900" dirty="0"/>
          </a:p>
        </p:txBody>
      </p:sp>
      <p:sp>
        <p:nvSpPr>
          <p:cNvPr id="7" name="Rounded Rectangle 6"/>
          <p:cNvSpPr/>
          <p:nvPr/>
        </p:nvSpPr>
        <p:spPr>
          <a:xfrm>
            <a:off x="502920" y="1481328"/>
            <a:ext cx="4014216" cy="2487168"/>
          </a:xfrm>
          <a:prstGeom prst="roundRect">
            <a:avLst>
              <a:gd name="adj" fmla="val 3676"/>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8" name="Rounded Rectangle 7"/>
          <p:cNvSpPr/>
          <p:nvPr/>
        </p:nvSpPr>
        <p:spPr>
          <a:xfrm>
            <a:off x="4626864" y="1481328"/>
            <a:ext cx="4014216" cy="2487168"/>
          </a:xfrm>
          <a:prstGeom prst="roundRect">
            <a:avLst>
              <a:gd name="adj" fmla="val 3676"/>
            </a:avLst>
          </a:prstGeom>
          <a:solidFill>
            <a:srgbClr val="F8F0DF"/>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9" name="TextBox 8"/>
          <p:cNvSpPr txBox="1"/>
          <p:nvPr/>
        </p:nvSpPr>
        <p:spPr>
          <a:xfrm>
            <a:off x="640080" y="1554480"/>
            <a:ext cx="2743200" cy="182880"/>
          </a:xfrm>
          <a:prstGeom prst="rect">
            <a:avLst/>
          </a:prstGeom>
          <a:noFill/>
        </p:spPr>
        <p:txBody>
          <a:bodyPr wrap="square" lIns="0" tIns="0" rIns="0" bIns="0" anchor="t">
            <a:spAutoFit/>
          </a:bodyPr>
          <a:lstStyle/>
          <a:p>
            <a:pPr algn="l"/>
            <a:r>
              <a:rPr sz="850" b="1" i="0">
                <a:solidFill>
                  <a:srgbClr val="1E4173"/>
                </a:solidFill>
                <a:latin typeface="Calibri"/>
              </a:rPr>
              <a:t>THREE CHECKPOINTS</a:t>
            </a:r>
          </a:p>
        </p:txBody>
      </p:sp>
      <p:sp>
        <p:nvSpPr>
          <p:cNvPr id="10" name="TextBox 9"/>
          <p:cNvSpPr txBox="1"/>
          <p:nvPr/>
        </p:nvSpPr>
        <p:spPr>
          <a:xfrm>
            <a:off x="4754880" y="1554480"/>
            <a:ext cx="2743200" cy="182880"/>
          </a:xfrm>
          <a:prstGeom prst="rect">
            <a:avLst/>
          </a:prstGeom>
          <a:noFill/>
        </p:spPr>
        <p:txBody>
          <a:bodyPr wrap="square" lIns="0" tIns="0" rIns="0" bIns="0" anchor="t">
            <a:spAutoFit/>
          </a:bodyPr>
          <a:lstStyle/>
          <a:p>
            <a:pPr algn="l"/>
            <a:r>
              <a:rPr sz="850" b="1" i="0">
                <a:solidFill>
                  <a:srgbClr val="A9740A"/>
                </a:solidFill>
                <a:latin typeface="Calibri"/>
              </a:rPr>
              <a:t>THEN</a:t>
            </a:r>
          </a:p>
        </p:txBody>
      </p:sp>
      <p:cxnSp>
        <p:nvCxnSpPr>
          <p:cNvPr id="11" name="Connector 10"/>
          <p:cNvCxnSpPr/>
          <p:nvPr/>
        </p:nvCxnSpPr>
        <p:spPr>
          <a:xfrm>
            <a:off x="1181100" y="2103120"/>
            <a:ext cx="6781800" cy="0"/>
          </a:xfrm>
          <a:prstGeom prst="line">
            <a:avLst/>
          </a:prstGeom>
          <a:ln w="25400">
            <a:solidFill>
              <a:srgbClr val="D3DAE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61644" y="1883663"/>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i="0">
                <a:solidFill>
                  <a:srgbClr val="FFFFFF"/>
                </a:solidFill>
                <a:latin typeface="Cambria"/>
              </a:rPr>
              <a:t>1</a:t>
            </a:r>
          </a:p>
        </p:txBody>
      </p:sp>
      <p:sp>
        <p:nvSpPr>
          <p:cNvPr id="13" name="TextBox 12"/>
          <p:cNvSpPr txBox="1"/>
          <p:nvPr/>
        </p:nvSpPr>
        <p:spPr>
          <a:xfrm>
            <a:off x="594360" y="2377440"/>
            <a:ext cx="1173480" cy="475488"/>
          </a:xfrm>
          <a:prstGeom prst="rect">
            <a:avLst/>
          </a:prstGeom>
          <a:noFill/>
        </p:spPr>
        <p:txBody>
          <a:bodyPr wrap="square" lIns="0" tIns="0" rIns="0" bIns="0" anchor="t">
            <a:spAutoFit/>
          </a:bodyPr>
          <a:lstStyle/>
          <a:p>
            <a:pPr algn="l"/>
            <a:r>
              <a:rPr sz="900" b="1" i="0">
                <a:solidFill>
                  <a:srgbClr val="A9740A"/>
                </a:solidFill>
                <a:latin typeface="Calibri"/>
              </a:rPr>
              <a:t>WIP 1</a:t>
            </a:r>
          </a:p>
        </p:txBody>
      </p:sp>
      <p:sp>
        <p:nvSpPr>
          <p:cNvPr id="14" name="TextBox 13"/>
          <p:cNvSpPr txBox="1"/>
          <p:nvPr/>
        </p:nvSpPr>
        <p:spPr>
          <a:xfrm>
            <a:off x="594360" y="2542032"/>
            <a:ext cx="1173480" cy="502920"/>
          </a:xfrm>
          <a:prstGeom prst="rect">
            <a:avLst/>
          </a:prstGeom>
          <a:noFill/>
        </p:spPr>
        <p:txBody>
          <a:bodyPr wrap="square" lIns="0" tIns="0" rIns="0" bIns="0" anchor="t">
            <a:spAutoFit/>
          </a:bodyPr>
          <a:lstStyle/>
          <a:p>
            <a:pPr algn="l"/>
            <a:r>
              <a:rPr sz="1050" b="1" i="0">
                <a:solidFill>
                  <a:srgbClr val="1E4173"/>
                </a:solidFill>
                <a:latin typeface="Calibri"/>
              </a:rPr>
              <a:t>Problem Discovery</a:t>
            </a:r>
          </a:p>
        </p:txBody>
      </p:sp>
      <p:sp>
        <p:nvSpPr>
          <p:cNvPr id="15" name="TextBox 14"/>
          <p:cNvSpPr txBox="1"/>
          <p:nvPr/>
        </p:nvSpPr>
        <p:spPr>
          <a:xfrm>
            <a:off x="594360" y="3072384"/>
            <a:ext cx="1173480" cy="822960"/>
          </a:xfrm>
          <a:prstGeom prst="rect">
            <a:avLst/>
          </a:prstGeom>
          <a:noFill/>
        </p:spPr>
        <p:txBody>
          <a:bodyPr wrap="square" lIns="0" tIns="0" rIns="0" bIns="0" anchor="t">
            <a:spAutoFit/>
          </a:bodyPr>
          <a:lstStyle/>
          <a:p>
            <a:pPr algn="l"/>
            <a:r>
              <a:rPr sz="1000" b="0" i="0">
                <a:solidFill>
                  <a:srgbClr val="3A4450"/>
                </a:solidFill>
                <a:latin typeface="Calibri"/>
              </a:rPr>
              <a:t>Is this a real, specific work problem?</a:t>
            </a:r>
          </a:p>
        </p:txBody>
      </p:sp>
      <p:sp>
        <p:nvSpPr>
          <p:cNvPr id="16" name="TextBox 15"/>
          <p:cNvSpPr txBox="1"/>
          <p:nvPr/>
        </p:nvSpPr>
        <p:spPr>
          <a:xfrm>
            <a:off x="594360" y="3767328"/>
            <a:ext cx="1173480" cy="182880"/>
          </a:xfrm>
          <a:prstGeom prst="rect">
            <a:avLst/>
          </a:prstGeom>
          <a:noFill/>
        </p:spPr>
        <p:txBody>
          <a:bodyPr wrap="square" lIns="0" tIns="0" rIns="0" bIns="0" anchor="t">
            <a:spAutoFit/>
          </a:bodyPr>
          <a:lstStyle/>
          <a:p>
            <a:pPr algn="l"/>
            <a:r>
              <a:rPr sz="800" b="1" i="0">
                <a:solidFill>
                  <a:srgbClr val="5A6472"/>
                </a:solidFill>
                <a:latin typeface="Calibri"/>
              </a:rPr>
              <a:t>SESSION 5</a:t>
            </a:r>
          </a:p>
        </p:txBody>
      </p:sp>
      <p:sp>
        <p:nvSpPr>
          <p:cNvPr id="17" name="Oval 16"/>
          <p:cNvSpPr/>
          <p:nvPr/>
        </p:nvSpPr>
        <p:spPr>
          <a:xfrm>
            <a:off x="2318004" y="1883663"/>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i="0">
                <a:solidFill>
                  <a:srgbClr val="FFFFFF"/>
                </a:solidFill>
                <a:latin typeface="Cambria"/>
              </a:rPr>
              <a:t>2</a:t>
            </a:r>
          </a:p>
        </p:txBody>
      </p:sp>
      <p:sp>
        <p:nvSpPr>
          <p:cNvPr id="18" name="TextBox 17"/>
          <p:cNvSpPr txBox="1"/>
          <p:nvPr/>
        </p:nvSpPr>
        <p:spPr>
          <a:xfrm>
            <a:off x="1950720" y="2377440"/>
            <a:ext cx="1173480" cy="475488"/>
          </a:xfrm>
          <a:prstGeom prst="rect">
            <a:avLst/>
          </a:prstGeom>
          <a:noFill/>
        </p:spPr>
        <p:txBody>
          <a:bodyPr wrap="square" lIns="0" tIns="0" rIns="0" bIns="0" anchor="t">
            <a:spAutoFit/>
          </a:bodyPr>
          <a:lstStyle/>
          <a:p>
            <a:pPr algn="l"/>
            <a:r>
              <a:rPr sz="900" b="1" i="0">
                <a:solidFill>
                  <a:srgbClr val="A9740A"/>
                </a:solidFill>
                <a:latin typeface="Calibri"/>
              </a:rPr>
              <a:t>WIP 2</a:t>
            </a:r>
          </a:p>
        </p:txBody>
      </p:sp>
      <p:sp>
        <p:nvSpPr>
          <p:cNvPr id="19" name="TextBox 18"/>
          <p:cNvSpPr txBox="1"/>
          <p:nvPr/>
        </p:nvSpPr>
        <p:spPr>
          <a:xfrm>
            <a:off x="1950720" y="2542032"/>
            <a:ext cx="1173480" cy="502920"/>
          </a:xfrm>
          <a:prstGeom prst="rect">
            <a:avLst/>
          </a:prstGeom>
          <a:noFill/>
        </p:spPr>
        <p:txBody>
          <a:bodyPr wrap="square" lIns="0" tIns="0" rIns="0" bIns="0" anchor="t">
            <a:spAutoFit/>
          </a:bodyPr>
          <a:lstStyle/>
          <a:p>
            <a:pPr algn="l"/>
            <a:r>
              <a:rPr sz="1050" b="1" i="0">
                <a:solidFill>
                  <a:srgbClr val="1E4173"/>
                </a:solidFill>
                <a:latin typeface="Calibri"/>
              </a:rPr>
              <a:t>Business Problem &amp; Evidence</a:t>
            </a:r>
          </a:p>
        </p:txBody>
      </p:sp>
      <p:sp>
        <p:nvSpPr>
          <p:cNvPr id="20" name="TextBox 19"/>
          <p:cNvSpPr txBox="1"/>
          <p:nvPr/>
        </p:nvSpPr>
        <p:spPr>
          <a:xfrm>
            <a:off x="1950720" y="3072384"/>
            <a:ext cx="1173480" cy="822960"/>
          </a:xfrm>
          <a:prstGeom prst="rect">
            <a:avLst/>
          </a:prstGeom>
          <a:noFill/>
        </p:spPr>
        <p:txBody>
          <a:bodyPr wrap="square" lIns="0" tIns="0" rIns="0" bIns="0" anchor="t">
            <a:spAutoFit/>
          </a:bodyPr>
          <a:lstStyle/>
          <a:p>
            <a:pPr algn="l"/>
            <a:r>
              <a:rPr sz="1000" b="0" i="0">
                <a:solidFill>
                  <a:srgbClr val="3A4450"/>
                </a:solidFill>
                <a:latin typeface="Calibri"/>
              </a:rPr>
              <a:t>Do you understand how the work happens today?</a:t>
            </a:r>
          </a:p>
        </p:txBody>
      </p:sp>
      <p:sp>
        <p:nvSpPr>
          <p:cNvPr id="21" name="TextBox 20"/>
          <p:cNvSpPr txBox="1"/>
          <p:nvPr/>
        </p:nvSpPr>
        <p:spPr>
          <a:xfrm>
            <a:off x="1950720" y="3767328"/>
            <a:ext cx="1173480" cy="182880"/>
          </a:xfrm>
          <a:prstGeom prst="rect">
            <a:avLst/>
          </a:prstGeom>
          <a:noFill/>
        </p:spPr>
        <p:txBody>
          <a:bodyPr wrap="square" lIns="0" tIns="0" rIns="0" bIns="0" anchor="t">
            <a:spAutoFit/>
          </a:bodyPr>
          <a:lstStyle/>
          <a:p>
            <a:pPr algn="l"/>
            <a:r>
              <a:rPr sz="800" b="1" i="0">
                <a:solidFill>
                  <a:srgbClr val="5A6472"/>
                </a:solidFill>
                <a:latin typeface="Calibri"/>
              </a:rPr>
              <a:t>SESSION 10</a:t>
            </a:r>
          </a:p>
        </p:txBody>
      </p:sp>
      <p:sp>
        <p:nvSpPr>
          <p:cNvPr id="22" name="Oval 21"/>
          <p:cNvSpPr/>
          <p:nvPr/>
        </p:nvSpPr>
        <p:spPr>
          <a:xfrm>
            <a:off x="3674364" y="1883663"/>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i="0">
                <a:solidFill>
                  <a:srgbClr val="FFFFFF"/>
                </a:solidFill>
                <a:latin typeface="Cambria"/>
              </a:rPr>
              <a:t>3</a:t>
            </a:r>
          </a:p>
        </p:txBody>
      </p:sp>
      <p:sp>
        <p:nvSpPr>
          <p:cNvPr id="23" name="TextBox 22"/>
          <p:cNvSpPr txBox="1"/>
          <p:nvPr/>
        </p:nvSpPr>
        <p:spPr>
          <a:xfrm>
            <a:off x="3307080" y="2377440"/>
            <a:ext cx="1173480" cy="475488"/>
          </a:xfrm>
          <a:prstGeom prst="rect">
            <a:avLst/>
          </a:prstGeom>
          <a:noFill/>
        </p:spPr>
        <p:txBody>
          <a:bodyPr wrap="square" lIns="0" tIns="0" rIns="0" bIns="0" anchor="t">
            <a:spAutoFit/>
          </a:bodyPr>
          <a:lstStyle/>
          <a:p>
            <a:pPr algn="l"/>
            <a:r>
              <a:rPr sz="900" b="1" i="0">
                <a:solidFill>
                  <a:srgbClr val="A9740A"/>
                </a:solidFill>
                <a:latin typeface="Calibri"/>
              </a:rPr>
              <a:t>WIP 3</a:t>
            </a:r>
          </a:p>
        </p:txBody>
      </p:sp>
      <p:sp>
        <p:nvSpPr>
          <p:cNvPr id="24" name="TextBox 23"/>
          <p:cNvSpPr txBox="1"/>
          <p:nvPr/>
        </p:nvSpPr>
        <p:spPr>
          <a:xfrm>
            <a:off x="3307080" y="2542032"/>
            <a:ext cx="1173480" cy="502920"/>
          </a:xfrm>
          <a:prstGeom prst="rect">
            <a:avLst/>
          </a:prstGeom>
          <a:noFill/>
        </p:spPr>
        <p:txBody>
          <a:bodyPr wrap="square" lIns="0" tIns="0" rIns="0" bIns="0" anchor="t">
            <a:spAutoFit/>
          </a:bodyPr>
          <a:lstStyle/>
          <a:p>
            <a:pPr algn="l"/>
            <a:r>
              <a:rPr sz="1050" b="1" i="0">
                <a:solidFill>
                  <a:srgbClr val="1E4173"/>
                </a:solidFill>
                <a:latin typeface="Calibri"/>
              </a:rPr>
              <a:t>Future Workflow, Methodology &amp; Prototype</a:t>
            </a:r>
          </a:p>
        </p:txBody>
      </p:sp>
      <p:sp>
        <p:nvSpPr>
          <p:cNvPr id="25" name="TextBox 24"/>
          <p:cNvSpPr txBox="1"/>
          <p:nvPr/>
        </p:nvSpPr>
        <p:spPr>
          <a:xfrm>
            <a:off x="3307080" y="3072384"/>
            <a:ext cx="1173480" cy="822960"/>
          </a:xfrm>
          <a:prstGeom prst="rect">
            <a:avLst/>
          </a:prstGeom>
          <a:noFill/>
        </p:spPr>
        <p:txBody>
          <a:bodyPr wrap="square" lIns="0" tIns="0" rIns="0" bIns="0" anchor="t">
            <a:spAutoFit/>
          </a:bodyPr>
          <a:lstStyle/>
          <a:p>
            <a:pPr algn="l"/>
            <a:r>
              <a:rPr sz="1000" b="0" i="0">
                <a:solidFill>
                  <a:srgbClr val="3A4450"/>
                </a:solidFill>
                <a:latin typeface="Calibri"/>
              </a:rPr>
              <a:t>Does your proposed new way of working make sense, and does an early version work?</a:t>
            </a:r>
          </a:p>
        </p:txBody>
      </p:sp>
      <p:sp>
        <p:nvSpPr>
          <p:cNvPr id="26" name="TextBox 25"/>
          <p:cNvSpPr txBox="1"/>
          <p:nvPr/>
        </p:nvSpPr>
        <p:spPr>
          <a:xfrm>
            <a:off x="3307080" y="3767328"/>
            <a:ext cx="1173480" cy="182880"/>
          </a:xfrm>
          <a:prstGeom prst="rect">
            <a:avLst/>
          </a:prstGeom>
          <a:noFill/>
        </p:spPr>
        <p:txBody>
          <a:bodyPr wrap="square" lIns="0" tIns="0" rIns="0" bIns="0" anchor="t">
            <a:spAutoFit/>
          </a:bodyPr>
          <a:lstStyle/>
          <a:p>
            <a:pPr algn="l"/>
            <a:r>
              <a:rPr sz="800" b="1" i="0">
                <a:solidFill>
                  <a:srgbClr val="5A6472"/>
                </a:solidFill>
                <a:latin typeface="Calibri"/>
              </a:rPr>
              <a:t>SESSION 15</a:t>
            </a:r>
          </a:p>
        </p:txBody>
      </p:sp>
      <p:sp>
        <p:nvSpPr>
          <p:cNvPr id="27" name="Oval 26"/>
          <p:cNvSpPr/>
          <p:nvPr/>
        </p:nvSpPr>
        <p:spPr>
          <a:xfrm>
            <a:off x="5122164" y="1975103"/>
            <a:ext cx="256032" cy="256032"/>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8" name="TextBox 27"/>
          <p:cNvSpPr txBox="1"/>
          <p:nvPr/>
        </p:nvSpPr>
        <p:spPr>
          <a:xfrm>
            <a:off x="4663440" y="2377440"/>
            <a:ext cx="1173480" cy="475488"/>
          </a:xfrm>
          <a:prstGeom prst="rect">
            <a:avLst/>
          </a:prstGeom>
          <a:noFill/>
        </p:spPr>
        <p:txBody>
          <a:bodyPr wrap="square" lIns="0" tIns="0" rIns="0" bIns="0" anchor="t">
            <a:spAutoFit/>
          </a:bodyPr>
          <a:lstStyle/>
          <a:p>
            <a:pPr algn="l"/>
            <a:r>
              <a:rPr sz="1050" b="1" i="0">
                <a:solidFill>
                  <a:srgbClr val="1E4173"/>
                </a:solidFill>
                <a:latin typeface="Calibri"/>
              </a:rPr>
              <a:t>Test and improve</a:t>
            </a:r>
          </a:p>
        </p:txBody>
      </p:sp>
      <p:sp>
        <p:nvSpPr>
          <p:cNvPr id="29" name="TextBox 28"/>
          <p:cNvSpPr txBox="1"/>
          <p:nvPr/>
        </p:nvSpPr>
        <p:spPr>
          <a:xfrm>
            <a:off x="4663440" y="3072384"/>
            <a:ext cx="1173480" cy="822960"/>
          </a:xfrm>
          <a:prstGeom prst="rect">
            <a:avLst/>
          </a:prstGeom>
          <a:noFill/>
        </p:spPr>
        <p:txBody>
          <a:bodyPr wrap="square" lIns="0" tIns="0" rIns="0" bIns="0" anchor="t">
            <a:spAutoFit/>
          </a:bodyPr>
          <a:lstStyle/>
          <a:p>
            <a:pPr algn="l"/>
            <a:r>
              <a:rPr sz="1000" b="0" i="0">
                <a:solidFill>
                  <a:srgbClr val="3A4450"/>
                </a:solidFill>
                <a:latin typeface="Calibri"/>
              </a:rPr>
              <a:t>Test on realistic cases, find failures, fix them.</a:t>
            </a:r>
          </a:p>
        </p:txBody>
      </p:sp>
      <p:sp>
        <p:nvSpPr>
          <p:cNvPr id="30" name="TextBox 29"/>
          <p:cNvSpPr txBox="1"/>
          <p:nvPr/>
        </p:nvSpPr>
        <p:spPr>
          <a:xfrm>
            <a:off x="4663440" y="3767328"/>
            <a:ext cx="1173480" cy="182880"/>
          </a:xfrm>
          <a:prstGeom prst="rect">
            <a:avLst/>
          </a:prstGeom>
          <a:noFill/>
        </p:spPr>
        <p:txBody>
          <a:bodyPr wrap="square" lIns="0" tIns="0" rIns="0" bIns="0" anchor="t">
            <a:spAutoFit/>
          </a:bodyPr>
          <a:lstStyle/>
          <a:p>
            <a:pPr algn="l"/>
            <a:r>
              <a:rPr sz="800" b="1" i="0">
                <a:solidFill>
                  <a:srgbClr val="5A6472"/>
                </a:solidFill>
                <a:latin typeface="Calibri"/>
              </a:rPr>
              <a:t>SESSIONS 16–17</a:t>
            </a:r>
          </a:p>
        </p:txBody>
      </p:sp>
      <p:sp>
        <p:nvSpPr>
          <p:cNvPr id="31" name="Oval 30"/>
          <p:cNvSpPr/>
          <p:nvPr/>
        </p:nvSpPr>
        <p:spPr>
          <a:xfrm>
            <a:off x="6478524" y="1975103"/>
            <a:ext cx="256032" cy="256032"/>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2" name="TextBox 31"/>
          <p:cNvSpPr txBox="1"/>
          <p:nvPr/>
        </p:nvSpPr>
        <p:spPr>
          <a:xfrm>
            <a:off x="6019800" y="2377440"/>
            <a:ext cx="1173480" cy="475488"/>
          </a:xfrm>
          <a:prstGeom prst="rect">
            <a:avLst/>
          </a:prstGeom>
          <a:noFill/>
        </p:spPr>
        <p:txBody>
          <a:bodyPr wrap="square" lIns="0" tIns="0" rIns="0" bIns="0" anchor="t">
            <a:spAutoFit/>
          </a:bodyPr>
          <a:lstStyle/>
          <a:p>
            <a:pPr algn="l"/>
            <a:r>
              <a:rPr sz="1050" b="1" i="0">
                <a:solidFill>
                  <a:srgbClr val="1E4173"/>
                </a:solidFill>
                <a:latin typeface="Calibri"/>
              </a:rPr>
              <a:t>Individual Live E‑Portfolio</a:t>
            </a:r>
          </a:p>
        </p:txBody>
      </p:sp>
      <p:sp>
        <p:nvSpPr>
          <p:cNvPr id="33" name="TextBox 32"/>
          <p:cNvSpPr txBox="1"/>
          <p:nvPr/>
        </p:nvSpPr>
        <p:spPr>
          <a:xfrm>
            <a:off x="6019800" y="3072384"/>
            <a:ext cx="1173480" cy="822960"/>
          </a:xfrm>
          <a:prstGeom prst="rect">
            <a:avLst/>
          </a:prstGeom>
          <a:noFill/>
        </p:spPr>
        <p:txBody>
          <a:bodyPr wrap="square" lIns="0" tIns="0" rIns="0" bIns="0" anchor="t">
            <a:spAutoFit/>
          </a:bodyPr>
          <a:lstStyle/>
          <a:p>
            <a:pPr algn="l"/>
            <a:r>
              <a:rPr sz="1000" b="0" i="0">
                <a:solidFill>
                  <a:srgbClr val="3A4450"/>
                </a:solidFill>
                <a:latin typeface="Calibri"/>
              </a:rPr>
              <a:t>Your live e-portfolio is assessed.</a:t>
            </a:r>
          </a:p>
        </p:txBody>
      </p:sp>
      <p:sp>
        <p:nvSpPr>
          <p:cNvPr id="34" name="TextBox 33"/>
          <p:cNvSpPr txBox="1"/>
          <p:nvPr/>
        </p:nvSpPr>
        <p:spPr>
          <a:xfrm>
            <a:off x="6019800" y="3767328"/>
            <a:ext cx="1173480" cy="182880"/>
          </a:xfrm>
          <a:prstGeom prst="rect">
            <a:avLst/>
          </a:prstGeom>
          <a:noFill/>
        </p:spPr>
        <p:txBody>
          <a:bodyPr wrap="square" lIns="0" tIns="0" rIns="0" bIns="0" anchor="t">
            <a:spAutoFit/>
          </a:bodyPr>
          <a:lstStyle/>
          <a:p>
            <a:pPr algn="l"/>
            <a:r>
              <a:rPr sz="800" b="1" i="0">
                <a:solidFill>
                  <a:srgbClr val="5A6472"/>
                </a:solidFill>
                <a:latin typeface="Calibri"/>
              </a:rPr>
              <a:t>SESSION 18</a:t>
            </a:r>
          </a:p>
        </p:txBody>
      </p:sp>
      <p:sp>
        <p:nvSpPr>
          <p:cNvPr id="35" name="Oval 34"/>
          <p:cNvSpPr/>
          <p:nvPr/>
        </p:nvSpPr>
        <p:spPr>
          <a:xfrm>
            <a:off x="7834884" y="1975103"/>
            <a:ext cx="256032" cy="256032"/>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36" name="TextBox 35"/>
          <p:cNvSpPr txBox="1"/>
          <p:nvPr/>
        </p:nvSpPr>
        <p:spPr>
          <a:xfrm>
            <a:off x="7376160" y="2377440"/>
            <a:ext cx="1173480" cy="475488"/>
          </a:xfrm>
          <a:prstGeom prst="rect">
            <a:avLst/>
          </a:prstGeom>
          <a:noFill/>
        </p:spPr>
        <p:txBody>
          <a:bodyPr wrap="square" lIns="0" tIns="0" rIns="0" bIns="0" anchor="t">
            <a:spAutoFit/>
          </a:bodyPr>
          <a:lstStyle/>
          <a:p>
            <a:pPr algn="l"/>
            <a:r>
              <a:rPr sz="1050" b="1" i="0">
                <a:solidFill>
                  <a:srgbClr val="1E4173"/>
                </a:solidFill>
                <a:latin typeface="Calibri"/>
              </a:rPr>
              <a:t>Final Business Solution &amp; Defence</a:t>
            </a:r>
          </a:p>
        </p:txBody>
      </p:sp>
      <p:sp>
        <p:nvSpPr>
          <p:cNvPr id="37" name="TextBox 36"/>
          <p:cNvSpPr txBox="1"/>
          <p:nvPr/>
        </p:nvSpPr>
        <p:spPr>
          <a:xfrm>
            <a:off x="7376160" y="3072384"/>
            <a:ext cx="1173480" cy="822960"/>
          </a:xfrm>
          <a:prstGeom prst="rect">
            <a:avLst/>
          </a:prstGeom>
          <a:noFill/>
        </p:spPr>
        <p:txBody>
          <a:bodyPr wrap="square" lIns="0" tIns="0" rIns="0" bIns="0" anchor="t">
            <a:spAutoFit/>
          </a:bodyPr>
          <a:lstStyle/>
          <a:p>
            <a:pPr algn="l"/>
            <a:r>
              <a:rPr sz="1000" b="0" i="0">
                <a:solidFill>
                  <a:srgbClr val="3A4450"/>
                </a:solidFill>
                <a:latin typeface="Calibri"/>
              </a:rPr>
              <a:t>Live demo, panel questions, individual viva.</a:t>
            </a:r>
          </a:p>
        </p:txBody>
      </p:sp>
      <p:sp>
        <p:nvSpPr>
          <p:cNvPr id="38" name="TextBox 37"/>
          <p:cNvSpPr txBox="1"/>
          <p:nvPr/>
        </p:nvSpPr>
        <p:spPr>
          <a:xfrm>
            <a:off x="7376160" y="3767328"/>
            <a:ext cx="1173480" cy="182880"/>
          </a:xfrm>
          <a:prstGeom prst="rect">
            <a:avLst/>
          </a:prstGeom>
          <a:noFill/>
        </p:spPr>
        <p:txBody>
          <a:bodyPr wrap="square" lIns="0" tIns="0" rIns="0" bIns="0" anchor="t">
            <a:spAutoFit/>
          </a:bodyPr>
          <a:lstStyle/>
          <a:p>
            <a:pPr algn="l"/>
            <a:r>
              <a:rPr sz="800" b="1" i="0">
                <a:solidFill>
                  <a:srgbClr val="5A6472"/>
                </a:solidFill>
                <a:latin typeface="Calibri"/>
              </a:rPr>
              <a:t>SESSIONS 19–20</a:t>
            </a:r>
          </a:p>
        </p:txBody>
      </p:sp>
      <p:sp>
        <p:nvSpPr>
          <p:cNvPr id="39" name="TextBox 38"/>
          <p:cNvSpPr txBox="1"/>
          <p:nvPr/>
        </p:nvSpPr>
        <p:spPr>
          <a:xfrm>
            <a:off x="502920" y="4069080"/>
            <a:ext cx="8138160" cy="201168"/>
          </a:xfrm>
          <a:prstGeom prst="rect">
            <a:avLst/>
          </a:prstGeom>
          <a:noFill/>
        </p:spPr>
        <p:txBody>
          <a:bodyPr wrap="square" lIns="0" tIns="0" rIns="0" bIns="0" anchor="t">
            <a:spAutoFit/>
          </a:bodyPr>
          <a:lstStyle/>
          <a:p>
            <a:pPr algn="l"/>
            <a:r>
              <a:rPr sz="950" b="0" i="1">
                <a:solidFill>
                  <a:srgbClr val="5A6472"/>
                </a:solidFill>
                <a:latin typeface="Calibri"/>
              </a:rPr>
              <a:t>Calendar dates and submission windows will be communicated through FIIB Hub.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08</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How we’ll learn</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Five ActionWorks movements, applied to one real problem.</a:t>
            </a:r>
            <a:endParaRPr lang="en-US" sz="900" dirty="0"/>
          </a:p>
        </p:txBody>
      </p:sp>
      <p:sp>
        <p:nvSpPr>
          <p:cNvPr id="7" name="Rounded Rectangle 6"/>
          <p:cNvSpPr/>
          <p:nvPr/>
        </p:nvSpPr>
        <p:spPr>
          <a:xfrm>
            <a:off x="502920" y="1481328"/>
            <a:ext cx="1481328" cy="1225296"/>
          </a:xfrm>
          <a:prstGeom prst="roundRect">
            <a:avLst>
              <a:gd name="adj" fmla="val 746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8" name="TextBox 7"/>
          <p:cNvSpPr txBox="1"/>
          <p:nvPr/>
        </p:nvSpPr>
        <p:spPr>
          <a:xfrm>
            <a:off x="630936" y="1554480"/>
            <a:ext cx="1225296" cy="274320"/>
          </a:xfrm>
          <a:prstGeom prst="rect">
            <a:avLst/>
          </a:prstGeom>
          <a:noFill/>
        </p:spPr>
        <p:txBody>
          <a:bodyPr wrap="square" lIns="0" rIns="0" tIns="0" bIns="0" anchor="t">
            <a:spAutoFit/>
          </a:bodyPr>
          <a:lstStyle/>
          <a:p>
            <a:pPr algn="l"/>
            <a:r>
              <a:rPr sz="900" b="1" i="0">
                <a:solidFill>
                  <a:srgbClr val="A9740A"/>
                </a:solidFill>
                <a:latin typeface="Calibri"/>
              </a:rPr>
              <a:t>1</a:t>
            </a:r>
          </a:p>
        </p:txBody>
      </p:sp>
      <p:sp>
        <p:nvSpPr>
          <p:cNvPr id="9" name="TextBox 8"/>
          <p:cNvSpPr txBox="1"/>
          <p:nvPr/>
        </p:nvSpPr>
        <p:spPr>
          <a:xfrm>
            <a:off x="630936" y="1719072"/>
            <a:ext cx="1225296" cy="292608"/>
          </a:xfrm>
          <a:prstGeom prst="rect">
            <a:avLst/>
          </a:prstGeom>
          <a:noFill/>
        </p:spPr>
        <p:txBody>
          <a:bodyPr wrap="square" lIns="0" rIns="0" tIns="0" bIns="0" anchor="t">
            <a:spAutoFit/>
          </a:bodyPr>
          <a:lstStyle/>
          <a:p>
            <a:pPr algn="l"/>
            <a:r>
              <a:rPr sz="1300" b="1" i="0">
                <a:solidFill>
                  <a:srgbClr val="1E4173"/>
                </a:solidFill>
                <a:latin typeface="Cambria"/>
              </a:rPr>
              <a:t>Experience</a:t>
            </a:r>
          </a:p>
        </p:txBody>
      </p:sp>
      <p:sp>
        <p:nvSpPr>
          <p:cNvPr id="10" name="TextBox 9"/>
          <p:cNvSpPr txBox="1"/>
          <p:nvPr/>
        </p:nvSpPr>
        <p:spPr>
          <a:xfrm>
            <a:off x="630936" y="2029968"/>
            <a:ext cx="1225296" cy="640080"/>
          </a:xfrm>
          <a:prstGeom prst="rect">
            <a:avLst/>
          </a:prstGeom>
          <a:noFill/>
        </p:spPr>
        <p:txBody>
          <a:bodyPr wrap="square" lIns="0" rIns="0" tIns="0" bIns="0" anchor="t">
            <a:spAutoFit/>
          </a:bodyPr>
          <a:lstStyle/>
          <a:p>
            <a:pPr algn="l"/>
            <a:r>
              <a:rPr sz="1000" b="0" i="0">
                <a:solidFill>
                  <a:srgbClr val="3A4450"/>
                </a:solidFill>
                <a:latin typeface="Calibri"/>
              </a:rPr>
              <a:t>Meet a real work problem through practitioners and live cases.</a:t>
            </a:r>
          </a:p>
        </p:txBody>
      </p:sp>
      <p:sp>
        <p:nvSpPr>
          <p:cNvPr id="11" name="Chevron 10"/>
          <p:cNvSpPr/>
          <p:nvPr/>
        </p:nvSpPr>
        <p:spPr>
          <a:xfrm>
            <a:off x="2025395" y="1975104"/>
            <a:ext cx="100584" cy="219456"/>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2" name="Rounded Rectangle 11"/>
          <p:cNvSpPr/>
          <p:nvPr/>
        </p:nvSpPr>
        <p:spPr>
          <a:xfrm>
            <a:off x="2167128" y="1481328"/>
            <a:ext cx="1481328" cy="1225296"/>
          </a:xfrm>
          <a:prstGeom prst="roundRect">
            <a:avLst>
              <a:gd name="adj" fmla="val 746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3" name="TextBox 12"/>
          <p:cNvSpPr txBox="1"/>
          <p:nvPr/>
        </p:nvSpPr>
        <p:spPr>
          <a:xfrm>
            <a:off x="2295144" y="1554480"/>
            <a:ext cx="1225296" cy="274320"/>
          </a:xfrm>
          <a:prstGeom prst="rect">
            <a:avLst/>
          </a:prstGeom>
          <a:noFill/>
        </p:spPr>
        <p:txBody>
          <a:bodyPr wrap="square" lIns="0" rIns="0" tIns="0" bIns="0" anchor="t">
            <a:spAutoFit/>
          </a:bodyPr>
          <a:lstStyle/>
          <a:p>
            <a:pPr algn="l"/>
            <a:r>
              <a:rPr sz="900" b="1" i="0">
                <a:solidFill>
                  <a:srgbClr val="A9740A"/>
                </a:solidFill>
                <a:latin typeface="Calibri"/>
              </a:rPr>
              <a:t>2</a:t>
            </a:r>
          </a:p>
        </p:txBody>
      </p:sp>
      <p:sp>
        <p:nvSpPr>
          <p:cNvPr id="14" name="TextBox 13"/>
          <p:cNvSpPr txBox="1"/>
          <p:nvPr/>
        </p:nvSpPr>
        <p:spPr>
          <a:xfrm>
            <a:off x="2295144" y="1719072"/>
            <a:ext cx="1225296" cy="292608"/>
          </a:xfrm>
          <a:prstGeom prst="rect">
            <a:avLst/>
          </a:prstGeom>
          <a:noFill/>
        </p:spPr>
        <p:txBody>
          <a:bodyPr wrap="square" lIns="0" rIns="0" tIns="0" bIns="0" anchor="t">
            <a:spAutoFit/>
          </a:bodyPr>
          <a:lstStyle/>
          <a:p>
            <a:pPr algn="l"/>
            <a:r>
              <a:rPr sz="1300" b="1" i="0">
                <a:solidFill>
                  <a:srgbClr val="1E4173"/>
                </a:solidFill>
                <a:latin typeface="Cambria"/>
              </a:rPr>
              <a:t>Explore</a:t>
            </a:r>
          </a:p>
        </p:txBody>
      </p:sp>
      <p:sp>
        <p:nvSpPr>
          <p:cNvPr id="15" name="TextBox 14"/>
          <p:cNvSpPr txBox="1"/>
          <p:nvPr/>
        </p:nvSpPr>
        <p:spPr>
          <a:xfrm>
            <a:off x="2295144" y="2029968"/>
            <a:ext cx="1225296" cy="640080"/>
          </a:xfrm>
          <a:prstGeom prst="rect">
            <a:avLst/>
          </a:prstGeom>
          <a:noFill/>
        </p:spPr>
        <p:txBody>
          <a:bodyPr wrap="square" lIns="0" rIns="0" tIns="0" bIns="0" anchor="t">
            <a:spAutoFit/>
          </a:bodyPr>
          <a:lstStyle/>
          <a:p>
            <a:pPr algn="l"/>
            <a:r>
              <a:rPr sz="1000" b="0" i="0">
                <a:solidFill>
                  <a:srgbClr val="3A4450"/>
                </a:solidFill>
                <a:latin typeface="Calibri"/>
              </a:rPr>
              <a:t>Map how the work happens today and gather evidence.</a:t>
            </a:r>
          </a:p>
        </p:txBody>
      </p:sp>
      <p:sp>
        <p:nvSpPr>
          <p:cNvPr id="16" name="Chevron 15"/>
          <p:cNvSpPr/>
          <p:nvPr/>
        </p:nvSpPr>
        <p:spPr>
          <a:xfrm>
            <a:off x="3689604" y="1975104"/>
            <a:ext cx="100584" cy="219456"/>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7" name="Rounded Rectangle 16"/>
          <p:cNvSpPr/>
          <p:nvPr/>
        </p:nvSpPr>
        <p:spPr>
          <a:xfrm>
            <a:off x="3831336" y="1481328"/>
            <a:ext cx="1481328" cy="1225296"/>
          </a:xfrm>
          <a:prstGeom prst="roundRect">
            <a:avLst>
              <a:gd name="adj" fmla="val 746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8" name="TextBox 17"/>
          <p:cNvSpPr txBox="1"/>
          <p:nvPr/>
        </p:nvSpPr>
        <p:spPr>
          <a:xfrm>
            <a:off x="3959352" y="1554480"/>
            <a:ext cx="1225296" cy="274320"/>
          </a:xfrm>
          <a:prstGeom prst="rect">
            <a:avLst/>
          </a:prstGeom>
          <a:noFill/>
        </p:spPr>
        <p:txBody>
          <a:bodyPr wrap="square" lIns="0" rIns="0" tIns="0" bIns="0" anchor="t">
            <a:spAutoFit/>
          </a:bodyPr>
          <a:lstStyle/>
          <a:p>
            <a:pPr algn="l"/>
            <a:r>
              <a:rPr sz="900" b="1" i="0">
                <a:solidFill>
                  <a:srgbClr val="A9740A"/>
                </a:solidFill>
                <a:latin typeface="Calibri"/>
              </a:rPr>
              <a:t>3</a:t>
            </a:r>
          </a:p>
        </p:txBody>
      </p:sp>
      <p:sp>
        <p:nvSpPr>
          <p:cNvPr id="19" name="TextBox 18"/>
          <p:cNvSpPr txBox="1"/>
          <p:nvPr/>
        </p:nvSpPr>
        <p:spPr>
          <a:xfrm>
            <a:off x="3959352" y="1719072"/>
            <a:ext cx="1225296" cy="292608"/>
          </a:xfrm>
          <a:prstGeom prst="rect">
            <a:avLst/>
          </a:prstGeom>
          <a:noFill/>
        </p:spPr>
        <p:txBody>
          <a:bodyPr wrap="square" lIns="0" rIns="0" tIns="0" bIns="0" anchor="t">
            <a:spAutoFit/>
          </a:bodyPr>
          <a:lstStyle/>
          <a:p>
            <a:pPr algn="l"/>
            <a:r>
              <a:rPr sz="1300" b="1" i="0">
                <a:solidFill>
                  <a:srgbClr val="1E4173"/>
                </a:solidFill>
                <a:latin typeface="Cambria"/>
              </a:rPr>
              <a:t>Execute</a:t>
            </a:r>
          </a:p>
        </p:txBody>
      </p:sp>
      <p:sp>
        <p:nvSpPr>
          <p:cNvPr id="20" name="TextBox 19"/>
          <p:cNvSpPr txBox="1"/>
          <p:nvPr/>
        </p:nvSpPr>
        <p:spPr>
          <a:xfrm>
            <a:off x="3959352" y="2029968"/>
            <a:ext cx="1225296" cy="640080"/>
          </a:xfrm>
          <a:prstGeom prst="rect">
            <a:avLst/>
          </a:prstGeom>
          <a:noFill/>
        </p:spPr>
        <p:txBody>
          <a:bodyPr wrap="square" lIns="0" rIns="0" tIns="0" bIns="0" anchor="t">
            <a:spAutoFit/>
          </a:bodyPr>
          <a:lstStyle/>
          <a:p>
            <a:pPr algn="l"/>
            <a:r>
              <a:rPr sz="1000" b="0" i="0">
                <a:solidFill>
                  <a:srgbClr val="3A4450"/>
                </a:solidFill>
                <a:latin typeface="Calibri"/>
              </a:rPr>
              <a:t>Build the workflow, agent or app.</a:t>
            </a:r>
          </a:p>
        </p:txBody>
      </p:sp>
      <p:sp>
        <p:nvSpPr>
          <p:cNvPr id="21" name="Chevron 20"/>
          <p:cNvSpPr/>
          <p:nvPr/>
        </p:nvSpPr>
        <p:spPr>
          <a:xfrm>
            <a:off x="5353812" y="1975104"/>
            <a:ext cx="100584" cy="219456"/>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2" name="Rounded Rectangle 21"/>
          <p:cNvSpPr/>
          <p:nvPr/>
        </p:nvSpPr>
        <p:spPr>
          <a:xfrm>
            <a:off x="5495544" y="1481328"/>
            <a:ext cx="1481328" cy="1225296"/>
          </a:xfrm>
          <a:prstGeom prst="roundRect">
            <a:avLst>
              <a:gd name="adj" fmla="val 746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3" name="TextBox 22"/>
          <p:cNvSpPr txBox="1"/>
          <p:nvPr/>
        </p:nvSpPr>
        <p:spPr>
          <a:xfrm>
            <a:off x="5623559" y="1554480"/>
            <a:ext cx="1225296" cy="274320"/>
          </a:xfrm>
          <a:prstGeom prst="rect">
            <a:avLst/>
          </a:prstGeom>
          <a:noFill/>
        </p:spPr>
        <p:txBody>
          <a:bodyPr wrap="square" lIns="0" rIns="0" tIns="0" bIns="0" anchor="t">
            <a:spAutoFit/>
          </a:bodyPr>
          <a:lstStyle/>
          <a:p>
            <a:pPr algn="l"/>
            <a:r>
              <a:rPr sz="900" b="1" i="0">
                <a:solidFill>
                  <a:srgbClr val="A9740A"/>
                </a:solidFill>
                <a:latin typeface="Calibri"/>
              </a:rPr>
              <a:t>4</a:t>
            </a:r>
          </a:p>
        </p:txBody>
      </p:sp>
      <p:sp>
        <p:nvSpPr>
          <p:cNvPr id="24" name="TextBox 23"/>
          <p:cNvSpPr txBox="1"/>
          <p:nvPr/>
        </p:nvSpPr>
        <p:spPr>
          <a:xfrm>
            <a:off x="5623559" y="1719072"/>
            <a:ext cx="1225296" cy="292608"/>
          </a:xfrm>
          <a:prstGeom prst="rect">
            <a:avLst/>
          </a:prstGeom>
          <a:noFill/>
        </p:spPr>
        <p:txBody>
          <a:bodyPr wrap="square" lIns="0" rIns="0" tIns="0" bIns="0" anchor="t">
            <a:spAutoFit/>
          </a:bodyPr>
          <a:lstStyle/>
          <a:p>
            <a:pPr algn="l"/>
            <a:r>
              <a:rPr sz="1300" b="1" i="0">
                <a:solidFill>
                  <a:srgbClr val="1E4173"/>
                </a:solidFill>
                <a:latin typeface="Cambria"/>
              </a:rPr>
              <a:t>Evaluate</a:t>
            </a:r>
          </a:p>
        </p:txBody>
      </p:sp>
      <p:sp>
        <p:nvSpPr>
          <p:cNvPr id="25" name="TextBox 24"/>
          <p:cNvSpPr txBox="1"/>
          <p:nvPr/>
        </p:nvSpPr>
        <p:spPr>
          <a:xfrm>
            <a:off x="5623559" y="2029968"/>
            <a:ext cx="1225296" cy="640080"/>
          </a:xfrm>
          <a:prstGeom prst="rect">
            <a:avLst/>
          </a:prstGeom>
          <a:noFill/>
        </p:spPr>
        <p:txBody>
          <a:bodyPr wrap="square" lIns="0" rIns="0" tIns="0" bIns="0" anchor="t">
            <a:spAutoFit/>
          </a:bodyPr>
          <a:lstStyle/>
          <a:p>
            <a:pPr algn="l"/>
            <a:r>
              <a:rPr sz="1000" b="0" i="0">
                <a:solidFill>
                  <a:srgbClr val="3A4450"/>
                </a:solidFill>
                <a:latin typeface="Calibri"/>
              </a:rPr>
              <a:t>Test it, red-team it, and defend it.</a:t>
            </a:r>
          </a:p>
        </p:txBody>
      </p:sp>
      <p:sp>
        <p:nvSpPr>
          <p:cNvPr id="26" name="Chevron 25"/>
          <p:cNvSpPr/>
          <p:nvPr/>
        </p:nvSpPr>
        <p:spPr>
          <a:xfrm>
            <a:off x="7018020" y="1975104"/>
            <a:ext cx="100584" cy="219456"/>
          </a:xfrm>
          <a:prstGeom prst="chevron">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7" name="Rounded Rectangle 26"/>
          <p:cNvSpPr/>
          <p:nvPr/>
        </p:nvSpPr>
        <p:spPr>
          <a:xfrm>
            <a:off x="7159752" y="1481328"/>
            <a:ext cx="1481328" cy="1225296"/>
          </a:xfrm>
          <a:prstGeom prst="roundRect">
            <a:avLst>
              <a:gd name="adj" fmla="val 7462"/>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8" name="TextBox 27"/>
          <p:cNvSpPr txBox="1"/>
          <p:nvPr/>
        </p:nvSpPr>
        <p:spPr>
          <a:xfrm>
            <a:off x="7287768" y="1554480"/>
            <a:ext cx="1225296" cy="274320"/>
          </a:xfrm>
          <a:prstGeom prst="rect">
            <a:avLst/>
          </a:prstGeom>
          <a:noFill/>
        </p:spPr>
        <p:txBody>
          <a:bodyPr wrap="square" lIns="0" rIns="0" tIns="0" bIns="0" anchor="t">
            <a:spAutoFit/>
          </a:bodyPr>
          <a:lstStyle/>
          <a:p>
            <a:pPr algn="l"/>
            <a:r>
              <a:rPr sz="900" b="1" i="0">
                <a:solidFill>
                  <a:srgbClr val="A9740A"/>
                </a:solidFill>
                <a:latin typeface="Calibri"/>
              </a:rPr>
              <a:t>5</a:t>
            </a:r>
          </a:p>
        </p:txBody>
      </p:sp>
      <p:sp>
        <p:nvSpPr>
          <p:cNvPr id="29" name="TextBox 28"/>
          <p:cNvSpPr txBox="1"/>
          <p:nvPr/>
        </p:nvSpPr>
        <p:spPr>
          <a:xfrm>
            <a:off x="7287768" y="1719072"/>
            <a:ext cx="1225296" cy="292608"/>
          </a:xfrm>
          <a:prstGeom prst="rect">
            <a:avLst/>
          </a:prstGeom>
          <a:noFill/>
        </p:spPr>
        <p:txBody>
          <a:bodyPr wrap="square" lIns="0" rIns="0" tIns="0" bIns="0" anchor="t">
            <a:spAutoFit/>
          </a:bodyPr>
          <a:lstStyle/>
          <a:p>
            <a:pPr algn="l"/>
            <a:r>
              <a:rPr sz="1300" b="1" i="0">
                <a:solidFill>
                  <a:srgbClr val="1E4173"/>
                </a:solidFill>
                <a:latin typeface="Cambria"/>
              </a:rPr>
              <a:t>Evolve</a:t>
            </a:r>
          </a:p>
        </p:txBody>
      </p:sp>
      <p:sp>
        <p:nvSpPr>
          <p:cNvPr id="30" name="TextBox 29"/>
          <p:cNvSpPr txBox="1"/>
          <p:nvPr/>
        </p:nvSpPr>
        <p:spPr>
          <a:xfrm>
            <a:off x="7287768" y="2029968"/>
            <a:ext cx="1225296" cy="640080"/>
          </a:xfrm>
          <a:prstGeom prst="rect">
            <a:avLst/>
          </a:prstGeom>
          <a:noFill/>
        </p:spPr>
        <p:txBody>
          <a:bodyPr wrap="square" lIns="0" rIns="0" tIns="0" bIns="0" anchor="t">
            <a:spAutoFit/>
          </a:bodyPr>
          <a:lstStyle/>
          <a:p>
            <a:pPr algn="l"/>
            <a:r>
              <a:rPr sz="1000" b="0" i="0">
                <a:solidFill>
                  <a:srgbClr val="3A4450"/>
                </a:solidFill>
                <a:latin typeface="Calibri"/>
              </a:rPr>
              <a:t>Improve from V1 to V2 using feedback.</a:t>
            </a:r>
          </a:p>
        </p:txBody>
      </p:sp>
      <p:sp>
        <p:nvSpPr>
          <p:cNvPr id="31" name="TextBox 30"/>
          <p:cNvSpPr txBox="1"/>
          <p:nvPr/>
        </p:nvSpPr>
        <p:spPr>
          <a:xfrm>
            <a:off x="502920" y="2834640"/>
            <a:ext cx="4572000" cy="182880"/>
          </a:xfrm>
          <a:prstGeom prst="rect">
            <a:avLst/>
          </a:prstGeom>
          <a:noFill/>
        </p:spPr>
        <p:txBody>
          <a:bodyPr wrap="square" lIns="0" rIns="0" tIns="0" bIns="0" anchor="t">
            <a:spAutoFit/>
          </a:bodyPr>
          <a:lstStyle/>
          <a:p>
            <a:pPr algn="l"/>
            <a:r>
              <a:rPr sz="850" b="1" i="0">
                <a:solidFill>
                  <a:srgbClr val="A9740A"/>
                </a:solidFill>
                <a:latin typeface="Calibri"/>
              </a:rPr>
              <a:t>LEARNING STYLES YOU’LL SEE</a:t>
            </a:r>
          </a:p>
        </p:txBody>
      </p:sp>
      <p:sp>
        <p:nvSpPr>
          <p:cNvPr id="32" name="Rounded Rectangle 31"/>
          <p:cNvSpPr/>
          <p:nvPr/>
        </p:nvSpPr>
        <p:spPr>
          <a:xfrm>
            <a:off x="502920" y="3054096"/>
            <a:ext cx="1865376"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Discussion-Based Learning</a:t>
            </a:r>
          </a:p>
        </p:txBody>
      </p:sp>
      <p:sp>
        <p:nvSpPr>
          <p:cNvPr id="33" name="Rounded Rectangle 32"/>
          <p:cNvSpPr/>
          <p:nvPr/>
        </p:nvSpPr>
        <p:spPr>
          <a:xfrm>
            <a:off x="2478024" y="3054096"/>
            <a:ext cx="932688"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Live Cases</a:t>
            </a:r>
          </a:p>
        </p:txBody>
      </p:sp>
      <p:sp>
        <p:nvSpPr>
          <p:cNvPr id="34" name="Rounded Rectangle 33"/>
          <p:cNvSpPr/>
          <p:nvPr/>
        </p:nvSpPr>
        <p:spPr>
          <a:xfrm>
            <a:off x="3520440" y="3054096"/>
            <a:ext cx="1181404"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AI as Co-pilot</a:t>
            </a:r>
          </a:p>
        </p:txBody>
      </p:sp>
      <p:sp>
        <p:nvSpPr>
          <p:cNvPr id="35" name="Rounded Rectangle 34"/>
          <p:cNvSpPr/>
          <p:nvPr/>
        </p:nvSpPr>
        <p:spPr>
          <a:xfrm>
            <a:off x="4811572" y="3054096"/>
            <a:ext cx="1616659"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Tool Application Labs</a:t>
            </a:r>
          </a:p>
        </p:txBody>
      </p:sp>
      <p:sp>
        <p:nvSpPr>
          <p:cNvPr id="39" name="TextBox 38"/>
          <p:cNvSpPr txBox="1"/>
          <p:nvPr/>
        </p:nvSpPr>
        <p:spPr>
          <a:xfrm>
            <a:off x="502920" y="3749039"/>
            <a:ext cx="4572000" cy="182880"/>
          </a:xfrm>
          <a:prstGeom prst="rect">
            <a:avLst/>
          </a:prstGeom>
          <a:noFill/>
        </p:spPr>
        <p:txBody>
          <a:bodyPr wrap="square" lIns="0" rIns="0" tIns="0" bIns="0" anchor="t">
            <a:spAutoFit/>
          </a:bodyPr>
          <a:lstStyle/>
          <a:p>
            <a:pPr algn="l"/>
            <a:r>
              <a:rPr sz="850" b="1" i="0">
                <a:solidFill>
                  <a:srgbClr val="A9740A"/>
                </a:solidFill>
                <a:latin typeface="Calibri"/>
              </a:rPr>
              <a:t>SELECTED LIVE CASES FROM 2026</a:t>
            </a:r>
          </a:p>
        </p:txBody>
      </p:sp>
      <p:sp>
        <p:nvSpPr>
          <p:cNvPr id="40" name="TextBox 39"/>
          <p:cNvSpPr txBox="1"/>
          <p:nvPr/>
        </p:nvSpPr>
        <p:spPr>
          <a:xfrm>
            <a:off x="502920" y="3950208"/>
            <a:ext cx="8138160" cy="237744"/>
          </a:xfrm>
          <a:prstGeom prst="rect">
            <a:avLst/>
          </a:prstGeom>
          <a:noFill/>
        </p:spPr>
        <p:txBody>
          <a:bodyPr wrap="square" lIns="0" rIns="0" tIns="0" bIns="0" anchor="t">
            <a:spAutoFit/>
          </a:bodyPr>
          <a:lstStyle/>
          <a:p>
            <a:pPr algn="l"/>
            <a:r>
              <a:rPr sz="1100" b="1" i="0">
                <a:solidFill>
                  <a:srgbClr val="1E4173"/>
                </a:solidFill>
                <a:latin typeface="Calibri"/>
              </a:rPr>
              <a:t>Basis  ·  Proaction  ·  Bell + ServiceNow  ·  Clay  ·  1Password + Codex  ·  BBVA + OpenAI  ·  Asana + Codex</a:t>
            </a:r>
          </a:p>
        </p:txBody>
      </p:sp>
      <p:sp>
        <p:nvSpPr>
          <p:cNvPr id="41" name="Rounded Rectangle 40"/>
          <p:cNvSpPr/>
          <p:nvPr/>
        </p:nvSpPr>
        <p:spPr>
          <a:xfrm>
            <a:off x="502920" y="3383279"/>
            <a:ext cx="1492300"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Decision Simulators</a:t>
            </a:r>
          </a:p>
        </p:txBody>
      </p:sp>
      <p:sp>
        <p:nvSpPr>
          <p:cNvPr id="42" name="Rounded Rectangle 41"/>
          <p:cNvSpPr/>
          <p:nvPr/>
        </p:nvSpPr>
        <p:spPr>
          <a:xfrm>
            <a:off x="2104948" y="3383279"/>
            <a:ext cx="1243584"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Project Studios</a:t>
            </a:r>
          </a:p>
        </p:txBody>
      </p:sp>
      <p:sp>
        <p:nvSpPr>
          <p:cNvPr id="43" name="Rounded Rectangle 42"/>
          <p:cNvSpPr/>
          <p:nvPr/>
        </p:nvSpPr>
        <p:spPr>
          <a:xfrm>
            <a:off x="3458260" y="3383279"/>
            <a:ext cx="1616659"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Critique &amp; Reflection</a:t>
            </a:r>
          </a:p>
        </p:txBody>
      </p:sp>
      <p:sp>
        <p:nvSpPr>
          <p:cNvPr id="44" name="Rounded Rectangle 43"/>
          <p:cNvSpPr/>
          <p:nvPr/>
        </p:nvSpPr>
        <p:spPr>
          <a:xfrm>
            <a:off x="5184648" y="3383279"/>
            <a:ext cx="2487168" cy="256032"/>
          </a:xfrm>
          <a:prstGeom prst="roundRect">
            <a:avLst>
              <a:gd name="adj" fmla="val 50000"/>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1E4173"/>
                </a:solidFill>
                <a:latin typeface="Calibri"/>
              </a:rPr>
              <a:t>Industry / Practitioner Interaction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09</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AI as Co-pilot: tools and boundaries</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Use AI actively. Keep your own judgement.</a:t>
            </a:r>
            <a:endParaRPr lang="en-US" sz="900" dirty="0"/>
          </a:p>
        </p:txBody>
      </p:sp>
      <p:sp>
        <p:nvSpPr>
          <p:cNvPr id="7" name="TextBox 6"/>
          <p:cNvSpPr txBox="1"/>
          <p:nvPr/>
        </p:nvSpPr>
        <p:spPr>
          <a:xfrm>
            <a:off x="502920" y="1499616"/>
            <a:ext cx="3657600" cy="182880"/>
          </a:xfrm>
          <a:prstGeom prst="rect">
            <a:avLst/>
          </a:prstGeom>
          <a:noFill/>
        </p:spPr>
        <p:txBody>
          <a:bodyPr wrap="square" lIns="0" rIns="0" tIns="0" bIns="0" anchor="t">
            <a:spAutoFit/>
          </a:bodyPr>
          <a:lstStyle/>
          <a:p>
            <a:pPr algn="l"/>
            <a:r>
              <a:rPr sz="850" b="1" i="0">
                <a:solidFill>
                  <a:srgbClr val="A9740A"/>
                </a:solidFill>
                <a:latin typeface="Calibri"/>
              </a:rPr>
              <a:t>AI HELPS YOU</a:t>
            </a:r>
          </a:p>
        </p:txBody>
      </p:sp>
      <p:sp>
        <p:nvSpPr>
          <p:cNvPr id="8" name="Rounded Rectangle 7"/>
          <p:cNvSpPr/>
          <p:nvPr/>
        </p:nvSpPr>
        <p:spPr>
          <a:xfrm>
            <a:off x="502920" y="1719072"/>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Analyse</a:t>
            </a:r>
          </a:p>
        </p:txBody>
      </p:sp>
      <p:sp>
        <p:nvSpPr>
          <p:cNvPr id="9" name="Rounded Rectangle 8"/>
          <p:cNvSpPr/>
          <p:nvPr/>
        </p:nvSpPr>
        <p:spPr>
          <a:xfrm>
            <a:off x="1472184" y="1719072"/>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Compare</a:t>
            </a:r>
          </a:p>
        </p:txBody>
      </p:sp>
      <p:sp>
        <p:nvSpPr>
          <p:cNvPr id="10" name="Rounded Rectangle 9"/>
          <p:cNvSpPr/>
          <p:nvPr/>
        </p:nvSpPr>
        <p:spPr>
          <a:xfrm>
            <a:off x="2441448" y="1719072"/>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Generate</a:t>
            </a:r>
          </a:p>
        </p:txBody>
      </p:sp>
      <p:sp>
        <p:nvSpPr>
          <p:cNvPr id="11" name="Rounded Rectangle 10"/>
          <p:cNvSpPr/>
          <p:nvPr/>
        </p:nvSpPr>
        <p:spPr>
          <a:xfrm>
            <a:off x="3410712" y="1719072"/>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Critique</a:t>
            </a:r>
          </a:p>
        </p:txBody>
      </p:sp>
      <p:sp>
        <p:nvSpPr>
          <p:cNvPr id="12" name="Rounded Rectangle 11"/>
          <p:cNvSpPr/>
          <p:nvPr/>
        </p:nvSpPr>
        <p:spPr>
          <a:xfrm>
            <a:off x="502920" y="2029967"/>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Build</a:t>
            </a:r>
          </a:p>
        </p:txBody>
      </p:sp>
      <p:sp>
        <p:nvSpPr>
          <p:cNvPr id="13" name="Rounded Rectangle 12"/>
          <p:cNvSpPr/>
          <p:nvPr/>
        </p:nvSpPr>
        <p:spPr>
          <a:xfrm>
            <a:off x="1472184" y="2029967"/>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Test</a:t>
            </a:r>
          </a:p>
        </p:txBody>
      </p:sp>
      <p:sp>
        <p:nvSpPr>
          <p:cNvPr id="14" name="Rounded Rectangle 13"/>
          <p:cNvSpPr/>
          <p:nvPr/>
        </p:nvSpPr>
        <p:spPr>
          <a:xfrm>
            <a:off x="2441448" y="2029967"/>
            <a:ext cx="896112" cy="246888"/>
          </a:xfrm>
          <a:prstGeom prst="roundRect">
            <a:avLst>
              <a:gd name="adj" fmla="val 5000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Iterate</a:t>
            </a:r>
          </a:p>
        </p:txBody>
      </p:sp>
      <p:sp>
        <p:nvSpPr>
          <p:cNvPr id="15" name="TextBox 14"/>
          <p:cNvSpPr txBox="1"/>
          <p:nvPr/>
        </p:nvSpPr>
        <p:spPr>
          <a:xfrm>
            <a:off x="502920" y="2395728"/>
            <a:ext cx="3931920" cy="182880"/>
          </a:xfrm>
          <a:prstGeom prst="rect">
            <a:avLst/>
          </a:prstGeom>
          <a:noFill/>
        </p:spPr>
        <p:txBody>
          <a:bodyPr wrap="square" lIns="0" rIns="0" tIns="0" bIns="0" anchor="t">
            <a:spAutoFit/>
          </a:bodyPr>
          <a:lstStyle/>
          <a:p>
            <a:pPr algn="l"/>
            <a:r>
              <a:rPr sz="850" b="1" i="0">
                <a:solidFill>
                  <a:srgbClr val="1E4173"/>
                </a:solidFill>
                <a:latin typeface="Calibri"/>
              </a:rPr>
              <a:t>AI CANNOT REPLACE: THESE STAY YOURS</a:t>
            </a:r>
          </a:p>
        </p:txBody>
      </p:sp>
      <p:pic>
        <p:nvPicPr>
          <p:cNvPr id="16" name="Picture 15" descr="image.png"/>
          <p:cNvPicPr>
            <a:picLocks noChangeAspect="1"/>
          </p:cNvPicPr>
          <p:nvPr/>
        </p:nvPicPr>
        <p:blipFill>
          <a:blip r:embed="rId2"/>
          <a:stretch>
            <a:fillRect/>
          </a:stretch>
        </p:blipFill>
        <p:spPr>
          <a:xfrm>
            <a:off x="530352" y="2642615"/>
            <a:ext cx="155448" cy="155448"/>
          </a:xfrm>
          <a:prstGeom prst="rect">
            <a:avLst/>
          </a:prstGeom>
        </p:spPr>
      </p:pic>
      <p:sp>
        <p:nvSpPr>
          <p:cNvPr id="17" name="TextBox 16"/>
          <p:cNvSpPr txBox="1"/>
          <p:nvPr/>
        </p:nvSpPr>
        <p:spPr>
          <a:xfrm>
            <a:off x="804672" y="2615184"/>
            <a:ext cx="3611880" cy="228600"/>
          </a:xfrm>
          <a:prstGeom prst="rect">
            <a:avLst/>
          </a:prstGeom>
          <a:noFill/>
        </p:spPr>
        <p:txBody>
          <a:bodyPr wrap="square" lIns="0" rIns="0" tIns="0" bIns="0" anchor="t">
            <a:spAutoFit/>
          </a:bodyPr>
          <a:lstStyle/>
          <a:p>
            <a:pPr algn="l"/>
            <a:r>
              <a:rPr sz="1050" b="0" i="0">
                <a:solidFill>
                  <a:srgbClr val="3A4450"/>
                </a:solidFill>
                <a:latin typeface="Calibri"/>
              </a:rPr>
              <a:t>Choosing and framing the problem</a:t>
            </a:r>
          </a:p>
        </p:txBody>
      </p:sp>
      <p:pic>
        <p:nvPicPr>
          <p:cNvPr id="18" name="Picture 17" descr="image.png"/>
          <p:cNvPicPr>
            <a:picLocks noChangeAspect="1"/>
          </p:cNvPicPr>
          <p:nvPr/>
        </p:nvPicPr>
        <p:blipFill>
          <a:blip r:embed="rId2"/>
          <a:stretch>
            <a:fillRect/>
          </a:stretch>
        </p:blipFill>
        <p:spPr>
          <a:xfrm>
            <a:off x="530352" y="2880360"/>
            <a:ext cx="155448" cy="155448"/>
          </a:xfrm>
          <a:prstGeom prst="rect">
            <a:avLst/>
          </a:prstGeom>
        </p:spPr>
      </p:pic>
      <p:sp>
        <p:nvSpPr>
          <p:cNvPr id="19" name="TextBox 18"/>
          <p:cNvSpPr txBox="1"/>
          <p:nvPr/>
        </p:nvSpPr>
        <p:spPr>
          <a:xfrm>
            <a:off x="804672" y="2852928"/>
            <a:ext cx="3611880" cy="228600"/>
          </a:xfrm>
          <a:prstGeom prst="rect">
            <a:avLst/>
          </a:prstGeom>
          <a:noFill/>
        </p:spPr>
        <p:txBody>
          <a:bodyPr wrap="square" lIns="0" rIns="0" tIns="0" bIns="0" anchor="t">
            <a:spAutoFit/>
          </a:bodyPr>
          <a:lstStyle/>
          <a:p>
            <a:pPr algn="l"/>
            <a:r>
              <a:rPr sz="1050" b="0" i="0">
                <a:solidFill>
                  <a:srgbClr val="3A4450"/>
                </a:solidFill>
                <a:latin typeface="Calibri"/>
              </a:rPr>
              <a:t>Authentic practitioner evidence: never AI-generated</a:t>
            </a:r>
          </a:p>
        </p:txBody>
      </p:sp>
      <p:pic>
        <p:nvPicPr>
          <p:cNvPr id="20" name="Picture 19" descr="image.png"/>
          <p:cNvPicPr>
            <a:picLocks noChangeAspect="1"/>
          </p:cNvPicPr>
          <p:nvPr/>
        </p:nvPicPr>
        <p:blipFill>
          <a:blip r:embed="rId2"/>
          <a:stretch>
            <a:fillRect/>
          </a:stretch>
        </p:blipFill>
        <p:spPr>
          <a:xfrm>
            <a:off x="530352" y="3118103"/>
            <a:ext cx="155448" cy="155448"/>
          </a:xfrm>
          <a:prstGeom prst="rect">
            <a:avLst/>
          </a:prstGeom>
        </p:spPr>
      </p:pic>
      <p:sp>
        <p:nvSpPr>
          <p:cNvPr id="21" name="TextBox 20"/>
          <p:cNvSpPr txBox="1"/>
          <p:nvPr/>
        </p:nvSpPr>
        <p:spPr>
          <a:xfrm>
            <a:off x="804672" y="3090672"/>
            <a:ext cx="3611880" cy="228600"/>
          </a:xfrm>
          <a:prstGeom prst="rect">
            <a:avLst/>
          </a:prstGeom>
          <a:noFill/>
        </p:spPr>
        <p:txBody>
          <a:bodyPr wrap="square" lIns="0" rIns="0" tIns="0" bIns="0" anchor="t">
            <a:spAutoFit/>
          </a:bodyPr>
          <a:lstStyle/>
          <a:p>
            <a:pPr algn="l"/>
            <a:r>
              <a:rPr sz="1050" b="0" i="0">
                <a:solidFill>
                  <a:srgbClr val="3A4450"/>
                </a:solidFill>
                <a:latin typeface="Calibri"/>
              </a:rPr>
              <a:t>Final judgement on the solution</a:t>
            </a:r>
          </a:p>
        </p:txBody>
      </p:sp>
      <p:pic>
        <p:nvPicPr>
          <p:cNvPr id="22" name="Picture 21" descr="image.png"/>
          <p:cNvPicPr>
            <a:picLocks noChangeAspect="1"/>
          </p:cNvPicPr>
          <p:nvPr/>
        </p:nvPicPr>
        <p:blipFill>
          <a:blip r:embed="rId2"/>
          <a:stretch>
            <a:fillRect/>
          </a:stretch>
        </p:blipFill>
        <p:spPr>
          <a:xfrm>
            <a:off x="530352" y="3355847"/>
            <a:ext cx="155448" cy="155448"/>
          </a:xfrm>
          <a:prstGeom prst="rect">
            <a:avLst/>
          </a:prstGeom>
        </p:spPr>
      </p:pic>
      <p:sp>
        <p:nvSpPr>
          <p:cNvPr id="23" name="TextBox 22"/>
          <p:cNvSpPr txBox="1"/>
          <p:nvPr/>
        </p:nvSpPr>
        <p:spPr>
          <a:xfrm>
            <a:off x="804672" y="3328415"/>
            <a:ext cx="3611880" cy="228600"/>
          </a:xfrm>
          <a:prstGeom prst="rect">
            <a:avLst/>
          </a:prstGeom>
          <a:noFill/>
        </p:spPr>
        <p:txBody>
          <a:bodyPr wrap="square" lIns="0" rIns="0" tIns="0" bIns="0" anchor="t">
            <a:spAutoFit/>
          </a:bodyPr>
          <a:lstStyle/>
          <a:p>
            <a:pPr algn="l"/>
            <a:r>
              <a:rPr sz="1050" b="0" i="0">
                <a:solidFill>
                  <a:srgbClr val="3A4450"/>
                </a:solidFill>
                <a:latin typeface="Calibri"/>
              </a:rPr>
              <a:t>Your live panel and viva answers</a:t>
            </a:r>
          </a:p>
        </p:txBody>
      </p:sp>
      <p:pic>
        <p:nvPicPr>
          <p:cNvPr id="24" name="Picture 23" descr="image.png"/>
          <p:cNvPicPr>
            <a:picLocks noChangeAspect="1"/>
          </p:cNvPicPr>
          <p:nvPr/>
        </p:nvPicPr>
        <p:blipFill>
          <a:blip r:embed="rId2"/>
          <a:stretch>
            <a:fillRect/>
          </a:stretch>
        </p:blipFill>
        <p:spPr>
          <a:xfrm>
            <a:off x="530352" y="3593591"/>
            <a:ext cx="155448" cy="155448"/>
          </a:xfrm>
          <a:prstGeom prst="rect">
            <a:avLst/>
          </a:prstGeom>
        </p:spPr>
      </p:pic>
      <p:sp>
        <p:nvSpPr>
          <p:cNvPr id="25" name="TextBox 24"/>
          <p:cNvSpPr txBox="1"/>
          <p:nvPr/>
        </p:nvSpPr>
        <p:spPr>
          <a:xfrm>
            <a:off x="804672" y="3566160"/>
            <a:ext cx="3611880" cy="228600"/>
          </a:xfrm>
          <a:prstGeom prst="rect">
            <a:avLst/>
          </a:prstGeom>
          <a:noFill/>
        </p:spPr>
        <p:txBody>
          <a:bodyPr wrap="square" lIns="0" rIns="0" tIns="0" bIns="0" anchor="t">
            <a:spAutoFit/>
          </a:bodyPr>
          <a:lstStyle/>
          <a:p>
            <a:pPr algn="l"/>
            <a:r>
              <a:rPr sz="1050" b="0" i="0">
                <a:solidFill>
                  <a:srgbClr val="3A4450"/>
                </a:solidFill>
                <a:latin typeface="Calibri"/>
              </a:rPr>
              <a:t>Claims about your own contribution</a:t>
            </a:r>
          </a:p>
        </p:txBody>
      </p:sp>
      <p:sp>
        <p:nvSpPr>
          <p:cNvPr id="26" name="TextBox 25"/>
          <p:cNvSpPr txBox="1"/>
          <p:nvPr/>
        </p:nvSpPr>
        <p:spPr>
          <a:xfrm>
            <a:off x="4709160" y="1499616"/>
            <a:ext cx="3931920" cy="182880"/>
          </a:xfrm>
          <a:prstGeom prst="rect">
            <a:avLst/>
          </a:prstGeom>
          <a:noFill/>
        </p:spPr>
        <p:txBody>
          <a:bodyPr wrap="square" lIns="0" rIns="0" tIns="0" bIns="0" anchor="t">
            <a:spAutoFit/>
          </a:bodyPr>
          <a:lstStyle/>
          <a:p>
            <a:pPr algn="l"/>
            <a:r>
              <a:rPr sz="850" b="1" i="0">
                <a:solidFill>
                  <a:srgbClr val="A9740A"/>
                </a:solidFill>
                <a:latin typeface="Calibri"/>
              </a:rPr>
              <a:t>AI ASSESSMENT LEVEL, BY ASSESSMENT</a:t>
            </a:r>
          </a:p>
        </p:txBody>
      </p:sp>
      <p:graphicFrame>
        <p:nvGraphicFramePr>
          <p:cNvPr id="27" name="Table 26"/>
          <p:cNvGraphicFramePr>
            <a:graphicFrameLocks noGrp="1"/>
          </p:cNvGraphicFramePr>
          <p:nvPr/>
        </p:nvGraphicFramePr>
        <p:xfrm>
          <a:off x="4709160" y="1719072"/>
          <a:ext cx="3931920" cy="1426464"/>
        </p:xfrm>
        <a:graphic>
          <a:graphicData uri="http://schemas.openxmlformats.org/drawingml/2006/table">
            <a:tbl>
              <a:tblPr>
                <a:tableStyleId>{5C22544A-7EE6-4342-B048-85BDC9FD1C3A}</a:tableStyleId>
              </a:tblPr>
              <a:tblGrid>
                <a:gridCol w="2395728"/>
                <a:gridCol w="1536192"/>
              </a:tblGrid>
              <a:tr h="237744">
                <a:tc>
                  <a:txBody>
                    <a:bodyPr/>
                    <a:lstStyle/>
                    <a:p>
                      <a:r>
                        <a:rPr sz="1000" b="0" i="0">
                          <a:solidFill>
                            <a:srgbClr val="3A4450"/>
                          </a:solidFill>
                          <a:latin typeface="Calibri"/>
                        </a:rPr>
                        <a:t>Discussion Questions</a:t>
                      </a:r>
                    </a:p>
                  </a:txBody>
                  <a:tcPr marL="91440" marR="73152" marT="9144" marB="9144" anchor="ctr">
                    <a:solidFill>
                      <a:srgbClr val="F2F4F8"/>
                    </a:solidFill>
                  </a:tcPr>
                </a:tc>
                <a:tc>
                  <a:txBody>
                    <a:bodyPr/>
                    <a:lstStyle/>
                    <a:p>
                      <a:r>
                        <a:rPr sz="1000" b="1" i="0">
                          <a:solidFill>
                            <a:srgbClr val="A9740A"/>
                          </a:solidFill>
                          <a:latin typeface="Calibri"/>
                        </a:rPr>
                        <a:t>No AI</a:t>
                      </a:r>
                    </a:p>
                  </a:txBody>
                  <a:tcPr marL="91440" marR="73152" marT="9144" marB="9144" anchor="ctr">
                    <a:solidFill>
                      <a:srgbClr val="F2F4F8"/>
                    </a:solidFill>
                  </a:tcPr>
                </a:tc>
              </a:tr>
              <a:tr h="237744">
                <a:tc>
                  <a:txBody>
                    <a:bodyPr/>
                    <a:lstStyle/>
                    <a:p>
                      <a:r>
                        <a:rPr sz="1000" b="0" i="0">
                          <a:solidFill>
                            <a:srgbClr val="3A4450"/>
                          </a:solidFill>
                          <a:latin typeface="Calibri"/>
                        </a:rPr>
                        <a:t>WIP 1, WIP 2 and WIP 3</a:t>
                      </a:r>
                    </a:p>
                  </a:txBody>
                  <a:tcPr marL="91440" marR="73152" marT="9144" marB="9144" anchor="ctr">
                    <a:solidFill>
                      <a:srgbClr val="FFFFFF"/>
                    </a:solidFill>
                  </a:tcPr>
                </a:tc>
                <a:tc>
                  <a:txBody>
                    <a:bodyPr/>
                    <a:lstStyle/>
                    <a:p>
                      <a:r>
                        <a:rPr sz="1000" b="1" i="0">
                          <a:solidFill>
                            <a:srgbClr val="1E4173"/>
                          </a:solidFill>
                          <a:latin typeface="Calibri"/>
                        </a:rPr>
                        <a:t>AI Collaboration</a:t>
                      </a:r>
                    </a:p>
                  </a:txBody>
                  <a:tcPr marL="91440" marR="73152" marT="9144" marB="9144" anchor="ctr">
                    <a:solidFill>
                      <a:srgbClr val="FFFFFF"/>
                    </a:solidFill>
                  </a:tcPr>
                </a:tc>
              </a:tr>
              <a:tr h="237744">
                <a:tc>
                  <a:txBody>
                    <a:bodyPr/>
                    <a:lstStyle/>
                    <a:p>
                      <a:r>
                        <a:rPr sz="1000" b="0" i="0">
                          <a:solidFill>
                            <a:srgbClr val="3A4450"/>
                          </a:solidFill>
                          <a:latin typeface="Calibri"/>
                        </a:rPr>
                        <a:t>LinkedIn Learning Certificates</a:t>
                      </a:r>
                    </a:p>
                  </a:txBody>
                  <a:tcPr marL="91440" marR="73152" marT="9144" marB="9144" anchor="ctr">
                    <a:solidFill>
                      <a:srgbClr val="F2F4F8"/>
                    </a:solidFill>
                  </a:tcPr>
                </a:tc>
                <a:tc>
                  <a:txBody>
                    <a:bodyPr/>
                    <a:lstStyle/>
                    <a:p>
                      <a:r>
                        <a:rPr sz="1000" b="1" i="0">
                          <a:solidFill>
                            <a:srgbClr val="A9740A"/>
                          </a:solidFill>
                          <a:latin typeface="Calibri"/>
                        </a:rPr>
                        <a:t>No AI</a:t>
                      </a:r>
                    </a:p>
                  </a:txBody>
                  <a:tcPr marL="91440" marR="73152" marT="9144" marB="9144" anchor="ctr">
                    <a:solidFill>
                      <a:srgbClr val="F2F4F8"/>
                    </a:solidFill>
                  </a:tcPr>
                </a:tc>
              </a:tr>
              <a:tr h="237744">
                <a:tc>
                  <a:txBody>
                    <a:bodyPr/>
                    <a:lstStyle/>
                    <a:p>
                      <a:r>
                        <a:rPr sz="1000" b="0" i="0">
                          <a:solidFill>
                            <a:srgbClr val="3A4450"/>
                          </a:solidFill>
                          <a:latin typeface="Calibri"/>
                        </a:rPr>
                        <a:t>Individual Live E-Portfolio</a:t>
                      </a:r>
                    </a:p>
                  </a:txBody>
                  <a:tcPr marL="91440" marR="73152" marT="9144" marB="9144" anchor="ctr">
                    <a:solidFill>
                      <a:srgbClr val="FFFFFF"/>
                    </a:solidFill>
                  </a:tcPr>
                </a:tc>
                <a:tc>
                  <a:txBody>
                    <a:bodyPr/>
                    <a:lstStyle/>
                    <a:p>
                      <a:r>
                        <a:rPr sz="1000" b="1" i="0">
                          <a:solidFill>
                            <a:srgbClr val="1E4173"/>
                          </a:solidFill>
                          <a:latin typeface="Calibri"/>
                        </a:rPr>
                        <a:t>AI Collaboration</a:t>
                      </a:r>
                    </a:p>
                  </a:txBody>
                  <a:tcPr marL="91440" marR="73152" marT="9144" marB="9144" anchor="ctr">
                    <a:solidFill>
                      <a:srgbClr val="FFFFFF"/>
                    </a:solidFill>
                  </a:tcPr>
                </a:tc>
              </a:tr>
              <a:tr h="237744">
                <a:tc>
                  <a:txBody>
                    <a:bodyPr/>
                    <a:lstStyle/>
                    <a:p>
                      <a:r>
                        <a:rPr sz="1000" b="0" i="0">
                          <a:solidFill>
                            <a:srgbClr val="3A4450"/>
                          </a:solidFill>
                          <a:latin typeface="Calibri"/>
                        </a:rPr>
                        <a:t>Working AI-Enabled Business Solution</a:t>
                      </a:r>
                    </a:p>
                  </a:txBody>
                  <a:tcPr marL="91440" marR="73152" marT="9144" marB="9144" anchor="ctr">
                    <a:solidFill>
                      <a:srgbClr val="F2F4F8"/>
                    </a:solidFill>
                  </a:tcPr>
                </a:tc>
                <a:tc>
                  <a:txBody>
                    <a:bodyPr/>
                    <a:lstStyle/>
                    <a:p>
                      <a:r>
                        <a:rPr sz="1000" b="1" i="0">
                          <a:solidFill>
                            <a:srgbClr val="1E4173"/>
                          </a:solidFill>
                          <a:latin typeface="Calibri"/>
                        </a:rPr>
                        <a:t>Full AI</a:t>
                      </a:r>
                    </a:p>
                  </a:txBody>
                  <a:tcPr marL="91440" marR="73152" marT="9144" marB="9144" anchor="ctr">
                    <a:solidFill>
                      <a:srgbClr val="F2F4F8"/>
                    </a:solidFill>
                  </a:tcPr>
                </a:tc>
              </a:tr>
              <a:tr h="237744">
                <a:tc>
                  <a:txBody>
                    <a:bodyPr/>
                    <a:lstStyle/>
                    <a:p>
                      <a:r>
                        <a:rPr sz="1000" b="0" i="0">
                          <a:solidFill>
                            <a:srgbClr val="3A4450"/>
                          </a:solidFill>
                          <a:latin typeface="Calibri"/>
                        </a:rPr>
                        <a:t>Presentation &amp; Defence</a:t>
                      </a:r>
                    </a:p>
                  </a:txBody>
                  <a:tcPr marL="91440" marR="73152" marT="9144" marB="9144" anchor="ctr">
                    <a:solidFill>
                      <a:srgbClr val="FFFFFF"/>
                    </a:solidFill>
                  </a:tcPr>
                </a:tc>
                <a:tc>
                  <a:txBody>
                    <a:bodyPr/>
                    <a:lstStyle/>
                    <a:p>
                      <a:r>
                        <a:rPr sz="1000" b="1" i="0">
                          <a:solidFill>
                            <a:srgbClr val="A9740A"/>
                          </a:solidFill>
                          <a:latin typeface="Calibri"/>
                        </a:rPr>
                        <a:t>No AI (live defence)</a:t>
                      </a:r>
                    </a:p>
                  </a:txBody>
                  <a:tcPr marL="91440" marR="73152" marT="9144" marB="9144" anchor="ctr">
                    <a:solidFill>
                      <a:srgbClr val="FFFFFF"/>
                    </a:solidFill>
                  </a:tcPr>
                </a:tc>
              </a:tr>
            </a:tbl>
          </a:graphicData>
        </a:graphic>
      </p:graphicFrame>
      <p:sp>
        <p:nvSpPr>
          <p:cNvPr id="28" name="TextBox 27"/>
          <p:cNvSpPr txBox="1"/>
          <p:nvPr/>
        </p:nvSpPr>
        <p:spPr>
          <a:xfrm>
            <a:off x="4709160" y="3236976"/>
            <a:ext cx="3931920" cy="457200"/>
          </a:xfrm>
          <a:prstGeom prst="rect">
            <a:avLst/>
          </a:prstGeom>
          <a:noFill/>
        </p:spPr>
        <p:txBody>
          <a:bodyPr wrap="square" lIns="0" rIns="0" tIns="0" bIns="0" anchor="t">
            <a:spAutoFit/>
          </a:bodyPr>
          <a:lstStyle/>
          <a:p>
            <a:pPr algn="l"/>
            <a:r>
              <a:rPr sz="950" b="0" i="1">
                <a:solidFill>
                  <a:srgbClr val="5A6472"/>
                </a:solidFill>
                <a:latin typeface="Calibri"/>
              </a:rPr>
              <a:t>Misuse of AI, or undisclosed AI use where it is restricted, is treated under FIIB’s academic integrity policy.</a:t>
            </a:r>
          </a:p>
        </p:txBody>
      </p:sp>
      <p:sp>
        <p:nvSpPr>
          <p:cNvPr id="29" name="Rounded Rectangle 28"/>
          <p:cNvSpPr/>
          <p:nvPr/>
        </p:nvSpPr>
        <p:spPr>
          <a:xfrm>
            <a:off x="502920" y="3840480"/>
            <a:ext cx="8138160" cy="475488"/>
          </a:xfrm>
          <a:prstGeom prst="roundRect">
            <a:avLst>
              <a:gd name="adj" fmla="val 15384"/>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30" name="TextBox 29"/>
          <p:cNvSpPr txBox="1"/>
          <p:nvPr/>
        </p:nvSpPr>
        <p:spPr>
          <a:xfrm>
            <a:off x="685800" y="3877056"/>
            <a:ext cx="7863840" cy="420624"/>
          </a:xfrm>
          <a:prstGeom prst="rect">
            <a:avLst/>
          </a:prstGeom>
          <a:noFill/>
        </p:spPr>
        <p:txBody>
          <a:bodyPr wrap="square" lIns="0" rIns="0" tIns="0" bIns="0" anchor="ctr">
            <a:spAutoFit/>
          </a:bodyPr>
          <a:lstStyle/>
          <a:p>
            <a:pPr algn="l"/>
            <a:r>
              <a:rPr sz="850" b="1" i="0">
                <a:solidFill>
                  <a:srgbClr val="A9740A"/>
                </a:solidFill>
                <a:latin typeface="Calibri"/>
              </a:rPr>
              <a:t>TOOLS   </a:t>
            </a:r>
            <a:r>
              <a:rPr sz="1000" b="1" i="0">
                <a:solidFill>
                  <a:srgbClr val="1E4173"/>
                </a:solidFill>
                <a:latin typeface="Calibri"/>
              </a:rPr>
              <a:t>Google Workspace Studio  ·  Gemini / Gems  ·  NotebookLM  ·  GitHub  ·  Streamlit  ·  Supabase  ·  MCP tool connectivity</a:t>
            </a:r>
          </a:p>
          <a:p>
            <a:pPr algn="l"/>
            <a:r>
              <a:rPr sz="900" b="0" i="1">
                <a:solidFill>
                  <a:srgbClr val="5A6472"/>
                </a:solidFill>
                <a:latin typeface="Calibri"/>
              </a:rPr>
              <a:t>Tool choice follows problem fit. No single stack is mandatory for every project.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10</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What makes a suitable industry problem?</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Understand the work before you choose the tool.</a:t>
            </a:r>
            <a:endParaRPr lang="en-US" sz="900" dirty="0"/>
          </a:p>
        </p:txBody>
      </p:sp>
      <p:sp>
        <p:nvSpPr>
          <p:cNvPr id="7" name="TextBox 6"/>
          <p:cNvSpPr txBox="1"/>
          <p:nvPr/>
        </p:nvSpPr>
        <p:spPr>
          <a:xfrm>
            <a:off x="502920" y="1517904"/>
            <a:ext cx="3931920" cy="182880"/>
          </a:xfrm>
          <a:prstGeom prst="rect">
            <a:avLst/>
          </a:prstGeom>
          <a:noFill/>
        </p:spPr>
        <p:txBody>
          <a:bodyPr wrap="square" lIns="0" tIns="0" rIns="0" bIns="0" anchor="t">
            <a:spAutoFit/>
          </a:bodyPr>
          <a:lstStyle/>
          <a:p>
            <a:pPr algn="l"/>
            <a:r>
              <a:rPr sz="850" b="1" i="0">
                <a:solidFill>
                  <a:srgbClr val="A9740A"/>
                </a:solidFill>
                <a:latin typeface="Calibri"/>
              </a:rPr>
              <a:t>A SUITABLE PROBLEM HAS</a:t>
            </a:r>
          </a:p>
        </p:txBody>
      </p:sp>
      <p:pic>
        <p:nvPicPr>
          <p:cNvPr id="8" name="Picture 7" descr="check_g.png"/>
          <p:cNvPicPr>
            <a:picLocks noChangeAspect="1"/>
          </p:cNvPicPr>
          <p:nvPr/>
        </p:nvPicPr>
        <p:blipFill>
          <a:blip r:embed="rId5"/>
          <a:stretch>
            <a:fillRect/>
          </a:stretch>
        </p:blipFill>
        <p:spPr>
          <a:xfrm>
            <a:off x="502920" y="1828800"/>
            <a:ext cx="237744" cy="237744"/>
          </a:xfrm>
          <a:prstGeom prst="rect">
            <a:avLst/>
          </a:prstGeom>
        </p:spPr>
      </p:pic>
      <p:sp>
        <p:nvSpPr>
          <p:cNvPr id="9" name="TextBox 8"/>
          <p:cNvSpPr txBox="1"/>
          <p:nvPr/>
        </p:nvSpPr>
        <p:spPr>
          <a:xfrm>
            <a:off x="868680" y="1810512"/>
            <a:ext cx="3886200" cy="384048"/>
          </a:xfrm>
          <a:prstGeom prst="rect">
            <a:avLst/>
          </a:prstGeom>
          <a:noFill/>
        </p:spPr>
        <p:txBody>
          <a:bodyPr wrap="square" lIns="0" tIns="0" rIns="0" bIns="0" anchor="t">
            <a:spAutoFit/>
          </a:bodyPr>
          <a:lstStyle/>
          <a:p>
            <a:pPr algn="l"/>
            <a:r>
              <a:rPr sz="1200" b="0" i="0">
                <a:solidFill>
                  <a:srgbClr val="3A4450"/>
                </a:solidFill>
                <a:latin typeface="Calibri"/>
              </a:rPr>
              <a:t>A </a:t>
            </a:r>
            <a:r>
              <a:rPr sz="1200" b="1" i="0">
                <a:solidFill>
                  <a:srgbClr val="1E4173"/>
                </a:solidFill>
                <a:latin typeface="Calibri"/>
              </a:rPr>
              <a:t>real organisation or practitioner</a:t>
            </a:r>
          </a:p>
        </p:txBody>
      </p:sp>
      <p:pic>
        <p:nvPicPr>
          <p:cNvPr id="10" name="Picture 9" descr="check_g.png"/>
          <p:cNvPicPr>
            <a:picLocks noChangeAspect="1"/>
          </p:cNvPicPr>
          <p:nvPr/>
        </p:nvPicPr>
        <p:blipFill>
          <a:blip r:embed="rId5"/>
          <a:stretch>
            <a:fillRect/>
          </a:stretch>
        </p:blipFill>
        <p:spPr>
          <a:xfrm>
            <a:off x="502920" y="2258568"/>
            <a:ext cx="237744" cy="237744"/>
          </a:xfrm>
          <a:prstGeom prst="rect">
            <a:avLst/>
          </a:prstGeom>
        </p:spPr>
      </p:pic>
      <p:sp>
        <p:nvSpPr>
          <p:cNvPr id="11" name="TextBox 10"/>
          <p:cNvSpPr txBox="1"/>
          <p:nvPr/>
        </p:nvSpPr>
        <p:spPr>
          <a:xfrm>
            <a:off x="868680" y="2240280"/>
            <a:ext cx="3886200" cy="384048"/>
          </a:xfrm>
          <a:prstGeom prst="rect">
            <a:avLst/>
          </a:prstGeom>
          <a:noFill/>
        </p:spPr>
        <p:txBody>
          <a:bodyPr wrap="square" lIns="0" tIns="0" rIns="0" bIns="0" anchor="t">
            <a:spAutoFit/>
          </a:bodyPr>
          <a:lstStyle/>
          <a:p>
            <a:pPr algn="l"/>
            <a:r>
              <a:rPr sz="1200" b="0" i="0">
                <a:solidFill>
                  <a:srgbClr val="3A4450"/>
                </a:solidFill>
                <a:latin typeface="Calibri"/>
              </a:rPr>
              <a:t>A </a:t>
            </a:r>
            <a:r>
              <a:rPr sz="1200" b="1" i="0">
                <a:solidFill>
                  <a:srgbClr val="1E4173"/>
                </a:solidFill>
                <a:latin typeface="Calibri"/>
              </a:rPr>
              <a:t>specific work process</a:t>
            </a:r>
          </a:p>
        </p:txBody>
      </p:sp>
      <p:pic>
        <p:nvPicPr>
          <p:cNvPr id="12" name="Picture 11" descr="check_g.png"/>
          <p:cNvPicPr>
            <a:picLocks noChangeAspect="1"/>
          </p:cNvPicPr>
          <p:nvPr/>
        </p:nvPicPr>
        <p:blipFill>
          <a:blip r:embed="rId5"/>
          <a:stretch>
            <a:fillRect/>
          </a:stretch>
        </p:blipFill>
        <p:spPr>
          <a:xfrm>
            <a:off x="502920" y="2688336"/>
            <a:ext cx="237744" cy="237744"/>
          </a:xfrm>
          <a:prstGeom prst="rect">
            <a:avLst/>
          </a:prstGeom>
        </p:spPr>
      </p:pic>
      <p:sp>
        <p:nvSpPr>
          <p:cNvPr id="13" name="TextBox 12"/>
          <p:cNvSpPr txBox="1"/>
          <p:nvPr/>
        </p:nvSpPr>
        <p:spPr>
          <a:xfrm>
            <a:off x="868680" y="2670048"/>
            <a:ext cx="3886200" cy="384048"/>
          </a:xfrm>
          <a:prstGeom prst="rect">
            <a:avLst/>
          </a:prstGeom>
          <a:noFill/>
        </p:spPr>
        <p:txBody>
          <a:bodyPr wrap="square" lIns="0" tIns="0" rIns="0" bIns="0" anchor="t">
            <a:spAutoFit/>
          </a:bodyPr>
          <a:lstStyle/>
          <a:p>
            <a:pPr algn="l"/>
            <a:r>
              <a:rPr sz="1200" b="0" i="0">
                <a:solidFill>
                  <a:srgbClr val="3A4450"/>
                </a:solidFill>
                <a:latin typeface="Calibri"/>
              </a:rPr>
              <a:t>A </a:t>
            </a:r>
            <a:r>
              <a:rPr sz="1200" b="1" i="0">
                <a:solidFill>
                  <a:srgbClr val="1E4173"/>
                </a:solidFill>
                <a:latin typeface="Calibri"/>
              </a:rPr>
              <a:t>clear difficulty or delay</a:t>
            </a:r>
          </a:p>
        </p:txBody>
      </p:sp>
      <p:pic>
        <p:nvPicPr>
          <p:cNvPr id="14" name="Picture 13" descr="check_g.png"/>
          <p:cNvPicPr>
            <a:picLocks noChangeAspect="1"/>
          </p:cNvPicPr>
          <p:nvPr/>
        </p:nvPicPr>
        <p:blipFill>
          <a:blip r:embed="rId5"/>
          <a:stretch>
            <a:fillRect/>
          </a:stretch>
        </p:blipFill>
        <p:spPr>
          <a:xfrm>
            <a:off x="502920" y="3118103"/>
            <a:ext cx="237744" cy="237744"/>
          </a:xfrm>
          <a:prstGeom prst="rect">
            <a:avLst/>
          </a:prstGeom>
        </p:spPr>
      </p:pic>
      <p:sp>
        <p:nvSpPr>
          <p:cNvPr id="15" name="TextBox 14"/>
          <p:cNvSpPr txBox="1"/>
          <p:nvPr/>
        </p:nvSpPr>
        <p:spPr>
          <a:xfrm>
            <a:off x="868680" y="3099815"/>
            <a:ext cx="3886200" cy="384048"/>
          </a:xfrm>
          <a:prstGeom prst="rect">
            <a:avLst/>
          </a:prstGeom>
          <a:noFill/>
        </p:spPr>
        <p:txBody>
          <a:bodyPr wrap="square" lIns="0" tIns="0" rIns="0" bIns="0" anchor="t">
            <a:spAutoFit/>
          </a:bodyPr>
          <a:lstStyle/>
          <a:p>
            <a:pPr algn="l"/>
            <a:r>
              <a:rPr sz="1200" b="0" i="0">
                <a:solidFill>
                  <a:srgbClr val="3A4450"/>
                </a:solidFill>
                <a:latin typeface="Calibri"/>
              </a:rPr>
              <a:t>Someone who can help you understand how the work happens</a:t>
            </a:r>
          </a:p>
        </p:txBody>
      </p:sp>
      <p:pic>
        <p:nvPicPr>
          <p:cNvPr id="16" name="Picture 15" descr="check_g.png"/>
          <p:cNvPicPr>
            <a:picLocks noChangeAspect="1"/>
          </p:cNvPicPr>
          <p:nvPr/>
        </p:nvPicPr>
        <p:blipFill>
          <a:blip r:embed="rId5"/>
          <a:stretch>
            <a:fillRect/>
          </a:stretch>
        </p:blipFill>
        <p:spPr>
          <a:xfrm>
            <a:off x="502920" y="3547872"/>
            <a:ext cx="237744" cy="237744"/>
          </a:xfrm>
          <a:prstGeom prst="rect">
            <a:avLst/>
          </a:prstGeom>
        </p:spPr>
      </p:pic>
      <p:sp>
        <p:nvSpPr>
          <p:cNvPr id="17" name="TextBox 16"/>
          <p:cNvSpPr txBox="1"/>
          <p:nvPr/>
        </p:nvSpPr>
        <p:spPr>
          <a:xfrm>
            <a:off x="868680" y="3529584"/>
            <a:ext cx="3886200" cy="384048"/>
          </a:xfrm>
          <a:prstGeom prst="rect">
            <a:avLst/>
          </a:prstGeom>
          <a:noFill/>
        </p:spPr>
        <p:txBody>
          <a:bodyPr wrap="square" lIns="0" tIns="0" rIns="0" bIns="0" anchor="t">
            <a:spAutoFit/>
          </a:bodyPr>
          <a:lstStyle/>
          <a:p>
            <a:pPr algn="l"/>
            <a:r>
              <a:rPr sz="1200" b="0" i="0">
                <a:solidFill>
                  <a:srgbClr val="3A4450"/>
                </a:solidFill>
                <a:latin typeface="Calibri"/>
              </a:rPr>
              <a:t>A solution that can be tested with </a:t>
            </a:r>
            <a:r>
              <a:rPr sz="1200" b="1" i="0">
                <a:solidFill>
                  <a:srgbClr val="1E4173"/>
                </a:solidFill>
                <a:latin typeface="Calibri"/>
              </a:rPr>
              <a:t>safe, permitted examples</a:t>
            </a:r>
          </a:p>
        </p:txBody>
      </p:sp>
      <p:sp>
        <p:nvSpPr>
          <p:cNvPr id="18" name="Rounded Rectangle 17"/>
          <p:cNvSpPr/>
          <p:nvPr/>
        </p:nvSpPr>
        <p:spPr>
          <a:xfrm>
            <a:off x="4892040" y="1517904"/>
            <a:ext cx="3749039" cy="868680"/>
          </a:xfrm>
          <a:prstGeom prst="roundRect">
            <a:avLst>
              <a:gd name="adj" fmla="val 10526"/>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9" name="TextBox 18"/>
          <p:cNvSpPr txBox="1"/>
          <p:nvPr/>
        </p:nvSpPr>
        <p:spPr>
          <a:xfrm>
            <a:off x="5120640" y="1627632"/>
            <a:ext cx="3291840" cy="182880"/>
          </a:xfrm>
          <a:prstGeom prst="rect">
            <a:avLst/>
          </a:prstGeom>
          <a:noFill/>
        </p:spPr>
        <p:txBody>
          <a:bodyPr wrap="square" lIns="0" tIns="0" rIns="0" bIns="0" anchor="t">
            <a:spAutoFit/>
          </a:bodyPr>
          <a:lstStyle/>
          <a:p>
            <a:pPr algn="l"/>
            <a:r>
              <a:rPr sz="850" b="1" i="0">
                <a:solidFill>
                  <a:srgbClr val="5A6472"/>
                </a:solidFill>
                <a:latin typeface="Calibri"/>
              </a:rPr>
              <a:t>TOO BROAD</a:t>
            </a:r>
          </a:p>
        </p:txBody>
      </p:sp>
      <p:sp>
        <p:nvSpPr>
          <p:cNvPr id="20" name="TextBox 19"/>
          <p:cNvSpPr txBox="1"/>
          <p:nvPr/>
        </p:nvSpPr>
        <p:spPr>
          <a:xfrm>
            <a:off x="5120640" y="1847088"/>
            <a:ext cx="3291840" cy="411480"/>
          </a:xfrm>
          <a:prstGeom prst="rect">
            <a:avLst/>
          </a:prstGeom>
          <a:noFill/>
        </p:spPr>
        <p:txBody>
          <a:bodyPr wrap="square" lIns="0" tIns="0" rIns="0" bIns="0" anchor="t">
            <a:spAutoFit/>
          </a:bodyPr>
          <a:lstStyle/>
          <a:p>
            <a:pPr algn="l"/>
            <a:r>
              <a:rPr sz="1700" b="0" i="1">
                <a:solidFill>
                  <a:srgbClr val="5A6472"/>
                </a:solidFill>
                <a:latin typeface="Cambria"/>
              </a:rPr>
              <a:t>“HR needs AI.”</a:t>
            </a:r>
          </a:p>
        </p:txBody>
      </p:sp>
      <p:sp>
        <p:nvSpPr>
          <p:cNvPr id="21" name="Down Arrow 20"/>
          <p:cNvSpPr/>
          <p:nvPr/>
        </p:nvSpPr>
        <p:spPr>
          <a:xfrm>
            <a:off x="6647688" y="2468880"/>
            <a:ext cx="237744" cy="274320"/>
          </a:xfrm>
          <a:prstGeom prst="downArrow">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2" name="Rounded Rectangle 21"/>
          <p:cNvSpPr/>
          <p:nvPr/>
        </p:nvSpPr>
        <p:spPr>
          <a:xfrm>
            <a:off x="4892040" y="2816352"/>
            <a:ext cx="3749039" cy="1115568"/>
          </a:xfrm>
          <a:prstGeom prst="roundRect">
            <a:avLst>
              <a:gd name="adj" fmla="val 8196"/>
            </a:avLst>
          </a:prstGeom>
          <a:solidFill>
            <a:srgbClr val="E6ECF5"/>
          </a:solidFill>
          <a:ln w="15875">
            <a:solidFill>
              <a:srgbClr val="1E4173"/>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3" name="TextBox 22"/>
          <p:cNvSpPr txBox="1"/>
          <p:nvPr/>
        </p:nvSpPr>
        <p:spPr>
          <a:xfrm>
            <a:off x="5120640" y="2926080"/>
            <a:ext cx="3291840" cy="182880"/>
          </a:xfrm>
          <a:prstGeom prst="rect">
            <a:avLst/>
          </a:prstGeom>
          <a:noFill/>
        </p:spPr>
        <p:txBody>
          <a:bodyPr wrap="square" lIns="0" tIns="0" rIns="0" bIns="0" anchor="t">
            <a:spAutoFit/>
          </a:bodyPr>
          <a:lstStyle/>
          <a:p>
            <a:pPr algn="l"/>
            <a:r>
              <a:rPr sz="800" b="1" i="0">
                <a:solidFill>
                  <a:srgbClr val="1E4173"/>
                </a:solidFill>
                <a:latin typeface="Calibri"/>
              </a:rPr>
              <a:t>BETTER STARTING POINT · SPECIFIC ENOUGH TO INVESTIGATE</a:t>
            </a:r>
          </a:p>
        </p:txBody>
      </p:sp>
      <p:sp>
        <p:nvSpPr>
          <p:cNvPr id="24" name="TextBox 23"/>
          <p:cNvSpPr txBox="1"/>
          <p:nvPr/>
        </p:nvSpPr>
        <p:spPr>
          <a:xfrm>
            <a:off x="5120640" y="3145536"/>
            <a:ext cx="3337560" cy="731520"/>
          </a:xfrm>
          <a:prstGeom prst="rect">
            <a:avLst/>
          </a:prstGeom>
          <a:noFill/>
        </p:spPr>
        <p:txBody>
          <a:bodyPr wrap="square" lIns="0" tIns="0" rIns="0" bIns="0" anchor="t">
            <a:spAutoFit/>
          </a:bodyPr>
          <a:lstStyle/>
          <a:p>
            <a:pPr algn="l"/>
            <a:r>
              <a:rPr sz="1400" b="1" i="0">
                <a:solidFill>
                  <a:srgbClr val="1E4173"/>
                </a:solidFill>
                <a:latin typeface="Cambria"/>
              </a:rPr>
              <a:t>“Recruiters spend time checking incomplete applications before interviews.”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11</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Industry conversations begin on Day 1</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Do not wait until WIP 1 to find a problem.</a:t>
            </a:r>
            <a:endParaRPr lang="en-US" sz="900" dirty="0"/>
          </a:p>
        </p:txBody>
      </p:sp>
      <p:sp>
        <p:nvSpPr>
          <p:cNvPr id="7" name="TextBox 6"/>
          <p:cNvSpPr txBox="1"/>
          <p:nvPr/>
        </p:nvSpPr>
        <p:spPr>
          <a:xfrm>
            <a:off x="502920" y="1517904"/>
            <a:ext cx="5029200" cy="182880"/>
          </a:xfrm>
          <a:prstGeom prst="rect">
            <a:avLst/>
          </a:prstGeom>
          <a:noFill/>
        </p:spPr>
        <p:txBody>
          <a:bodyPr wrap="square" lIns="0" tIns="0" rIns="0" bIns="0" anchor="t">
            <a:spAutoFit/>
          </a:bodyPr>
          <a:lstStyle/>
          <a:p>
            <a:pPr algn="l"/>
            <a:r>
              <a:rPr sz="850" b="1" i="0">
                <a:solidFill>
                  <a:srgbClr val="A9740A"/>
                </a:solidFill>
                <a:latin typeface="Calibri"/>
              </a:rPr>
              <a:t>STARTING TODAY, YOUR TEAM SHOULD</a:t>
            </a:r>
          </a:p>
        </p:txBody>
      </p:sp>
      <p:sp>
        <p:nvSpPr>
          <p:cNvPr id="8" name="Oval 7"/>
          <p:cNvSpPr/>
          <p:nvPr/>
        </p:nvSpPr>
        <p:spPr>
          <a:xfrm>
            <a:off x="502920" y="1773936"/>
            <a:ext cx="292608" cy="29260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FFFFFF"/>
                </a:solidFill>
                <a:latin typeface="Calibri"/>
              </a:rPr>
              <a:t>1</a:t>
            </a:r>
          </a:p>
        </p:txBody>
      </p:sp>
      <p:sp>
        <p:nvSpPr>
          <p:cNvPr id="9" name="TextBox 8"/>
          <p:cNvSpPr txBox="1"/>
          <p:nvPr/>
        </p:nvSpPr>
        <p:spPr>
          <a:xfrm>
            <a:off x="960120" y="1801368"/>
            <a:ext cx="4572000" cy="384048"/>
          </a:xfrm>
          <a:prstGeom prst="rect">
            <a:avLst/>
          </a:prstGeom>
          <a:noFill/>
        </p:spPr>
        <p:txBody>
          <a:bodyPr wrap="square" lIns="0" tIns="0" rIns="0" bIns="0" anchor="t">
            <a:spAutoFit/>
          </a:bodyPr>
          <a:lstStyle/>
          <a:p>
            <a:pPr algn="l"/>
            <a:r>
              <a:rPr sz="1250" b="0" i="0">
                <a:solidFill>
                  <a:srgbClr val="3A4450"/>
                </a:solidFill>
                <a:latin typeface="Calibri"/>
              </a:rPr>
              <a:t>Choose a sector or type of organisation.</a:t>
            </a:r>
          </a:p>
        </p:txBody>
      </p:sp>
      <p:sp>
        <p:nvSpPr>
          <p:cNvPr id="10" name="Oval 9"/>
          <p:cNvSpPr/>
          <p:nvPr/>
        </p:nvSpPr>
        <p:spPr>
          <a:xfrm>
            <a:off x="502920" y="2231136"/>
            <a:ext cx="292608" cy="29260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FFFFFF"/>
                </a:solidFill>
                <a:latin typeface="Calibri"/>
              </a:rPr>
              <a:t>2</a:t>
            </a:r>
          </a:p>
        </p:txBody>
      </p:sp>
      <p:sp>
        <p:nvSpPr>
          <p:cNvPr id="11" name="TextBox 10"/>
          <p:cNvSpPr txBox="1"/>
          <p:nvPr/>
        </p:nvSpPr>
        <p:spPr>
          <a:xfrm>
            <a:off x="960120" y="2258568"/>
            <a:ext cx="4572000" cy="384048"/>
          </a:xfrm>
          <a:prstGeom prst="rect">
            <a:avLst/>
          </a:prstGeom>
          <a:noFill/>
        </p:spPr>
        <p:txBody>
          <a:bodyPr wrap="square" lIns="0" tIns="0" rIns="0" bIns="0" anchor="t">
            <a:spAutoFit/>
          </a:bodyPr>
          <a:lstStyle/>
          <a:p>
            <a:pPr algn="l"/>
            <a:r>
              <a:rPr sz="1250" b="0" i="0">
                <a:solidFill>
                  <a:srgbClr val="3A4450"/>
                </a:solidFill>
                <a:latin typeface="Calibri"/>
              </a:rPr>
              <a:t>Identify relevant practitioners.</a:t>
            </a:r>
          </a:p>
        </p:txBody>
      </p:sp>
      <p:sp>
        <p:nvSpPr>
          <p:cNvPr id="12" name="Oval 11"/>
          <p:cNvSpPr/>
          <p:nvPr/>
        </p:nvSpPr>
        <p:spPr>
          <a:xfrm>
            <a:off x="502920" y="2688336"/>
            <a:ext cx="292608" cy="29260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FFFFFF"/>
                </a:solidFill>
                <a:latin typeface="Calibri"/>
              </a:rPr>
              <a:t>3</a:t>
            </a:r>
          </a:p>
        </p:txBody>
      </p:sp>
      <p:sp>
        <p:nvSpPr>
          <p:cNvPr id="13" name="TextBox 12"/>
          <p:cNvSpPr txBox="1"/>
          <p:nvPr/>
        </p:nvSpPr>
        <p:spPr>
          <a:xfrm>
            <a:off x="960120" y="2715768"/>
            <a:ext cx="4572000" cy="384048"/>
          </a:xfrm>
          <a:prstGeom prst="rect">
            <a:avLst/>
          </a:prstGeom>
          <a:noFill/>
        </p:spPr>
        <p:txBody>
          <a:bodyPr wrap="square" lIns="0" tIns="0" rIns="0" bIns="0" anchor="t">
            <a:spAutoFit/>
          </a:bodyPr>
          <a:lstStyle/>
          <a:p>
            <a:pPr algn="l"/>
            <a:r>
              <a:rPr sz="1250" b="0" i="0">
                <a:solidFill>
                  <a:srgbClr val="3A4450"/>
                </a:solidFill>
                <a:latin typeface="Calibri"/>
              </a:rPr>
              <a:t>Send a short request for a conversation </a:t>
            </a:r>
            <a:r>
              <a:rPr sz="1250" b="1" i="0">
                <a:solidFill>
                  <a:srgbClr val="1E4173"/>
                </a:solidFill>
                <a:latin typeface="Calibri"/>
              </a:rPr>
              <a:t>from your FIIB email</a:t>
            </a:r>
            <a:r>
              <a:rPr sz="1250" b="0" i="0">
                <a:solidFill>
                  <a:srgbClr val="3A4450"/>
                </a:solidFill>
                <a:latin typeface="Calibri"/>
              </a:rPr>
              <a:t>.</a:t>
            </a:r>
          </a:p>
        </p:txBody>
      </p:sp>
      <p:sp>
        <p:nvSpPr>
          <p:cNvPr id="14" name="Oval 13"/>
          <p:cNvSpPr/>
          <p:nvPr/>
        </p:nvSpPr>
        <p:spPr>
          <a:xfrm>
            <a:off x="502920" y="3145536"/>
            <a:ext cx="292608" cy="29260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FFFFFF"/>
                </a:solidFill>
                <a:latin typeface="Calibri"/>
              </a:rPr>
              <a:t>4</a:t>
            </a:r>
          </a:p>
        </p:txBody>
      </p:sp>
      <p:sp>
        <p:nvSpPr>
          <p:cNvPr id="15" name="TextBox 14"/>
          <p:cNvSpPr txBox="1"/>
          <p:nvPr/>
        </p:nvSpPr>
        <p:spPr>
          <a:xfrm>
            <a:off x="960120" y="3172968"/>
            <a:ext cx="4572000" cy="384048"/>
          </a:xfrm>
          <a:prstGeom prst="rect">
            <a:avLst/>
          </a:prstGeom>
          <a:noFill/>
        </p:spPr>
        <p:txBody>
          <a:bodyPr wrap="square" lIns="0" tIns="0" rIns="0" bIns="0" anchor="t">
            <a:spAutoFit/>
          </a:bodyPr>
          <a:lstStyle/>
          <a:p>
            <a:pPr algn="l"/>
            <a:r>
              <a:rPr sz="1250" b="0" i="0">
                <a:solidFill>
                  <a:srgbClr val="3A4450"/>
                </a:solidFill>
                <a:latin typeface="Calibri"/>
              </a:rPr>
              <a:t>Ask about a </a:t>
            </a:r>
            <a:r>
              <a:rPr sz="1250" b="1" i="0">
                <a:solidFill>
                  <a:srgbClr val="1E4173"/>
                </a:solidFill>
                <a:latin typeface="Calibri"/>
              </a:rPr>
              <a:t>work process</a:t>
            </a:r>
            <a:r>
              <a:rPr sz="1250" b="0" i="0">
                <a:solidFill>
                  <a:srgbClr val="3A4450"/>
                </a:solidFill>
                <a:latin typeface="Calibri"/>
              </a:rPr>
              <a:t>, its difficulties, and how success is measured.</a:t>
            </a:r>
          </a:p>
        </p:txBody>
      </p:sp>
      <p:sp>
        <p:nvSpPr>
          <p:cNvPr id="16" name="Oval 15"/>
          <p:cNvSpPr/>
          <p:nvPr/>
        </p:nvSpPr>
        <p:spPr>
          <a:xfrm>
            <a:off x="502920" y="3602736"/>
            <a:ext cx="292608" cy="292608"/>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i="0">
                <a:solidFill>
                  <a:srgbClr val="FFFFFF"/>
                </a:solidFill>
                <a:latin typeface="Calibri"/>
              </a:rPr>
              <a:t>5</a:t>
            </a:r>
          </a:p>
        </p:txBody>
      </p:sp>
      <p:sp>
        <p:nvSpPr>
          <p:cNvPr id="17" name="TextBox 16"/>
          <p:cNvSpPr txBox="1"/>
          <p:nvPr/>
        </p:nvSpPr>
        <p:spPr>
          <a:xfrm>
            <a:off x="960120" y="3630168"/>
            <a:ext cx="4572000" cy="384048"/>
          </a:xfrm>
          <a:prstGeom prst="rect">
            <a:avLst/>
          </a:prstGeom>
          <a:noFill/>
        </p:spPr>
        <p:txBody>
          <a:bodyPr wrap="square" lIns="0" tIns="0" rIns="0" bIns="0" anchor="t">
            <a:spAutoFit/>
          </a:bodyPr>
          <a:lstStyle/>
          <a:p>
            <a:pPr algn="l"/>
            <a:r>
              <a:rPr sz="1250" b="1" i="0">
                <a:solidFill>
                  <a:srgbClr val="1E4173"/>
                </a:solidFill>
                <a:latin typeface="Calibri"/>
              </a:rPr>
              <a:t>Keep the official email trail</a:t>
            </a:r>
            <a:r>
              <a:rPr sz="1250" b="0" i="0">
                <a:solidFill>
                  <a:srgbClr val="3A4450"/>
                </a:solidFill>
                <a:latin typeface="Calibri"/>
              </a:rPr>
              <a:t> and a dated record of the conversation and next steps.</a:t>
            </a:r>
          </a:p>
        </p:txBody>
      </p:sp>
      <p:sp>
        <p:nvSpPr>
          <p:cNvPr id="18" name="Rounded Rectangle 17"/>
          <p:cNvSpPr/>
          <p:nvPr/>
        </p:nvSpPr>
        <p:spPr>
          <a:xfrm>
            <a:off x="5897880" y="1517904"/>
            <a:ext cx="2743200" cy="2395728"/>
          </a:xfrm>
          <a:prstGeom prst="roundRect">
            <a:avLst>
              <a:gd name="adj" fmla="val 4580"/>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19" name="Oval 18"/>
          <p:cNvSpPr/>
          <p:nvPr/>
        </p:nvSpPr>
        <p:spPr>
          <a:xfrm>
            <a:off x="6126480" y="1719072"/>
            <a:ext cx="457200" cy="457200"/>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pic>
        <p:nvPicPr>
          <p:cNvPr id="20" name="Picture 19" descr="handshake_w.png"/>
          <p:cNvPicPr>
            <a:picLocks noChangeAspect="1"/>
          </p:cNvPicPr>
          <p:nvPr/>
        </p:nvPicPr>
        <p:blipFill>
          <a:blip r:embed="rId5"/>
          <a:stretch>
            <a:fillRect/>
          </a:stretch>
        </p:blipFill>
        <p:spPr>
          <a:xfrm>
            <a:off x="6245352" y="1837943"/>
            <a:ext cx="219456" cy="219456"/>
          </a:xfrm>
          <a:prstGeom prst="rect">
            <a:avLst/>
          </a:prstGeom>
        </p:spPr>
      </p:pic>
      <p:sp>
        <p:nvSpPr>
          <p:cNvPr id="21" name="TextBox 20"/>
          <p:cNvSpPr txBox="1"/>
          <p:nvPr/>
        </p:nvSpPr>
        <p:spPr>
          <a:xfrm>
            <a:off x="6126480" y="2286000"/>
            <a:ext cx="2331720" cy="566928"/>
          </a:xfrm>
          <a:prstGeom prst="rect">
            <a:avLst/>
          </a:prstGeom>
          <a:noFill/>
        </p:spPr>
        <p:txBody>
          <a:bodyPr wrap="square" lIns="0" tIns="0" rIns="0" bIns="0" anchor="t">
            <a:spAutoFit/>
          </a:bodyPr>
          <a:lstStyle/>
          <a:p>
            <a:pPr algn="l"/>
            <a:r>
              <a:rPr sz="1400" b="1" i="0">
                <a:solidFill>
                  <a:srgbClr val="FFFFFF"/>
                </a:solidFill>
                <a:latin typeface="Cambria"/>
              </a:rPr>
              <a:t>Ask about the work, not for “an AI project”.</a:t>
            </a:r>
          </a:p>
        </p:txBody>
      </p:sp>
      <p:sp>
        <p:nvSpPr>
          <p:cNvPr id="22" name="TextBox 21"/>
          <p:cNvSpPr txBox="1"/>
          <p:nvPr/>
        </p:nvSpPr>
        <p:spPr>
          <a:xfrm>
            <a:off x="6126480" y="2926080"/>
            <a:ext cx="2331720" cy="914400"/>
          </a:xfrm>
          <a:prstGeom prst="rect">
            <a:avLst/>
          </a:prstGeom>
          <a:noFill/>
        </p:spPr>
        <p:txBody>
          <a:bodyPr wrap="square" lIns="0" tIns="0" rIns="0" bIns="0" anchor="t">
            <a:spAutoFit/>
          </a:bodyPr>
          <a:lstStyle/>
          <a:p>
            <a:pPr algn="l"/>
            <a:r>
              <a:rPr sz="1050" b="1" i="0">
                <a:solidFill>
                  <a:srgbClr val="F2D28B"/>
                </a:solidFill>
                <a:latin typeface="Calibri"/>
              </a:rPr>
              <a:t>Good opening questions:</a:t>
            </a:r>
          </a:p>
          <a:p>
            <a:pPr algn="l"/>
            <a:r>
              <a:rPr sz="1050" b="0" i="0">
                <a:solidFill>
                  <a:srgbClr val="FFFFFF"/>
                </a:solidFill>
                <a:latin typeface="Calibri"/>
              </a:rPr>
              <a:t>What are the steps?</a:t>
            </a:r>
          </a:p>
          <a:p>
            <a:pPr algn="l"/>
            <a:r>
              <a:rPr sz="1050" b="0" i="0">
                <a:solidFill>
                  <a:srgbClr val="FFFFFF"/>
                </a:solidFill>
                <a:latin typeface="Calibri"/>
              </a:rPr>
              <a:t>Where does it slow down?</a:t>
            </a:r>
          </a:p>
          <a:p>
            <a:pPr algn="l"/>
            <a:r>
              <a:rPr sz="1050" b="0" i="0">
                <a:solidFill>
                  <a:srgbClr val="FFFFFF"/>
                </a:solidFill>
                <a:latin typeface="Calibri"/>
              </a:rPr>
              <a:t>How do you measure success?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12</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What proof must you keep?</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Maintain a cumulative physical evidence folder throughout the project.</a:t>
            </a:r>
            <a:endParaRPr lang="en-US" sz="900" dirty="0"/>
          </a:p>
        </p:txBody>
      </p:sp>
      <p:sp>
        <p:nvSpPr>
          <p:cNvPr id="11" name="Shape 8"/>
          <p:cNvSpPr/>
          <p:nvPr/>
        </p:nvSpPr>
        <p:spPr>
          <a:xfrm>
            <a:off x="502920" y="3968496"/>
            <a:ext cx="8138160" cy="384048"/>
          </a:xfrm>
          <a:prstGeom prst="roundRect">
            <a:avLst>
              <a:gd name="adj" fmla="val 9524"/>
            </a:avLst>
          </a:prstGeom>
          <a:solidFill>
            <a:srgbClr val="1E4173"/>
          </a:solidFill>
          <a:ln w="9525">
            <a:solidFill>
              <a:srgbClr val="1E4173"/>
            </a:solidFill>
            <a:prstDash val="solid"/>
          </a:ln>
        </p:spPr>
        <p:txBody>
          <a:bodyPr/>
          <a:p/>
        </p:txBody>
      </p:sp>
      <p:sp>
        <p:nvSpPr>
          <p:cNvPr id="12" name="Text 9"/>
          <p:cNvSpPr/>
          <p:nvPr/>
        </p:nvSpPr>
        <p:spPr>
          <a:xfrm>
            <a:off x="667512" y="3968496"/>
            <a:ext cx="7808976" cy="384048"/>
          </a:xfrm>
          <a:prstGeom prst="rect">
            <a:avLst/>
          </a:prstGeom>
          <a:noFill/>
          <a:ln/>
        </p:spPr>
        <p:txBody>
          <a:bodyPr wrap="square" lIns="0" tIns="0" rIns="0" bIns="0" rtlCol="0" anchor="ctr"/>
          <a:lstStyle/>
          <a:p>
            <a:pPr marL="0" indent="0">
              <a:buNone/>
            </a:pPr>
            <a:r>
              <a:rPr lang="en-US" sz="950" b="1" i="1" dirty="0">
                <a:solidFill>
                  <a:srgbClr val="FFFFFF"/>
                </a:solidFill>
                <a:latin typeface="Calibri" pitchFamily="34" charset="0"/>
                <a:ea typeface="Calibri" pitchFamily="34" charset="-122"/>
                <a:cs typeface="Calibri" pitchFamily="34" charset="-120"/>
              </a:rPr>
              <a:t>“We spoke to someone” is not proof.</a:t>
            </a:r>
            <a:endParaRPr lang="en-US" sz="950" dirty="0"/>
          </a:p>
        </p:txBody>
      </p:sp>
      <p:sp>
        <p:nvSpPr>
          <p:cNvPr id="13" name="Rounded Rectangle 12"/>
          <p:cNvSpPr/>
          <p:nvPr/>
        </p:nvSpPr>
        <p:spPr>
          <a:xfrm>
            <a:off x="502920" y="1481328"/>
            <a:ext cx="4617720" cy="2395728"/>
          </a:xfrm>
          <a:prstGeom prst="roundRect">
            <a:avLst>
              <a:gd name="adj" fmla="val 3816"/>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14" name="Picture 13" descr="image.png"/>
          <p:cNvPicPr>
            <a:picLocks noChangeAspect="1"/>
          </p:cNvPicPr>
          <p:nvPr/>
        </p:nvPicPr>
        <p:blipFill>
          <a:blip r:embed="rId5"/>
          <a:stretch>
            <a:fillRect/>
          </a:stretch>
        </p:blipFill>
        <p:spPr>
          <a:xfrm>
            <a:off x="658368" y="1572768"/>
            <a:ext cx="310896" cy="310896"/>
          </a:xfrm>
          <a:prstGeom prst="rect">
            <a:avLst/>
          </a:prstGeom>
        </p:spPr>
      </p:pic>
      <p:sp>
        <p:nvSpPr>
          <p:cNvPr id="15" name="TextBox 14"/>
          <p:cNvSpPr txBox="1"/>
          <p:nvPr/>
        </p:nvSpPr>
        <p:spPr>
          <a:xfrm>
            <a:off x="1060704" y="1572768"/>
            <a:ext cx="3931920" cy="310896"/>
          </a:xfrm>
          <a:prstGeom prst="rect">
            <a:avLst/>
          </a:prstGeom>
          <a:noFill/>
        </p:spPr>
        <p:txBody>
          <a:bodyPr wrap="square" lIns="0" rIns="0" tIns="0" bIns="0" anchor="ctr">
            <a:spAutoFit/>
          </a:bodyPr>
          <a:lstStyle/>
          <a:p>
            <a:pPr algn="l"/>
            <a:r>
              <a:rPr sz="1200" b="1" i="0">
                <a:solidFill>
                  <a:srgbClr val="1E4173"/>
                </a:solidFill>
                <a:latin typeface="Calibri"/>
              </a:rPr>
              <a:t>Team project folder</a:t>
            </a:r>
            <a:r>
              <a:rPr sz="950" b="0" i="1">
                <a:solidFill>
                  <a:srgbClr val="5A6472"/>
                </a:solidFill>
                <a:latin typeface="Calibri"/>
              </a:rPr>
              <a:t>   ·   cumulative, WIP 1 to the final assessment</a:t>
            </a:r>
          </a:p>
        </p:txBody>
      </p:sp>
      <p:pic>
        <p:nvPicPr>
          <p:cNvPr id="16" name="Picture 15" descr="image.png"/>
          <p:cNvPicPr>
            <a:picLocks noChangeAspect="1"/>
          </p:cNvPicPr>
          <p:nvPr/>
        </p:nvPicPr>
        <p:blipFill>
          <a:blip r:embed="rId6"/>
          <a:stretch>
            <a:fillRect/>
          </a:stretch>
        </p:blipFill>
        <p:spPr>
          <a:xfrm>
            <a:off x="685800" y="1984248"/>
            <a:ext cx="182880" cy="182880"/>
          </a:xfrm>
          <a:prstGeom prst="rect">
            <a:avLst/>
          </a:prstGeom>
        </p:spPr>
      </p:pic>
      <p:sp>
        <p:nvSpPr>
          <p:cNvPr id="17" name="TextBox 16"/>
          <p:cNvSpPr txBox="1"/>
          <p:nvPr/>
        </p:nvSpPr>
        <p:spPr>
          <a:xfrm>
            <a:off x="960120" y="1956816"/>
            <a:ext cx="777240" cy="237744"/>
          </a:xfrm>
          <a:prstGeom prst="rect">
            <a:avLst/>
          </a:prstGeom>
          <a:noFill/>
        </p:spPr>
        <p:txBody>
          <a:bodyPr wrap="square" lIns="0" rIns="0" tIns="0" bIns="0" anchor="t">
            <a:spAutoFit/>
          </a:bodyPr>
          <a:lstStyle/>
          <a:p>
            <a:pPr algn="l"/>
            <a:r>
              <a:rPr sz="1050" b="1" i="0">
                <a:solidFill>
                  <a:srgbClr val="1E4173"/>
                </a:solidFill>
                <a:latin typeface="Calibri"/>
              </a:rPr>
              <a:t>Outreach</a:t>
            </a:r>
          </a:p>
        </p:txBody>
      </p:sp>
      <p:sp>
        <p:nvSpPr>
          <p:cNvPr id="18" name="TextBox 17"/>
          <p:cNvSpPr txBox="1"/>
          <p:nvPr/>
        </p:nvSpPr>
        <p:spPr>
          <a:xfrm>
            <a:off x="1755648" y="1965960"/>
            <a:ext cx="3246120" cy="365760"/>
          </a:xfrm>
          <a:prstGeom prst="rect">
            <a:avLst/>
          </a:prstGeom>
          <a:noFill/>
        </p:spPr>
        <p:txBody>
          <a:bodyPr wrap="square" lIns="0" rIns="0" tIns="0" bIns="0" anchor="t">
            <a:spAutoFit/>
          </a:bodyPr>
          <a:lstStyle/>
          <a:p>
            <a:pPr algn="l"/>
            <a:r>
              <a:rPr sz="950" b="0" i="0">
                <a:solidFill>
                  <a:srgbClr val="3A4450"/>
                </a:solidFill>
                <a:latin typeface="Calibri"/>
              </a:rPr>
              <a:t>Outreach emails, practitioner replies, meeting invites and dates, official communication trail</a:t>
            </a:r>
          </a:p>
        </p:txBody>
      </p:sp>
      <p:pic>
        <p:nvPicPr>
          <p:cNvPr id="19" name="Picture 18" descr="image.png"/>
          <p:cNvPicPr>
            <a:picLocks noChangeAspect="1"/>
          </p:cNvPicPr>
          <p:nvPr/>
        </p:nvPicPr>
        <p:blipFill>
          <a:blip r:embed="rId6"/>
          <a:stretch>
            <a:fillRect/>
          </a:stretch>
        </p:blipFill>
        <p:spPr>
          <a:xfrm>
            <a:off x="685800" y="2359152"/>
            <a:ext cx="182880" cy="182880"/>
          </a:xfrm>
          <a:prstGeom prst="rect">
            <a:avLst/>
          </a:prstGeom>
        </p:spPr>
      </p:pic>
      <p:sp>
        <p:nvSpPr>
          <p:cNvPr id="20" name="TextBox 19"/>
          <p:cNvSpPr txBox="1"/>
          <p:nvPr/>
        </p:nvSpPr>
        <p:spPr>
          <a:xfrm>
            <a:off x="960120" y="2331720"/>
            <a:ext cx="777240" cy="237744"/>
          </a:xfrm>
          <a:prstGeom prst="rect">
            <a:avLst/>
          </a:prstGeom>
          <a:noFill/>
        </p:spPr>
        <p:txBody>
          <a:bodyPr wrap="square" lIns="0" rIns="0" tIns="0" bIns="0" anchor="t">
            <a:spAutoFit/>
          </a:bodyPr>
          <a:lstStyle/>
          <a:p>
            <a:pPr algn="l"/>
            <a:r>
              <a:rPr sz="1050" b="1" i="0">
                <a:solidFill>
                  <a:srgbClr val="1E4173"/>
                </a:solidFill>
                <a:latin typeface="Calibri"/>
              </a:rPr>
              <a:t>Problem</a:t>
            </a:r>
          </a:p>
        </p:txBody>
      </p:sp>
      <p:sp>
        <p:nvSpPr>
          <p:cNvPr id="21" name="TextBox 20"/>
          <p:cNvSpPr txBox="1"/>
          <p:nvPr/>
        </p:nvSpPr>
        <p:spPr>
          <a:xfrm>
            <a:off x="1755648" y="2340864"/>
            <a:ext cx="3246120" cy="365760"/>
          </a:xfrm>
          <a:prstGeom prst="rect">
            <a:avLst/>
          </a:prstGeom>
          <a:noFill/>
        </p:spPr>
        <p:txBody>
          <a:bodyPr wrap="square" lIns="0" rIns="0" tIns="0" bIns="0" anchor="t">
            <a:spAutoFit/>
          </a:bodyPr>
          <a:lstStyle/>
          <a:p>
            <a:pPr algn="l"/>
            <a:r>
              <a:rPr sz="950" b="0" i="0">
                <a:solidFill>
                  <a:srgbClr val="3A4450"/>
                </a:solidFill>
                <a:latin typeface="Calibri"/>
              </a:rPr>
              <a:t>Project charter, organisation and contact, scope, team roles, current-process evidence, dated notes, sources</a:t>
            </a:r>
          </a:p>
        </p:txBody>
      </p:sp>
      <p:pic>
        <p:nvPicPr>
          <p:cNvPr id="22" name="Picture 21" descr="image.png"/>
          <p:cNvPicPr>
            <a:picLocks noChangeAspect="1"/>
          </p:cNvPicPr>
          <p:nvPr/>
        </p:nvPicPr>
        <p:blipFill>
          <a:blip r:embed="rId6"/>
          <a:stretch>
            <a:fillRect/>
          </a:stretch>
        </p:blipFill>
        <p:spPr>
          <a:xfrm>
            <a:off x="685800" y="2734056"/>
            <a:ext cx="182880" cy="182880"/>
          </a:xfrm>
          <a:prstGeom prst="rect">
            <a:avLst/>
          </a:prstGeom>
        </p:spPr>
      </p:pic>
      <p:sp>
        <p:nvSpPr>
          <p:cNvPr id="23" name="TextBox 22"/>
          <p:cNvSpPr txBox="1"/>
          <p:nvPr/>
        </p:nvSpPr>
        <p:spPr>
          <a:xfrm>
            <a:off x="960120" y="2706624"/>
            <a:ext cx="777240" cy="237744"/>
          </a:xfrm>
          <a:prstGeom prst="rect">
            <a:avLst/>
          </a:prstGeom>
          <a:noFill/>
        </p:spPr>
        <p:txBody>
          <a:bodyPr wrap="square" lIns="0" rIns="0" tIns="0" bIns="0" anchor="t">
            <a:spAutoFit/>
          </a:bodyPr>
          <a:lstStyle/>
          <a:p>
            <a:pPr algn="l"/>
            <a:r>
              <a:rPr sz="1050" b="1" i="0">
                <a:solidFill>
                  <a:srgbClr val="1E4173"/>
                </a:solidFill>
                <a:latin typeface="Calibri"/>
              </a:rPr>
              <a:t>Build</a:t>
            </a:r>
          </a:p>
        </p:txBody>
      </p:sp>
      <p:sp>
        <p:nvSpPr>
          <p:cNvPr id="24" name="TextBox 23"/>
          <p:cNvSpPr txBox="1"/>
          <p:nvPr/>
        </p:nvSpPr>
        <p:spPr>
          <a:xfrm>
            <a:off x="1755648" y="2715768"/>
            <a:ext cx="3246120" cy="365760"/>
          </a:xfrm>
          <a:prstGeom prst="rect">
            <a:avLst/>
          </a:prstGeom>
          <a:noFill/>
        </p:spPr>
        <p:txBody>
          <a:bodyPr wrap="square" lIns="0" rIns="0" tIns="0" bIns="0" anchor="t">
            <a:spAutoFit/>
          </a:bodyPr>
          <a:lstStyle/>
          <a:p>
            <a:pPr algn="l"/>
            <a:r>
              <a:rPr sz="950" b="0" i="0">
                <a:solidFill>
                  <a:srgbClr val="3A4450"/>
                </a:solidFill>
                <a:latin typeface="Calibri"/>
              </a:rPr>
              <a:t>Future-state workflow, architecture and methodology decisions, prototype evidence, versions</a:t>
            </a:r>
          </a:p>
        </p:txBody>
      </p:sp>
      <p:pic>
        <p:nvPicPr>
          <p:cNvPr id="25" name="Picture 24" descr="image.png"/>
          <p:cNvPicPr>
            <a:picLocks noChangeAspect="1"/>
          </p:cNvPicPr>
          <p:nvPr/>
        </p:nvPicPr>
        <p:blipFill>
          <a:blip r:embed="rId6"/>
          <a:stretch>
            <a:fillRect/>
          </a:stretch>
        </p:blipFill>
        <p:spPr>
          <a:xfrm>
            <a:off x="685800" y="3108960"/>
            <a:ext cx="182880" cy="182880"/>
          </a:xfrm>
          <a:prstGeom prst="rect">
            <a:avLst/>
          </a:prstGeom>
        </p:spPr>
      </p:pic>
      <p:sp>
        <p:nvSpPr>
          <p:cNvPr id="26" name="TextBox 25"/>
          <p:cNvSpPr txBox="1"/>
          <p:nvPr/>
        </p:nvSpPr>
        <p:spPr>
          <a:xfrm>
            <a:off x="960120" y="3081528"/>
            <a:ext cx="777240" cy="237744"/>
          </a:xfrm>
          <a:prstGeom prst="rect">
            <a:avLst/>
          </a:prstGeom>
          <a:noFill/>
        </p:spPr>
        <p:txBody>
          <a:bodyPr wrap="square" lIns="0" rIns="0" tIns="0" bIns="0" anchor="t">
            <a:spAutoFit/>
          </a:bodyPr>
          <a:lstStyle/>
          <a:p>
            <a:pPr algn="l"/>
            <a:r>
              <a:rPr sz="1050" b="1" i="0">
                <a:solidFill>
                  <a:srgbClr val="1E4173"/>
                </a:solidFill>
                <a:latin typeface="Calibri"/>
              </a:rPr>
              <a:t>Tests</a:t>
            </a:r>
          </a:p>
        </p:txBody>
      </p:sp>
      <p:sp>
        <p:nvSpPr>
          <p:cNvPr id="27" name="TextBox 26"/>
          <p:cNvSpPr txBox="1"/>
          <p:nvPr/>
        </p:nvSpPr>
        <p:spPr>
          <a:xfrm>
            <a:off x="1755648" y="3090672"/>
            <a:ext cx="3246120" cy="365760"/>
          </a:xfrm>
          <a:prstGeom prst="rect">
            <a:avLst/>
          </a:prstGeom>
          <a:noFill/>
        </p:spPr>
        <p:txBody>
          <a:bodyPr wrap="square" lIns="0" rIns="0" tIns="0" bIns="0" anchor="t">
            <a:spAutoFit/>
          </a:bodyPr>
          <a:lstStyle/>
          <a:p>
            <a:pPr algn="l"/>
            <a:r>
              <a:rPr sz="950" b="0" i="0">
                <a:solidFill>
                  <a:srgbClr val="3A4450"/>
                </a:solidFill>
                <a:latin typeface="Calibri"/>
              </a:rPr>
              <a:t>Test logs, expected results, failures, fixes, retests, V1 → V2 improvement</a:t>
            </a:r>
          </a:p>
        </p:txBody>
      </p:sp>
      <p:pic>
        <p:nvPicPr>
          <p:cNvPr id="28" name="Picture 27" descr="image.png"/>
          <p:cNvPicPr>
            <a:picLocks noChangeAspect="1"/>
          </p:cNvPicPr>
          <p:nvPr/>
        </p:nvPicPr>
        <p:blipFill>
          <a:blip r:embed="rId6"/>
          <a:stretch>
            <a:fillRect/>
          </a:stretch>
        </p:blipFill>
        <p:spPr>
          <a:xfrm>
            <a:off x="685800" y="3483864"/>
            <a:ext cx="182880" cy="182880"/>
          </a:xfrm>
          <a:prstGeom prst="rect">
            <a:avLst/>
          </a:prstGeom>
        </p:spPr>
      </p:pic>
      <p:sp>
        <p:nvSpPr>
          <p:cNvPr id="29" name="TextBox 28"/>
          <p:cNvSpPr txBox="1"/>
          <p:nvPr/>
        </p:nvSpPr>
        <p:spPr>
          <a:xfrm>
            <a:off x="960120" y="3456432"/>
            <a:ext cx="777240" cy="237744"/>
          </a:xfrm>
          <a:prstGeom prst="rect">
            <a:avLst/>
          </a:prstGeom>
          <a:noFill/>
        </p:spPr>
        <p:txBody>
          <a:bodyPr wrap="square" lIns="0" rIns="0" tIns="0" bIns="0" anchor="t">
            <a:spAutoFit/>
          </a:bodyPr>
          <a:lstStyle/>
          <a:p>
            <a:pPr algn="l"/>
            <a:r>
              <a:rPr sz="1050" b="1" i="0">
                <a:solidFill>
                  <a:srgbClr val="1E4173"/>
                </a:solidFill>
                <a:latin typeface="Calibri"/>
              </a:rPr>
              <a:t>Feedback</a:t>
            </a:r>
          </a:p>
        </p:txBody>
      </p:sp>
      <p:sp>
        <p:nvSpPr>
          <p:cNvPr id="30" name="TextBox 29"/>
          <p:cNvSpPr txBox="1"/>
          <p:nvPr/>
        </p:nvSpPr>
        <p:spPr>
          <a:xfrm>
            <a:off x="1755648" y="3465576"/>
            <a:ext cx="3246120" cy="365760"/>
          </a:xfrm>
          <a:prstGeom prst="rect">
            <a:avLst/>
          </a:prstGeom>
          <a:noFill/>
        </p:spPr>
        <p:txBody>
          <a:bodyPr wrap="square" lIns="0" rIns="0" tIns="0" bIns="0" anchor="t">
            <a:spAutoFit/>
          </a:bodyPr>
          <a:lstStyle/>
          <a:p>
            <a:pPr algn="l"/>
            <a:r>
              <a:rPr sz="950" b="0" i="0">
                <a:solidFill>
                  <a:srgbClr val="3A4450"/>
                </a:solidFill>
                <a:latin typeface="Calibri"/>
              </a:rPr>
              <a:t>Practitioner clarifications, feedback, validation, revisions, implementation points</a:t>
            </a:r>
          </a:p>
        </p:txBody>
      </p:sp>
      <p:sp>
        <p:nvSpPr>
          <p:cNvPr id="31" name="Rounded Rectangle 30"/>
          <p:cNvSpPr/>
          <p:nvPr/>
        </p:nvSpPr>
        <p:spPr>
          <a:xfrm>
            <a:off x="5349240" y="1481328"/>
            <a:ext cx="3291840" cy="914400"/>
          </a:xfrm>
          <a:prstGeom prst="roundRect">
            <a:avLst>
              <a:gd name="adj" fmla="val 10000"/>
            </a:avLst>
          </a:prstGeom>
          <a:solidFill>
            <a:srgbClr val="F8F0DF"/>
          </a:solidFill>
          <a:ln w="15875">
            <a:solidFill>
              <a:srgbClr val="A9740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32" name="TextBox 31"/>
          <p:cNvSpPr txBox="1"/>
          <p:nvPr/>
        </p:nvSpPr>
        <p:spPr>
          <a:xfrm>
            <a:off x="5513832" y="1536192"/>
            <a:ext cx="3017520" cy="822960"/>
          </a:xfrm>
          <a:prstGeom prst="rect">
            <a:avLst/>
          </a:prstGeom>
          <a:noFill/>
        </p:spPr>
        <p:txBody>
          <a:bodyPr wrap="square" lIns="0" rIns="0" tIns="0" bIns="0" anchor="ctr">
            <a:spAutoFit/>
          </a:bodyPr>
          <a:lstStyle/>
          <a:p>
            <a:pPr algn="l">
              <a:spcAft>
                <a:spcPts val="300"/>
              </a:spcAft>
            </a:pPr>
            <a:r>
              <a:rPr sz="1050" b="1" i="0">
                <a:solidFill>
                  <a:srgbClr val="1E4173"/>
                </a:solidFill>
                <a:latin typeface="Calibri"/>
              </a:rPr>
              <a:t>One master team folder may be kept, but </a:t>
            </a:r>
            <a:r>
              <a:rPr sz="1050" b="1" i="0">
                <a:solidFill>
                  <a:srgbClr val="A9740A"/>
                </a:solidFill>
                <a:latin typeface="Calibri"/>
              </a:rPr>
              <a:t>every student must keep their own copy</a:t>
            </a:r>
            <a:r>
              <a:rPr sz="1050" b="1" i="0">
                <a:solidFill>
                  <a:srgbClr val="1E4173"/>
                </a:solidFill>
                <a:latin typeface="Calibri"/>
              </a:rPr>
              <a:t> of the required evidence.</a:t>
            </a:r>
          </a:p>
          <a:p>
            <a:pPr algn="l">
              <a:spcAft>
                <a:spcPts val="300"/>
              </a:spcAft>
            </a:pPr>
            <a:r>
              <a:rPr sz="1050" b="1" i="0">
                <a:solidFill>
                  <a:srgbClr val="A9740A"/>
                </a:solidFill>
                <a:latin typeface="Calibri"/>
              </a:rPr>
              <a:t>Relevant documents must be faculty-signed.</a:t>
            </a:r>
          </a:p>
        </p:txBody>
      </p:sp>
      <p:sp>
        <p:nvSpPr>
          <p:cNvPr id="33" name="TextBox 32"/>
          <p:cNvSpPr txBox="1"/>
          <p:nvPr/>
        </p:nvSpPr>
        <p:spPr>
          <a:xfrm>
            <a:off x="5349240" y="2505456"/>
            <a:ext cx="3291840" cy="1371600"/>
          </a:xfrm>
          <a:prstGeom prst="rect">
            <a:avLst/>
          </a:prstGeom>
          <a:noFill/>
        </p:spPr>
        <p:txBody>
          <a:bodyPr wrap="square" lIns="0" rIns="0" tIns="0" bIns="0">
            <a:spAutoFit/>
          </a:bodyPr>
          <a:lstStyle/>
          <a:p>
            <a:pPr>
              <a:spcAft>
                <a:spcPts val="400"/>
              </a:spcAft>
            </a:pPr>
            <a:r>
              <a:rPr sz="700" b="0" i="0">
                <a:solidFill>
                  <a:srgbClr val="A9740A"/>
                </a:solidFill>
                <a:latin typeface="Calibri"/>
              </a:rPr>
              <a:t>■  </a:t>
            </a:r>
            <a:r>
              <a:rPr sz="1000" b="0" i="0">
                <a:solidFill>
                  <a:srgbClr val="3A4450"/>
                </a:solidFill>
                <a:latin typeface="Calibri"/>
              </a:rPr>
              <a:t>Practitioner engagement must be </a:t>
            </a:r>
            <a:r>
              <a:rPr sz="1000" b="1" i="0">
                <a:solidFill>
                  <a:srgbClr val="1E4173"/>
                </a:solidFill>
                <a:latin typeface="Calibri"/>
              </a:rPr>
              <a:t>verifiable through official communication trails</a:t>
            </a:r>
            <a:r>
              <a:rPr sz="1000" b="0" i="0">
                <a:solidFill>
                  <a:srgbClr val="3A4450"/>
                </a:solidFill>
                <a:latin typeface="Calibri"/>
              </a:rPr>
              <a:t>.</a:t>
            </a:r>
          </a:p>
          <a:p>
            <a:pPr>
              <a:spcAft>
                <a:spcPts val="400"/>
              </a:spcAft>
            </a:pPr>
            <a:r>
              <a:rPr sz="700" b="0" i="0">
                <a:solidFill>
                  <a:srgbClr val="A9740A"/>
                </a:solidFill>
                <a:latin typeface="Calibri"/>
              </a:rPr>
              <a:t>■  </a:t>
            </a:r>
            <a:r>
              <a:rPr sz="1000" b="0" i="0">
                <a:solidFill>
                  <a:srgbClr val="3A4450"/>
                </a:solidFill>
                <a:latin typeface="Calibri"/>
              </a:rPr>
              <a:t>Practitioners </a:t>
            </a:r>
            <a:r>
              <a:rPr sz="1000" b="1" i="0">
                <a:solidFill>
                  <a:srgbClr val="1E4173"/>
                </a:solidFill>
                <a:latin typeface="Calibri"/>
              </a:rPr>
              <a:t>do not</a:t>
            </a:r>
            <a:r>
              <a:rPr sz="1000" b="0" i="0">
                <a:solidFill>
                  <a:srgbClr val="3A4450"/>
                </a:solidFill>
                <a:latin typeface="Calibri"/>
              </a:rPr>
              <a:t> sign the folder.</a:t>
            </a:r>
          </a:p>
          <a:p>
            <a:pPr>
              <a:spcAft>
                <a:spcPts val="400"/>
              </a:spcAft>
            </a:pPr>
            <a:r>
              <a:rPr sz="700" b="0" i="0">
                <a:solidFill>
                  <a:srgbClr val="A9740A"/>
                </a:solidFill>
                <a:latin typeface="Calibri"/>
              </a:rPr>
              <a:t>■  </a:t>
            </a:r>
            <a:r>
              <a:rPr sz="1000" b="0" i="0">
                <a:solidFill>
                  <a:srgbClr val="3A4450"/>
                </a:solidFill>
                <a:latin typeface="Calibri"/>
              </a:rPr>
              <a:t>AI-generated practitioner evidence is </a:t>
            </a:r>
            <a:r>
              <a:rPr sz="1000" b="1" i="0">
                <a:solidFill>
                  <a:srgbClr val="1E4173"/>
                </a:solidFill>
                <a:latin typeface="Calibri"/>
              </a:rPr>
              <a:t>not permitted</a:t>
            </a:r>
            <a:r>
              <a:rPr sz="1000" b="0" i="0">
                <a:solidFill>
                  <a:srgbClr val="3A4450"/>
                </a:solidFill>
                <a:latin typeface="Calibri"/>
              </a:rPr>
              <a:t>.</a:t>
            </a:r>
          </a:p>
          <a:p>
            <a:pPr>
              <a:spcAft>
                <a:spcPts val="400"/>
              </a:spcAft>
            </a:pPr>
            <a:r>
              <a:rPr sz="700" b="0" i="0">
                <a:solidFill>
                  <a:srgbClr val="A9740A"/>
                </a:solidFill>
                <a:latin typeface="Calibri"/>
              </a:rPr>
              <a:t>■  </a:t>
            </a:r>
            <a:r>
              <a:rPr sz="1000" b="0" i="0">
                <a:solidFill>
                  <a:srgbClr val="3A4450"/>
                </a:solidFill>
                <a:latin typeface="Calibri"/>
              </a:rPr>
              <a:t>No confidential or personal data in public AI tools, public GitHub repos or public portfolios.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13</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Bring evidence before each WIP</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Every WIP and the final assessment has a folder gate. The folder is not optional.</a:t>
            </a:r>
            <a:endParaRPr lang="en-US" sz="900" dirty="0"/>
          </a:p>
        </p:txBody>
      </p:sp>
      <p:graphicFrame>
        <p:nvGraphicFramePr>
          <p:cNvPr id="7" name="Table 6"/>
          <p:cNvGraphicFramePr>
            <a:graphicFrameLocks noGrp="1"/>
          </p:cNvGraphicFramePr>
          <p:nvPr/>
        </p:nvGraphicFramePr>
        <p:xfrm>
          <a:off x="502920" y="1481328"/>
          <a:ext cx="8138160" cy="1810512"/>
        </p:xfrm>
        <a:graphic>
          <a:graphicData uri="http://schemas.openxmlformats.org/drawingml/2006/table">
            <a:tbl>
              <a:tblPr firstRow="1">
                <a:tableStyleId>{5C22544A-7EE6-4342-B048-85BDC9FD1C3A}</a:tableStyleId>
              </a:tblPr>
              <a:tblGrid>
                <a:gridCol w="1417320"/>
                <a:gridCol w="6720840"/>
              </a:tblGrid>
              <a:tr h="365760">
                <a:tc>
                  <a:txBody>
                    <a:bodyPr wrap="square"/>
                    <a:lstStyle/>
                    <a:p>
                      <a:r>
                        <a:rPr sz="1050" b="1" i="0">
                          <a:solidFill>
                            <a:srgbClr val="FFFFFF"/>
                          </a:solidFill>
                          <a:latin typeface="Calibri"/>
                        </a:rPr>
                        <a:t>Checkpoint</a:t>
                      </a:r>
                    </a:p>
                  </a:txBody>
                  <a:tcPr marL="128016" marR="91440" marT="27432" marB="27432" anchor="ctr">
                    <a:solidFill>
                      <a:srgbClr val="1E4173"/>
                    </a:solidFill>
                  </a:tcPr>
                </a:tc>
                <a:tc>
                  <a:txBody>
                    <a:bodyPr wrap="square"/>
                    <a:lstStyle/>
                    <a:p>
                      <a:r>
                        <a:rPr sz="1050" b="1" i="0">
                          <a:solidFill>
                            <a:srgbClr val="FFFFFF"/>
                          </a:solidFill>
                          <a:latin typeface="Calibri"/>
                        </a:rPr>
                        <a:t>Bring the faculty-signed physical evidence folder. </a:t>
                      </a:r>
                      <a:r>
                        <a:rPr sz="1050" b="1" i="0">
                          <a:solidFill>
                            <a:srgbClr val="F2D28B"/>
                          </a:solidFill>
                          <a:latin typeface="Calibri"/>
                        </a:rPr>
                        <a:t>No approved folder = no WIP presentation.</a:t>
                      </a:r>
                    </a:p>
                  </a:txBody>
                  <a:tcPr marL="128016" marR="91440" marT="27432" marB="27432" anchor="ctr">
                    <a:solidFill>
                      <a:srgbClr val="1E4173"/>
                    </a:solidFill>
                  </a:tcPr>
                </a:tc>
              </a:tr>
              <a:tr h="457200">
                <a:tc>
                  <a:txBody>
                    <a:bodyPr wrap="square"/>
                    <a:lstStyle/>
                    <a:p>
                      <a:r>
                        <a:rPr sz="1300" b="1" i="0">
                          <a:solidFill>
                            <a:srgbClr val="1E4173"/>
                          </a:solidFill>
                          <a:latin typeface="Cambria"/>
                        </a:rPr>
                        <a:t>WIP 1</a:t>
                      </a:r>
                    </a:p>
                    <a:p>
                      <a:r>
                        <a:rPr sz="850" b="1" i="0">
                          <a:solidFill>
                            <a:srgbClr val="A9740A"/>
                          </a:solidFill>
                          <a:latin typeface="Calibri"/>
                        </a:rPr>
                        <a:t>Before Session 5</a:t>
                      </a:r>
                    </a:p>
                  </a:txBody>
                  <a:tcPr marL="128016" marR="91440" marT="27432" marB="27432" anchor="ctr">
                    <a:solidFill>
                      <a:srgbClr val="F2F4F8"/>
                    </a:solidFill>
                  </a:tcPr>
                </a:tc>
                <a:tc>
                  <a:txBody>
                    <a:bodyPr wrap="square"/>
                    <a:lstStyle/>
                    <a:p>
                      <a:r>
                        <a:rPr sz="1050" b="1" i="0">
                          <a:solidFill>
                            <a:srgbClr val="1E4173"/>
                          </a:solidFill>
                          <a:latin typeface="Calibri"/>
                        </a:rPr>
                        <a:t>Project Charter: </a:t>
                      </a:r>
                      <a:r>
                        <a:rPr sz="1050" b="0" i="0">
                          <a:solidFill>
                            <a:srgbClr val="3A4450"/>
                          </a:solidFill>
                          <a:latin typeface="Calibri"/>
                        </a:rPr>
                        <a:t>problem, organisation, practitioner/contact, scope, team roles, intended outcome, plus supporting outreach evidence.</a:t>
                      </a:r>
                    </a:p>
                  </a:txBody>
                  <a:tcPr marL="128016" marR="91440" marT="27432" marB="27432" anchor="ctr">
                    <a:solidFill>
                      <a:srgbClr val="F2F4F8"/>
                    </a:solidFill>
                  </a:tcPr>
                </a:tc>
              </a:tr>
              <a:tr h="493776">
                <a:tc>
                  <a:txBody>
                    <a:bodyPr wrap="square"/>
                    <a:lstStyle/>
                    <a:p>
                      <a:r>
                        <a:rPr sz="1300" b="1" i="0">
                          <a:solidFill>
                            <a:srgbClr val="1E4173"/>
                          </a:solidFill>
                          <a:latin typeface="Cambria"/>
                        </a:rPr>
                        <a:t>WIP 2</a:t>
                      </a:r>
                    </a:p>
                    <a:p>
                      <a:r>
                        <a:rPr sz="850" b="1" i="0">
                          <a:solidFill>
                            <a:srgbClr val="A9740A"/>
                          </a:solidFill>
                          <a:latin typeface="Calibri"/>
                        </a:rPr>
                        <a:t>Before Session 10</a:t>
                      </a:r>
                    </a:p>
                  </a:txBody>
                  <a:tcPr marL="128016" marR="91440" marT="27432" marB="27432" anchor="ctr">
                    <a:solidFill>
                      <a:srgbClr val="FFFFFF"/>
                    </a:solidFill>
                  </a:tcPr>
                </a:tc>
                <a:tc>
                  <a:txBody>
                    <a:bodyPr wrap="square"/>
                    <a:lstStyle/>
                    <a:p>
                      <a:r>
                        <a:rPr sz="1050" b="1" i="0">
                          <a:solidFill>
                            <a:srgbClr val="1E4173"/>
                          </a:solidFill>
                          <a:latin typeface="Calibri"/>
                        </a:rPr>
                        <a:t>Everything from WIP 1, plus: </a:t>
                      </a:r>
                      <a:r>
                        <a:rPr sz="1050" b="0" i="0">
                          <a:solidFill>
                            <a:srgbClr val="3A4450"/>
                          </a:solidFill>
                          <a:latin typeface="Calibri"/>
                        </a:rPr>
                        <a:t>current-state workflow/process map, evidence scan, practitioner notes and communication evidence, pain points, unknowns, supporting analysis.</a:t>
                      </a:r>
                    </a:p>
                  </a:txBody>
                  <a:tcPr marL="128016" marR="91440" marT="27432" marB="27432" anchor="ctr">
                    <a:solidFill>
                      <a:srgbClr val="FFFFFF"/>
                    </a:solidFill>
                  </a:tcPr>
                </a:tc>
              </a:tr>
              <a:tr h="493776">
                <a:tc>
                  <a:txBody>
                    <a:bodyPr wrap="square"/>
                    <a:lstStyle/>
                    <a:p>
                      <a:r>
                        <a:rPr sz="1300" b="1" i="0">
                          <a:solidFill>
                            <a:srgbClr val="1E4173"/>
                          </a:solidFill>
                          <a:latin typeface="Cambria"/>
                        </a:rPr>
                        <a:t>WIP 3</a:t>
                      </a:r>
                    </a:p>
                    <a:p>
                      <a:r>
                        <a:rPr sz="850" b="1" i="0">
                          <a:solidFill>
                            <a:srgbClr val="A9740A"/>
                          </a:solidFill>
                          <a:latin typeface="Calibri"/>
                        </a:rPr>
                        <a:t>Before Session 15</a:t>
                      </a:r>
                    </a:p>
                  </a:txBody>
                  <a:tcPr marL="128016" marR="91440" marT="27432" marB="27432" anchor="ctr">
                    <a:solidFill>
                      <a:srgbClr val="F2F4F8"/>
                    </a:solidFill>
                  </a:tcPr>
                </a:tc>
                <a:tc>
                  <a:txBody>
                    <a:bodyPr wrap="square"/>
                    <a:lstStyle/>
                    <a:p>
                      <a:r>
                        <a:rPr sz="1050" b="1" i="0">
                          <a:solidFill>
                            <a:srgbClr val="1E4173"/>
                          </a:solidFill>
                          <a:latin typeface="Calibri"/>
                        </a:rPr>
                        <a:t>Everything from WIP 1 and 2, plus: </a:t>
                      </a:r>
                      <a:r>
                        <a:rPr sz="1050" b="0" i="0">
                          <a:solidFill>
                            <a:srgbClr val="3A4450"/>
                          </a:solidFill>
                          <a:latin typeface="Calibri"/>
                        </a:rPr>
                        <a:t>future-state workflow, solution architecture/methodology, working prototype, initial test log, documented failures, revisions, practitioner evidence.</a:t>
                      </a:r>
                    </a:p>
                  </a:txBody>
                  <a:tcPr marL="128016" marR="91440" marT="27432" marB="27432" anchor="ctr">
                    <a:solidFill>
                      <a:srgbClr val="F2F4F8"/>
                    </a:solidFill>
                  </a:tcPr>
                </a:tc>
              </a:tr>
            </a:tbl>
          </a:graphicData>
        </a:graphic>
      </p:graphicFrame>
      <p:sp>
        <p:nvSpPr>
          <p:cNvPr id="8" name="Rounded Rectangle 7"/>
          <p:cNvSpPr/>
          <p:nvPr/>
        </p:nvSpPr>
        <p:spPr>
          <a:xfrm>
            <a:off x="502920" y="3419856"/>
            <a:ext cx="8138160" cy="896112"/>
          </a:xfrm>
          <a:prstGeom prst="roundRect">
            <a:avLst>
              <a:gd name="adj" fmla="val 10204"/>
            </a:avLst>
          </a:prstGeom>
          <a:solidFill>
            <a:srgbClr val="F8F0DF"/>
          </a:solidFill>
          <a:ln w="15875">
            <a:solidFill>
              <a:srgbClr val="A9740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9" name="Picture 8" descr="image.png"/>
          <p:cNvPicPr>
            <a:picLocks noChangeAspect="1"/>
          </p:cNvPicPr>
          <p:nvPr/>
        </p:nvPicPr>
        <p:blipFill>
          <a:blip r:embed="rId5"/>
          <a:stretch>
            <a:fillRect/>
          </a:stretch>
        </p:blipFill>
        <p:spPr>
          <a:xfrm>
            <a:off x="713232" y="3621024"/>
            <a:ext cx="365760" cy="365760"/>
          </a:xfrm>
          <a:prstGeom prst="rect">
            <a:avLst/>
          </a:prstGeom>
        </p:spPr>
      </p:pic>
      <p:sp>
        <p:nvSpPr>
          <p:cNvPr id="10" name="TextBox 9"/>
          <p:cNvSpPr txBox="1"/>
          <p:nvPr/>
        </p:nvSpPr>
        <p:spPr>
          <a:xfrm>
            <a:off x="1261872" y="3474720"/>
            <a:ext cx="7223760" cy="182880"/>
          </a:xfrm>
          <a:prstGeom prst="rect">
            <a:avLst/>
          </a:prstGeom>
          <a:noFill/>
        </p:spPr>
        <p:txBody>
          <a:bodyPr wrap="square" lIns="0" rIns="0" tIns="0" bIns="0" anchor="t">
            <a:spAutoFit/>
          </a:bodyPr>
          <a:lstStyle/>
          <a:p>
            <a:pPr algn="l"/>
            <a:r>
              <a:rPr sz="850" b="1" i="0">
                <a:solidFill>
                  <a:srgbClr val="A9740A"/>
                </a:solidFill>
                <a:latin typeface="Calibri"/>
              </a:rPr>
              <a:t>FINAL ASSESSMENT ELIGIBILITY</a:t>
            </a:r>
          </a:p>
        </p:txBody>
      </p:sp>
      <p:sp>
        <p:nvSpPr>
          <p:cNvPr id="11" name="TextBox 10"/>
          <p:cNvSpPr txBox="1"/>
          <p:nvPr/>
        </p:nvSpPr>
        <p:spPr>
          <a:xfrm>
            <a:off x="1261872" y="3675887"/>
            <a:ext cx="7223760" cy="603504"/>
          </a:xfrm>
          <a:prstGeom prst="rect">
            <a:avLst/>
          </a:prstGeom>
          <a:noFill/>
        </p:spPr>
        <p:txBody>
          <a:bodyPr wrap="square" lIns="0" rIns="0" tIns="0" bIns="0" anchor="t">
            <a:spAutoFit/>
          </a:bodyPr>
          <a:lstStyle/>
          <a:p>
            <a:pPr algn="l">
              <a:spcAft>
                <a:spcPts val="200"/>
              </a:spcAft>
            </a:pPr>
            <a:r>
              <a:rPr sz="1050" b="1" i="0">
                <a:solidFill>
                  <a:srgbClr val="1E4173"/>
                </a:solidFill>
                <a:latin typeface="Calibri"/>
              </a:rPr>
              <a:t>The complete, cumulative, faculty-signed folder must be ready in Session 18, before Session 19.</a:t>
            </a:r>
          </a:p>
          <a:p>
            <a:pPr algn="l">
              <a:spcAft>
                <a:spcPts val="200"/>
              </a:spcAft>
            </a:pPr>
            <a:r>
              <a:rPr sz="1050" b="1" i="0">
                <a:solidFill>
                  <a:srgbClr val="A9740A"/>
                </a:solidFill>
                <a:latin typeface="Calibri"/>
              </a:rPr>
              <a:t>Teams without it will not be assessed. It cannot be produced on or after Session 19 to regain eligibility.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14</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Four mandatory LinkedIn Learning courses</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Complete these four courses and submit each completion certificate.</a:t>
            </a:r>
            <a:endParaRPr lang="en-US" sz="900" dirty="0"/>
          </a:p>
        </p:txBody>
      </p:sp>
      <p:sp>
        <p:nvSpPr>
          <p:cNvPr id="7" name="Rounded Rectangle 6">
            <a:hlinkClick r:id="rId5"/>
          </p:cNvPr>
          <p:cNvSpPr/>
          <p:nvPr/>
        </p:nvSpPr>
        <p:spPr>
          <a:xfrm>
            <a:off x="502920" y="1481328"/>
            <a:ext cx="2743200" cy="969264"/>
          </a:xfrm>
          <a:prstGeom prst="roundRect">
            <a:avLst>
              <a:gd name="adj" fmla="val 9433"/>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8" name="Oval 7"/>
          <p:cNvSpPr/>
          <p:nvPr/>
        </p:nvSpPr>
        <p:spPr>
          <a:xfrm>
            <a:off x="667512" y="1627632"/>
            <a:ext cx="402336" cy="402336"/>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9" name="Picture 8" descr="image.png"/>
          <p:cNvPicPr>
            <a:picLocks noChangeAspect="1"/>
          </p:cNvPicPr>
          <p:nvPr/>
        </p:nvPicPr>
        <p:blipFill>
          <a:blip r:embed="rId6"/>
          <a:stretch>
            <a:fillRect/>
          </a:stretch>
        </p:blipFill>
        <p:spPr>
          <a:xfrm>
            <a:off x="772119" y="1732239"/>
            <a:ext cx="193121" cy="193121"/>
          </a:xfrm>
          <a:prstGeom prst="rect">
            <a:avLst/>
          </a:prstGeom>
        </p:spPr>
      </p:pic>
      <p:sp>
        <p:nvSpPr>
          <p:cNvPr id="10" name="TextBox 9"/>
          <p:cNvSpPr txBox="1"/>
          <p:nvPr/>
        </p:nvSpPr>
        <p:spPr>
          <a:xfrm>
            <a:off x="1216152" y="1600200"/>
            <a:ext cx="1920240" cy="182880"/>
          </a:xfrm>
          <a:prstGeom prst="rect">
            <a:avLst/>
          </a:prstGeom>
          <a:noFill/>
        </p:spPr>
        <p:txBody>
          <a:bodyPr wrap="square" lIns="0" rIns="0" tIns="0" bIns="0" anchor="t">
            <a:spAutoFit/>
          </a:bodyPr>
          <a:lstStyle/>
          <a:p>
            <a:pPr algn="l"/>
            <a:r>
              <a:rPr sz="800" b="1" i="0">
                <a:solidFill>
                  <a:srgbClr val="A9740A"/>
                </a:solidFill>
                <a:latin typeface="Calibri"/>
              </a:rPr>
              <a:t>1  ·  USED FOR: WORKFLOW</a:t>
            </a:r>
          </a:p>
        </p:txBody>
      </p:sp>
      <p:sp>
        <p:nvSpPr>
          <p:cNvPr id="11" name="TextBox 10">
            <a:hlinkClick r:id="rId5"/>
          </p:cNvPr>
          <p:cNvSpPr txBox="1"/>
          <p:nvPr/>
        </p:nvSpPr>
        <p:spPr>
          <a:xfrm>
            <a:off x="1216152" y="1773936"/>
            <a:ext cx="1938528" cy="457200"/>
          </a:xfrm>
          <a:prstGeom prst="rect">
            <a:avLst/>
          </a:prstGeom>
          <a:noFill/>
        </p:spPr>
        <p:txBody>
          <a:bodyPr wrap="square" lIns="0" rIns="0" tIns="0" bIns="0" anchor="t">
            <a:spAutoFit/>
          </a:bodyPr>
          <a:lstStyle/>
          <a:p>
            <a:pPr algn="l"/>
            <a:r>
              <a:rPr sz="1000" b="1" i="0">
                <a:solidFill>
                  <a:srgbClr val="1E4173"/>
                </a:solidFill>
                <a:latin typeface="Calibri"/>
              </a:rPr>
              <a:t>Hands-On AI: Build Automated Workflows in Google Workspace Studio</a:t>
            </a:r>
          </a:p>
        </p:txBody>
      </p:sp>
      <p:sp>
        <p:nvSpPr>
          <p:cNvPr id="12" name="TextBox 11">
            <a:hlinkClick r:id="rId5"/>
          </p:cNvPr>
          <p:cNvSpPr txBox="1"/>
          <p:nvPr/>
        </p:nvSpPr>
        <p:spPr>
          <a:xfrm>
            <a:off x="1216152" y="2231136"/>
            <a:ext cx="1920240" cy="182880"/>
          </a:xfrm>
          <a:prstGeom prst="rect">
            <a:avLst/>
          </a:prstGeom>
          <a:noFill/>
        </p:spPr>
        <p:txBody>
          <a:bodyPr wrap="square" lIns="0" rIns="0" tIns="0" bIns="0" anchor="t">
            <a:spAutoFit/>
          </a:bodyPr>
          <a:lstStyle/>
          <a:p>
            <a:pPr algn="l"/>
            <a:r>
              <a:rPr sz="850" b="1" i="0">
                <a:solidFill>
                  <a:srgbClr val="A9740A"/>
                </a:solidFill>
                <a:latin typeface="Calibri"/>
              </a:rPr>
              <a:t>Open course  ↗</a:t>
            </a:r>
          </a:p>
        </p:txBody>
      </p:sp>
      <p:sp>
        <p:nvSpPr>
          <p:cNvPr id="13" name="Rounded Rectangle 12">
            <a:hlinkClick r:id="rId7"/>
          </p:cNvPr>
          <p:cNvSpPr/>
          <p:nvPr/>
        </p:nvSpPr>
        <p:spPr>
          <a:xfrm>
            <a:off x="3429000" y="1481328"/>
            <a:ext cx="2743200" cy="969264"/>
          </a:xfrm>
          <a:prstGeom prst="roundRect">
            <a:avLst>
              <a:gd name="adj" fmla="val 9433"/>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14" name="Oval 13"/>
          <p:cNvSpPr/>
          <p:nvPr/>
        </p:nvSpPr>
        <p:spPr>
          <a:xfrm>
            <a:off x="3593592" y="1627632"/>
            <a:ext cx="402336" cy="402336"/>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15" name="Picture 14" descr="image.png"/>
          <p:cNvPicPr>
            <a:picLocks noChangeAspect="1"/>
          </p:cNvPicPr>
          <p:nvPr/>
        </p:nvPicPr>
        <p:blipFill>
          <a:blip r:embed="rId8"/>
          <a:stretch>
            <a:fillRect/>
          </a:stretch>
        </p:blipFill>
        <p:spPr>
          <a:xfrm>
            <a:off x="3698199" y="1732239"/>
            <a:ext cx="193121" cy="193121"/>
          </a:xfrm>
          <a:prstGeom prst="rect">
            <a:avLst/>
          </a:prstGeom>
        </p:spPr>
      </p:pic>
      <p:sp>
        <p:nvSpPr>
          <p:cNvPr id="16" name="TextBox 15"/>
          <p:cNvSpPr txBox="1"/>
          <p:nvPr/>
        </p:nvSpPr>
        <p:spPr>
          <a:xfrm>
            <a:off x="4142232" y="1600200"/>
            <a:ext cx="1920240" cy="182880"/>
          </a:xfrm>
          <a:prstGeom prst="rect">
            <a:avLst/>
          </a:prstGeom>
          <a:noFill/>
        </p:spPr>
        <p:txBody>
          <a:bodyPr wrap="square" lIns="0" rIns="0" tIns="0" bIns="0" anchor="t">
            <a:spAutoFit/>
          </a:bodyPr>
          <a:lstStyle/>
          <a:p>
            <a:pPr algn="l"/>
            <a:r>
              <a:rPr sz="800" b="1" i="0">
                <a:solidFill>
                  <a:srgbClr val="A9740A"/>
                </a:solidFill>
                <a:latin typeface="Calibri"/>
              </a:rPr>
              <a:t>2  ·  USED FOR: VERSION HISTORY</a:t>
            </a:r>
          </a:p>
        </p:txBody>
      </p:sp>
      <p:sp>
        <p:nvSpPr>
          <p:cNvPr id="17" name="TextBox 16">
            <a:hlinkClick r:id="rId7"/>
          </p:cNvPr>
          <p:cNvSpPr txBox="1"/>
          <p:nvPr/>
        </p:nvSpPr>
        <p:spPr>
          <a:xfrm>
            <a:off x="4142232" y="1773936"/>
            <a:ext cx="1938528" cy="457200"/>
          </a:xfrm>
          <a:prstGeom prst="rect">
            <a:avLst/>
          </a:prstGeom>
          <a:noFill/>
        </p:spPr>
        <p:txBody>
          <a:bodyPr wrap="square" lIns="0" rIns="0" tIns="0" bIns="0" anchor="t">
            <a:spAutoFit/>
          </a:bodyPr>
          <a:lstStyle/>
          <a:p>
            <a:pPr algn="l"/>
            <a:r>
              <a:rPr sz="1000" b="1" i="0">
                <a:solidFill>
                  <a:srgbClr val="1E4173"/>
                </a:solidFill>
                <a:latin typeface="Calibri"/>
              </a:rPr>
              <a:t>GitHub Essential Training: 1 The Basics</a:t>
            </a:r>
          </a:p>
        </p:txBody>
      </p:sp>
      <p:sp>
        <p:nvSpPr>
          <p:cNvPr id="18" name="TextBox 17">
            <a:hlinkClick r:id="rId7"/>
          </p:cNvPr>
          <p:cNvSpPr txBox="1"/>
          <p:nvPr/>
        </p:nvSpPr>
        <p:spPr>
          <a:xfrm>
            <a:off x="4142232" y="2231136"/>
            <a:ext cx="1920240" cy="182880"/>
          </a:xfrm>
          <a:prstGeom prst="rect">
            <a:avLst/>
          </a:prstGeom>
          <a:noFill/>
        </p:spPr>
        <p:txBody>
          <a:bodyPr wrap="square" lIns="0" rIns="0" tIns="0" bIns="0" anchor="t">
            <a:spAutoFit/>
          </a:bodyPr>
          <a:lstStyle/>
          <a:p>
            <a:pPr algn="l"/>
            <a:r>
              <a:rPr sz="850" b="1" i="0">
                <a:solidFill>
                  <a:srgbClr val="A9740A"/>
                </a:solidFill>
                <a:latin typeface="Calibri"/>
              </a:rPr>
              <a:t>Open course  ↗</a:t>
            </a:r>
          </a:p>
        </p:txBody>
      </p:sp>
      <p:sp>
        <p:nvSpPr>
          <p:cNvPr id="19" name="Rounded Rectangle 18">
            <a:hlinkClick r:id="rId9"/>
          </p:cNvPr>
          <p:cNvSpPr/>
          <p:nvPr/>
        </p:nvSpPr>
        <p:spPr>
          <a:xfrm>
            <a:off x="502920" y="2578608"/>
            <a:ext cx="2743200" cy="969264"/>
          </a:xfrm>
          <a:prstGeom prst="roundRect">
            <a:avLst>
              <a:gd name="adj" fmla="val 9433"/>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0" name="Oval 19"/>
          <p:cNvSpPr/>
          <p:nvPr/>
        </p:nvSpPr>
        <p:spPr>
          <a:xfrm>
            <a:off x="667512" y="2724912"/>
            <a:ext cx="402336" cy="402336"/>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21" name="Picture 20" descr="image.png"/>
          <p:cNvPicPr>
            <a:picLocks noChangeAspect="1"/>
          </p:cNvPicPr>
          <p:nvPr/>
        </p:nvPicPr>
        <p:blipFill>
          <a:blip r:embed="rId10"/>
          <a:stretch>
            <a:fillRect/>
          </a:stretch>
        </p:blipFill>
        <p:spPr>
          <a:xfrm>
            <a:off x="772119" y="2829519"/>
            <a:ext cx="193121" cy="193121"/>
          </a:xfrm>
          <a:prstGeom prst="rect">
            <a:avLst/>
          </a:prstGeom>
        </p:spPr>
      </p:pic>
      <p:sp>
        <p:nvSpPr>
          <p:cNvPr id="22" name="TextBox 21"/>
          <p:cNvSpPr txBox="1"/>
          <p:nvPr/>
        </p:nvSpPr>
        <p:spPr>
          <a:xfrm>
            <a:off x="1216152" y="2697480"/>
            <a:ext cx="1920240" cy="182880"/>
          </a:xfrm>
          <a:prstGeom prst="rect">
            <a:avLst/>
          </a:prstGeom>
          <a:noFill/>
        </p:spPr>
        <p:txBody>
          <a:bodyPr wrap="square" lIns="0" rIns="0" tIns="0" bIns="0" anchor="t">
            <a:spAutoFit/>
          </a:bodyPr>
          <a:lstStyle/>
          <a:p>
            <a:pPr algn="l"/>
            <a:r>
              <a:rPr sz="800" b="1" i="0">
                <a:solidFill>
                  <a:srgbClr val="A9740A"/>
                </a:solidFill>
                <a:latin typeface="Calibri"/>
              </a:rPr>
              <a:t>3  ·  USED FOR: LIVE INTERFACE</a:t>
            </a:r>
          </a:p>
        </p:txBody>
      </p:sp>
      <p:sp>
        <p:nvSpPr>
          <p:cNvPr id="23" name="TextBox 22">
            <a:hlinkClick r:id="rId9"/>
          </p:cNvPr>
          <p:cNvSpPr txBox="1"/>
          <p:nvPr/>
        </p:nvSpPr>
        <p:spPr>
          <a:xfrm>
            <a:off x="1216152" y="2871216"/>
            <a:ext cx="1938528" cy="457200"/>
          </a:xfrm>
          <a:prstGeom prst="rect">
            <a:avLst/>
          </a:prstGeom>
          <a:noFill/>
        </p:spPr>
        <p:txBody>
          <a:bodyPr wrap="square" lIns="0" rIns="0" tIns="0" bIns="0" anchor="t">
            <a:spAutoFit/>
          </a:bodyPr>
          <a:lstStyle/>
          <a:p>
            <a:pPr algn="l"/>
            <a:r>
              <a:rPr sz="1000" b="1" i="0">
                <a:solidFill>
                  <a:srgbClr val="1E4173"/>
                </a:solidFill>
                <a:latin typeface="Calibri"/>
              </a:rPr>
              <a:t>Build with AI: LLM-Powered Applications with Streamlit</a:t>
            </a:r>
          </a:p>
        </p:txBody>
      </p:sp>
      <p:sp>
        <p:nvSpPr>
          <p:cNvPr id="24" name="TextBox 23">
            <a:hlinkClick r:id="rId9"/>
          </p:cNvPr>
          <p:cNvSpPr txBox="1"/>
          <p:nvPr/>
        </p:nvSpPr>
        <p:spPr>
          <a:xfrm>
            <a:off x="1216152" y="3328416"/>
            <a:ext cx="1920240" cy="182880"/>
          </a:xfrm>
          <a:prstGeom prst="rect">
            <a:avLst/>
          </a:prstGeom>
          <a:noFill/>
        </p:spPr>
        <p:txBody>
          <a:bodyPr wrap="square" lIns="0" rIns="0" tIns="0" bIns="0" anchor="t">
            <a:spAutoFit/>
          </a:bodyPr>
          <a:lstStyle/>
          <a:p>
            <a:pPr algn="l"/>
            <a:r>
              <a:rPr sz="850" b="1" i="0">
                <a:solidFill>
                  <a:srgbClr val="A9740A"/>
                </a:solidFill>
                <a:latin typeface="Calibri"/>
              </a:rPr>
              <a:t>Open course  ↗</a:t>
            </a:r>
          </a:p>
        </p:txBody>
      </p:sp>
      <p:sp>
        <p:nvSpPr>
          <p:cNvPr id="25" name="Rounded Rectangle 24">
            <a:hlinkClick r:id="rId11"/>
          </p:cNvPr>
          <p:cNvSpPr/>
          <p:nvPr/>
        </p:nvSpPr>
        <p:spPr>
          <a:xfrm>
            <a:off x="3429000" y="2578608"/>
            <a:ext cx="2743200" cy="969264"/>
          </a:xfrm>
          <a:prstGeom prst="roundRect">
            <a:avLst>
              <a:gd name="adj" fmla="val 9433"/>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6" name="Oval 25"/>
          <p:cNvSpPr/>
          <p:nvPr/>
        </p:nvSpPr>
        <p:spPr>
          <a:xfrm>
            <a:off x="3593592" y="2724912"/>
            <a:ext cx="402336" cy="402336"/>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27" name="Picture 26" descr="image.png"/>
          <p:cNvPicPr>
            <a:picLocks noChangeAspect="1"/>
          </p:cNvPicPr>
          <p:nvPr/>
        </p:nvPicPr>
        <p:blipFill>
          <a:blip r:embed="rId12"/>
          <a:stretch>
            <a:fillRect/>
          </a:stretch>
        </p:blipFill>
        <p:spPr>
          <a:xfrm>
            <a:off x="3698199" y="2829519"/>
            <a:ext cx="193121" cy="193121"/>
          </a:xfrm>
          <a:prstGeom prst="rect">
            <a:avLst/>
          </a:prstGeom>
        </p:spPr>
      </p:pic>
      <p:sp>
        <p:nvSpPr>
          <p:cNvPr id="28" name="TextBox 27"/>
          <p:cNvSpPr txBox="1"/>
          <p:nvPr/>
        </p:nvSpPr>
        <p:spPr>
          <a:xfrm>
            <a:off x="4142232" y="2697480"/>
            <a:ext cx="1920240" cy="182880"/>
          </a:xfrm>
          <a:prstGeom prst="rect">
            <a:avLst/>
          </a:prstGeom>
          <a:noFill/>
        </p:spPr>
        <p:txBody>
          <a:bodyPr wrap="square" lIns="0" rIns="0" tIns="0" bIns="0" anchor="t">
            <a:spAutoFit/>
          </a:bodyPr>
          <a:lstStyle/>
          <a:p>
            <a:pPr algn="l"/>
            <a:r>
              <a:rPr sz="800" b="1" i="0">
                <a:solidFill>
                  <a:srgbClr val="A9740A"/>
                </a:solidFill>
                <a:latin typeface="Calibri"/>
              </a:rPr>
              <a:t>4  ·  USED FOR: SAVED DATA</a:t>
            </a:r>
          </a:p>
        </p:txBody>
      </p:sp>
      <p:sp>
        <p:nvSpPr>
          <p:cNvPr id="29" name="TextBox 28">
            <a:hlinkClick r:id="rId11"/>
          </p:cNvPr>
          <p:cNvSpPr txBox="1"/>
          <p:nvPr/>
        </p:nvSpPr>
        <p:spPr>
          <a:xfrm>
            <a:off x="4142232" y="2871216"/>
            <a:ext cx="1938528" cy="457200"/>
          </a:xfrm>
          <a:prstGeom prst="rect">
            <a:avLst/>
          </a:prstGeom>
          <a:noFill/>
        </p:spPr>
        <p:txBody>
          <a:bodyPr wrap="square" lIns="0" rIns="0" tIns="0" bIns="0" anchor="t">
            <a:spAutoFit/>
          </a:bodyPr>
          <a:lstStyle/>
          <a:p>
            <a:pPr algn="l"/>
            <a:r>
              <a:rPr sz="1000" b="1" i="0">
                <a:solidFill>
                  <a:srgbClr val="1E4173"/>
                </a:solidFill>
                <a:latin typeface="Calibri"/>
              </a:rPr>
              <a:t>Supabase Essential Training</a:t>
            </a:r>
          </a:p>
        </p:txBody>
      </p:sp>
      <p:sp>
        <p:nvSpPr>
          <p:cNvPr id="30" name="TextBox 29">
            <a:hlinkClick r:id="rId11"/>
          </p:cNvPr>
          <p:cNvSpPr txBox="1"/>
          <p:nvPr/>
        </p:nvSpPr>
        <p:spPr>
          <a:xfrm>
            <a:off x="4142232" y="3328416"/>
            <a:ext cx="1920240" cy="182880"/>
          </a:xfrm>
          <a:prstGeom prst="rect">
            <a:avLst/>
          </a:prstGeom>
          <a:noFill/>
        </p:spPr>
        <p:txBody>
          <a:bodyPr wrap="square" lIns="0" rIns="0" tIns="0" bIns="0" anchor="t">
            <a:spAutoFit/>
          </a:bodyPr>
          <a:lstStyle/>
          <a:p>
            <a:pPr algn="l"/>
            <a:r>
              <a:rPr sz="850" b="1" i="0">
                <a:solidFill>
                  <a:srgbClr val="A9740A"/>
                </a:solidFill>
                <a:latin typeface="Calibri"/>
              </a:rPr>
              <a:t>Open course  ↗</a:t>
            </a:r>
          </a:p>
        </p:txBody>
      </p:sp>
      <p:sp>
        <p:nvSpPr>
          <p:cNvPr id="31" name="Rounded Rectangle 30"/>
          <p:cNvSpPr/>
          <p:nvPr/>
        </p:nvSpPr>
        <p:spPr>
          <a:xfrm>
            <a:off x="6400800" y="1481328"/>
            <a:ext cx="2240280" cy="2066543"/>
          </a:xfrm>
          <a:prstGeom prst="roundRect">
            <a:avLst>
              <a:gd name="adj" fmla="val 5309"/>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32" name="Oval 31"/>
          <p:cNvSpPr/>
          <p:nvPr/>
        </p:nvSpPr>
        <p:spPr>
          <a:xfrm>
            <a:off x="6583680" y="1609344"/>
            <a:ext cx="347472" cy="347472"/>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33" name="Picture 32" descr="image.png"/>
          <p:cNvPicPr>
            <a:picLocks noChangeAspect="1"/>
          </p:cNvPicPr>
          <p:nvPr/>
        </p:nvPicPr>
        <p:blipFill>
          <a:blip r:embed="rId13"/>
          <a:stretch>
            <a:fillRect/>
          </a:stretch>
        </p:blipFill>
        <p:spPr>
          <a:xfrm>
            <a:off x="6674022" y="1699686"/>
            <a:ext cx="166786" cy="166786"/>
          </a:xfrm>
          <a:prstGeom prst="rect">
            <a:avLst/>
          </a:prstGeom>
        </p:spPr>
      </p:pic>
      <p:sp>
        <p:nvSpPr>
          <p:cNvPr id="34" name="TextBox 33"/>
          <p:cNvSpPr txBox="1"/>
          <p:nvPr/>
        </p:nvSpPr>
        <p:spPr>
          <a:xfrm>
            <a:off x="6583680" y="2011680"/>
            <a:ext cx="1920240" cy="457200"/>
          </a:xfrm>
          <a:prstGeom prst="rect">
            <a:avLst/>
          </a:prstGeom>
          <a:noFill/>
        </p:spPr>
        <p:txBody>
          <a:bodyPr wrap="square" lIns="0" rIns="0" tIns="0" bIns="0" anchor="t">
            <a:spAutoFit/>
          </a:bodyPr>
          <a:lstStyle/>
          <a:p>
            <a:pPr algn="l"/>
            <a:r>
              <a:rPr sz="3200" b="1" i="0">
                <a:solidFill>
                  <a:srgbClr val="FFFFFF"/>
                </a:solidFill>
                <a:latin typeface="Cambria"/>
              </a:rPr>
              <a:t>2.5</a:t>
            </a:r>
          </a:p>
        </p:txBody>
      </p:sp>
      <p:sp>
        <p:nvSpPr>
          <p:cNvPr id="35" name="TextBox 34"/>
          <p:cNvSpPr txBox="1"/>
          <p:nvPr/>
        </p:nvSpPr>
        <p:spPr>
          <a:xfrm>
            <a:off x="6583680" y="2487168"/>
            <a:ext cx="1920240" cy="228600"/>
          </a:xfrm>
          <a:prstGeom prst="rect">
            <a:avLst/>
          </a:prstGeom>
          <a:noFill/>
        </p:spPr>
        <p:txBody>
          <a:bodyPr wrap="square" lIns="0" rIns="0" tIns="0" bIns="0" anchor="t">
            <a:spAutoFit/>
          </a:bodyPr>
          <a:lstStyle/>
          <a:p>
            <a:pPr algn="l"/>
            <a:r>
              <a:rPr sz="1000" b="0" i="0">
                <a:solidFill>
                  <a:srgbClr val="FFFFFF"/>
                </a:solidFill>
                <a:latin typeface="Calibri"/>
              </a:rPr>
              <a:t>marks per valid certificate</a:t>
            </a:r>
          </a:p>
        </p:txBody>
      </p:sp>
      <p:sp>
        <p:nvSpPr>
          <p:cNvPr id="36" name="TextBox 35"/>
          <p:cNvSpPr txBox="1"/>
          <p:nvPr/>
        </p:nvSpPr>
        <p:spPr>
          <a:xfrm>
            <a:off x="6583680" y="2724912"/>
            <a:ext cx="1920240" cy="256032"/>
          </a:xfrm>
          <a:prstGeom prst="rect">
            <a:avLst/>
          </a:prstGeom>
          <a:noFill/>
        </p:spPr>
        <p:txBody>
          <a:bodyPr wrap="square" lIns="0" rIns="0" tIns="0" bIns="0" anchor="t">
            <a:spAutoFit/>
          </a:bodyPr>
          <a:lstStyle/>
          <a:p>
            <a:pPr algn="l"/>
            <a:r>
              <a:rPr sz="1100" b="1" i="0">
                <a:solidFill>
                  <a:srgbClr val="F2D28B"/>
                </a:solidFill>
                <a:latin typeface="Calibri"/>
              </a:rPr>
              <a:t>4 certificates = 10 marks</a:t>
            </a:r>
          </a:p>
        </p:txBody>
      </p:sp>
      <p:sp>
        <p:nvSpPr>
          <p:cNvPr id="37" name="Rounded Rectangle 36"/>
          <p:cNvSpPr/>
          <p:nvPr/>
        </p:nvSpPr>
        <p:spPr>
          <a:xfrm>
            <a:off x="6583680" y="3090672"/>
            <a:ext cx="1874519" cy="274320"/>
          </a:xfrm>
          <a:prstGeom prst="roundRect">
            <a:avLst>
              <a:gd name="adj" fmla="val 50000"/>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latin typeface="Calibri"/>
              </a:rPr>
              <a:t>DUE BY SESSION 17</a:t>
            </a:r>
          </a:p>
        </p:txBody>
      </p:sp>
      <p:sp>
        <p:nvSpPr>
          <p:cNvPr id="38" name="Rounded Rectangle 37"/>
          <p:cNvSpPr/>
          <p:nvPr/>
        </p:nvSpPr>
        <p:spPr>
          <a:xfrm>
            <a:off x="502920" y="3639312"/>
            <a:ext cx="8138160" cy="694944"/>
          </a:xfrm>
          <a:prstGeom prst="roundRect">
            <a:avLst>
              <a:gd name="adj" fmla="val 13157"/>
            </a:avLst>
          </a:prstGeom>
          <a:solidFill>
            <a:srgbClr val="F8F0DF"/>
          </a:solidFill>
          <a:ln w="15875">
            <a:solidFill>
              <a:srgbClr val="A9740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39" name="Picture 38" descr="image.png"/>
          <p:cNvPicPr>
            <a:picLocks noChangeAspect="1"/>
          </p:cNvPicPr>
          <p:nvPr/>
        </p:nvPicPr>
        <p:blipFill>
          <a:blip r:embed="rId14"/>
          <a:stretch>
            <a:fillRect/>
          </a:stretch>
        </p:blipFill>
        <p:spPr>
          <a:xfrm>
            <a:off x="685800" y="3822191"/>
            <a:ext cx="310896" cy="310896"/>
          </a:xfrm>
          <a:prstGeom prst="rect">
            <a:avLst/>
          </a:prstGeom>
        </p:spPr>
      </p:pic>
      <p:sp>
        <p:nvSpPr>
          <p:cNvPr id="40" name="TextBox 39"/>
          <p:cNvSpPr txBox="1"/>
          <p:nvPr/>
        </p:nvSpPr>
        <p:spPr>
          <a:xfrm>
            <a:off x="1143000" y="3675887"/>
            <a:ext cx="7360920" cy="621792"/>
          </a:xfrm>
          <a:prstGeom prst="rect">
            <a:avLst/>
          </a:prstGeom>
          <a:noFill/>
        </p:spPr>
        <p:txBody>
          <a:bodyPr wrap="square" lIns="0" rIns="0" tIns="0" bIns="0" anchor="ctr">
            <a:spAutoFit/>
          </a:bodyPr>
          <a:lstStyle/>
          <a:p>
            <a:pPr algn="l">
              <a:spcAft>
                <a:spcPts val="200"/>
              </a:spcAft>
            </a:pPr>
            <a:r>
              <a:rPr sz="1000" b="1" i="0">
                <a:solidFill>
                  <a:srgbClr val="1E4173"/>
                </a:solidFill>
                <a:latin typeface="Calibri"/>
              </a:rPr>
              <a:t>Submit each certificate with a working, clickable verification link. </a:t>
            </a:r>
            <a:r>
              <a:rPr sz="1000" b="1" i="0">
                <a:solidFill>
                  <a:srgbClr val="A9740A"/>
                </a:solidFill>
                <a:latin typeface="Calibri"/>
              </a:rPr>
              <a:t>No valid, accessible link = 0 marks.</a:t>
            </a:r>
          </a:p>
          <a:p>
            <a:pPr algn="l">
              <a:spcAft>
                <a:spcPts val="200"/>
              </a:spcAft>
            </a:pPr>
            <a:r>
              <a:rPr sz="1000" b="1" i="0">
                <a:solidFill>
                  <a:srgbClr val="1E4173"/>
                </a:solidFill>
                <a:latin typeface="Calibri"/>
              </a:rPr>
              <a:t>All four valid certificates by Session 17 are required to be eligible for the Individual Live E-Portfolio (Session 18) and the Final Business Solution &amp; Defence (Sessions 19–20).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15</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How the 100 marks work</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The 24 and 16 sit inside AS7’s 40. They are not counted twice.</a:t>
            </a:r>
            <a:endParaRPr lang="en-US" sz="900" dirty="0"/>
          </a:p>
        </p:txBody>
      </p:sp>
      <p:sp>
        <p:nvSpPr>
          <p:cNvPr id="7" name="Rounded Rectangle 6"/>
          <p:cNvSpPr/>
          <p:nvPr/>
        </p:nvSpPr>
        <p:spPr>
          <a:xfrm>
            <a:off x="5074920" y="768096"/>
            <a:ext cx="3566160" cy="512064"/>
          </a:xfrm>
          <a:prstGeom prst="roundRect">
            <a:avLst>
              <a:gd name="adj" fmla="val 14285"/>
            </a:avLst>
          </a:prstGeom>
          <a:solidFill>
            <a:srgbClr val="F8F0DF"/>
          </a:solidFill>
          <a:ln w="15875">
            <a:solidFill>
              <a:srgbClr val="A9740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8" name="TextBox 7"/>
          <p:cNvSpPr txBox="1"/>
          <p:nvPr/>
        </p:nvSpPr>
        <p:spPr>
          <a:xfrm>
            <a:off x="5212080" y="786384"/>
            <a:ext cx="3337560" cy="475488"/>
          </a:xfrm>
          <a:prstGeom prst="rect">
            <a:avLst/>
          </a:prstGeom>
          <a:noFill/>
        </p:spPr>
        <p:txBody>
          <a:bodyPr wrap="square" lIns="0" rIns="0" tIns="0" bIns="0" anchor="ctr">
            <a:spAutoFit/>
          </a:bodyPr>
          <a:lstStyle/>
          <a:p>
            <a:pPr algn="l"/>
            <a:r>
              <a:rPr sz="1000" b="1" i="0">
                <a:solidFill>
                  <a:srgbClr val="A9740A"/>
                </a:solidFill>
                <a:latin typeface="Calibri"/>
              </a:rPr>
              <a:t>AFW has NO separate End-Term Examination. </a:t>
            </a:r>
            <a:r>
              <a:rPr sz="1000" b="1" i="0">
                <a:solidFill>
                  <a:srgbClr val="1E4173"/>
                </a:solidFill>
                <a:latin typeface="Calibri"/>
              </a:rPr>
              <a:t>All 100 marks are assessed through AS1–AS7.</a:t>
            </a:r>
          </a:p>
        </p:txBody>
      </p:sp>
      <p:graphicFrame>
        <p:nvGraphicFramePr>
          <p:cNvPr id="9" name="Table 8"/>
          <p:cNvGraphicFramePr>
            <a:graphicFrameLocks noGrp="1"/>
          </p:cNvGraphicFramePr>
          <p:nvPr/>
        </p:nvGraphicFramePr>
        <p:xfrm>
          <a:off x="502920" y="1481328"/>
          <a:ext cx="4389120" cy="2635292"/>
        </p:xfrm>
        <a:graphic>
          <a:graphicData uri="http://schemas.openxmlformats.org/drawingml/2006/table">
            <a:tbl>
              <a:tblPr firstRow="1">
                <a:tableStyleId>{5C22544A-7EE6-4342-B048-85BDC9FD1C3A}</a:tableStyleId>
              </a:tblPr>
              <a:tblGrid>
                <a:gridCol w="3767328"/>
                <a:gridCol w="621792"/>
              </a:tblGrid>
              <a:tr h="239572">
                <a:tc>
                  <a:txBody>
                    <a:bodyPr/>
                    <a:lstStyle/>
                    <a:p>
                      <a:pPr algn="l"/>
                      <a:r>
                        <a:rPr sz="1050" b="1" i="0">
                          <a:solidFill>
                            <a:srgbClr val="FFFFFF"/>
                          </a:solidFill>
                          <a:latin typeface="Calibri"/>
                        </a:rPr>
                        <a:t>Assessment</a:t>
                      </a:r>
                    </a:p>
                  </a:txBody>
                  <a:tcPr marL="91440" marR="91440" marT="13716" marB="13716" anchor="ctr">
                    <a:solidFill>
                      <a:srgbClr val="1E4173"/>
                    </a:solidFill>
                  </a:tcPr>
                </a:tc>
                <a:tc>
                  <a:txBody>
                    <a:bodyPr/>
                    <a:lstStyle/>
                    <a:p>
                      <a:pPr algn="r"/>
                      <a:r>
                        <a:rPr sz="1050" b="1" i="0">
                          <a:solidFill>
                            <a:srgbClr val="FFFFFF"/>
                          </a:solidFill>
                          <a:latin typeface="Calibri"/>
                        </a:rPr>
                        <a:t>Marks</a:t>
                      </a:r>
                    </a:p>
                  </a:txBody>
                  <a:tcPr marL="91440" marR="91440" marT="13716" marB="13716" anchor="ctr">
                    <a:solidFill>
                      <a:srgbClr val="1E4173"/>
                    </a:solidFill>
                  </a:tcPr>
                </a:tc>
              </a:tr>
              <a:tr h="239572">
                <a:tc>
                  <a:txBody>
                    <a:bodyPr/>
                    <a:lstStyle/>
                    <a:p>
                      <a:pPr algn="l"/>
                      <a:r>
                        <a:rPr sz="1000" b="0" i="0">
                          <a:solidFill>
                            <a:srgbClr val="3A4450"/>
                          </a:solidFill>
                          <a:latin typeface="Calibri"/>
                        </a:rPr>
                        <a:t>AS1  Discussion Questions</a:t>
                      </a:r>
                    </a:p>
                  </a:txBody>
                  <a:tcPr marL="91440" marR="91440" marT="13716" marB="13716" anchor="ctr">
                    <a:solidFill>
                      <a:srgbClr val="FFFFFF"/>
                    </a:solidFill>
                  </a:tcPr>
                </a:tc>
                <a:tc>
                  <a:txBody>
                    <a:bodyPr/>
                    <a:lstStyle/>
                    <a:p>
                      <a:pPr algn="r"/>
                      <a:r>
                        <a:rPr sz="1000" b="0" i="0">
                          <a:solidFill>
                            <a:srgbClr val="3A4450"/>
                          </a:solidFill>
                          <a:latin typeface="Calibri"/>
                        </a:rPr>
                        <a:t>5</a:t>
                      </a:r>
                    </a:p>
                  </a:txBody>
                  <a:tcPr marL="91440" marR="91440" marT="13716" marB="13716" anchor="ctr">
                    <a:solidFill>
                      <a:srgbClr val="FFFFFF"/>
                    </a:solidFill>
                  </a:tcPr>
                </a:tc>
              </a:tr>
              <a:tr h="239572">
                <a:tc>
                  <a:txBody>
                    <a:bodyPr/>
                    <a:lstStyle/>
                    <a:p>
                      <a:pPr algn="l"/>
                      <a:r>
                        <a:rPr sz="1000" b="0" i="0">
                          <a:solidFill>
                            <a:srgbClr val="3A4450"/>
                          </a:solidFill>
                          <a:latin typeface="Calibri"/>
                        </a:rPr>
                        <a:t>AS2  WIP 1 – Problem Discovery</a:t>
                      </a:r>
                    </a:p>
                  </a:txBody>
                  <a:tcPr marL="91440" marR="91440" marT="13716" marB="13716" anchor="ctr">
                    <a:solidFill>
                      <a:srgbClr val="F2F4F8"/>
                    </a:solidFill>
                  </a:tcPr>
                </a:tc>
                <a:tc>
                  <a:txBody>
                    <a:bodyPr/>
                    <a:lstStyle/>
                    <a:p>
                      <a:pPr algn="r"/>
                      <a:r>
                        <a:rPr sz="1000" b="0" i="0">
                          <a:solidFill>
                            <a:srgbClr val="3A4450"/>
                          </a:solidFill>
                          <a:latin typeface="Calibri"/>
                        </a:rPr>
                        <a:t>10</a:t>
                      </a:r>
                    </a:p>
                  </a:txBody>
                  <a:tcPr marL="91440" marR="91440" marT="13716" marB="13716" anchor="ctr">
                    <a:solidFill>
                      <a:srgbClr val="F2F4F8"/>
                    </a:solidFill>
                  </a:tcPr>
                </a:tc>
              </a:tr>
              <a:tr h="239572">
                <a:tc>
                  <a:txBody>
                    <a:bodyPr/>
                    <a:lstStyle/>
                    <a:p>
                      <a:pPr algn="l"/>
                      <a:r>
                        <a:rPr sz="1000" b="0" i="0">
                          <a:solidFill>
                            <a:srgbClr val="3A4450"/>
                          </a:solidFill>
                          <a:latin typeface="Calibri"/>
                        </a:rPr>
                        <a:t>AS3  WIP 2 – Business Problem &amp; Evidence</a:t>
                      </a:r>
                    </a:p>
                  </a:txBody>
                  <a:tcPr marL="91440" marR="91440" marT="13716" marB="13716" anchor="ctr">
                    <a:solidFill>
                      <a:srgbClr val="FFFFFF"/>
                    </a:solidFill>
                  </a:tcPr>
                </a:tc>
                <a:tc>
                  <a:txBody>
                    <a:bodyPr/>
                    <a:lstStyle/>
                    <a:p>
                      <a:pPr algn="r"/>
                      <a:r>
                        <a:rPr sz="1000" b="0" i="0">
                          <a:solidFill>
                            <a:srgbClr val="3A4450"/>
                          </a:solidFill>
                          <a:latin typeface="Calibri"/>
                        </a:rPr>
                        <a:t>10</a:t>
                      </a:r>
                    </a:p>
                  </a:txBody>
                  <a:tcPr marL="91440" marR="91440" marT="13716" marB="13716" anchor="ctr">
                    <a:solidFill>
                      <a:srgbClr val="FFFFFF"/>
                    </a:solidFill>
                  </a:tcPr>
                </a:tc>
              </a:tr>
              <a:tr h="239572">
                <a:tc>
                  <a:txBody>
                    <a:bodyPr/>
                    <a:lstStyle/>
                    <a:p>
                      <a:pPr algn="l"/>
                      <a:r>
                        <a:rPr sz="1000" b="0" i="0">
                          <a:solidFill>
                            <a:srgbClr val="3A4450"/>
                          </a:solidFill>
                          <a:latin typeface="Calibri"/>
                        </a:rPr>
                        <a:t>AS4  WIP 3 – Future Workflow, Methodology &amp; Prototype</a:t>
                      </a:r>
                    </a:p>
                  </a:txBody>
                  <a:tcPr marL="91440" marR="91440" marT="13716" marB="13716" anchor="ctr">
                    <a:solidFill>
                      <a:srgbClr val="F2F4F8"/>
                    </a:solidFill>
                  </a:tcPr>
                </a:tc>
                <a:tc>
                  <a:txBody>
                    <a:bodyPr/>
                    <a:lstStyle/>
                    <a:p>
                      <a:pPr algn="r"/>
                      <a:r>
                        <a:rPr sz="1000" b="0" i="0">
                          <a:solidFill>
                            <a:srgbClr val="3A4450"/>
                          </a:solidFill>
                          <a:latin typeface="Calibri"/>
                        </a:rPr>
                        <a:t>10</a:t>
                      </a:r>
                    </a:p>
                  </a:txBody>
                  <a:tcPr marL="91440" marR="91440" marT="13716" marB="13716" anchor="ctr">
                    <a:solidFill>
                      <a:srgbClr val="F2F4F8"/>
                    </a:solidFill>
                  </a:tcPr>
                </a:tc>
              </a:tr>
              <a:tr h="239572">
                <a:tc>
                  <a:txBody>
                    <a:bodyPr/>
                    <a:lstStyle/>
                    <a:p>
                      <a:pPr algn="l"/>
                      <a:r>
                        <a:rPr sz="1000" b="0" i="0">
                          <a:solidFill>
                            <a:srgbClr val="3A4450"/>
                          </a:solidFill>
                          <a:latin typeface="Calibri"/>
                        </a:rPr>
                        <a:t>AS5  LinkedIn Learning Certificates</a:t>
                      </a:r>
                    </a:p>
                  </a:txBody>
                  <a:tcPr marL="91440" marR="91440" marT="13716" marB="13716" anchor="ctr">
                    <a:solidFill>
                      <a:srgbClr val="FFFFFF"/>
                    </a:solidFill>
                  </a:tcPr>
                </a:tc>
                <a:tc>
                  <a:txBody>
                    <a:bodyPr/>
                    <a:lstStyle/>
                    <a:p>
                      <a:pPr algn="r"/>
                      <a:r>
                        <a:rPr sz="1000" b="0" i="0">
                          <a:solidFill>
                            <a:srgbClr val="3A4450"/>
                          </a:solidFill>
                          <a:latin typeface="Calibri"/>
                        </a:rPr>
                        <a:t>10</a:t>
                      </a:r>
                    </a:p>
                  </a:txBody>
                  <a:tcPr marL="91440" marR="91440" marT="13716" marB="13716" anchor="ctr">
                    <a:solidFill>
                      <a:srgbClr val="FFFFFF"/>
                    </a:solidFill>
                  </a:tcPr>
                </a:tc>
              </a:tr>
              <a:tr h="239572">
                <a:tc>
                  <a:txBody>
                    <a:bodyPr/>
                    <a:lstStyle/>
                    <a:p>
                      <a:pPr algn="l"/>
                      <a:r>
                        <a:rPr sz="1000" b="0" i="0">
                          <a:solidFill>
                            <a:srgbClr val="3A4450"/>
                          </a:solidFill>
                          <a:latin typeface="Calibri"/>
                        </a:rPr>
                        <a:t>AS6  Individual Live E-Portfolio</a:t>
                      </a:r>
                    </a:p>
                  </a:txBody>
                  <a:tcPr marL="91440" marR="91440" marT="13716" marB="13716" anchor="ctr">
                    <a:solidFill>
                      <a:srgbClr val="F2F4F8"/>
                    </a:solidFill>
                  </a:tcPr>
                </a:tc>
                <a:tc>
                  <a:txBody>
                    <a:bodyPr/>
                    <a:lstStyle/>
                    <a:p>
                      <a:pPr algn="r"/>
                      <a:r>
                        <a:rPr sz="1000" b="0" i="0">
                          <a:solidFill>
                            <a:srgbClr val="3A4450"/>
                          </a:solidFill>
                          <a:latin typeface="Calibri"/>
                        </a:rPr>
                        <a:t>15</a:t>
                      </a:r>
                    </a:p>
                  </a:txBody>
                  <a:tcPr marL="91440" marR="91440" marT="13716" marB="13716" anchor="ctr">
                    <a:solidFill>
                      <a:srgbClr val="F2F4F8"/>
                    </a:solidFill>
                  </a:tcPr>
                </a:tc>
              </a:tr>
              <a:tr h="239572">
                <a:tc>
                  <a:txBody>
                    <a:bodyPr/>
                    <a:lstStyle/>
                    <a:p>
                      <a:pPr algn="l"/>
                      <a:r>
                        <a:rPr sz="1050" b="1" i="0">
                          <a:solidFill>
                            <a:srgbClr val="1E4173"/>
                          </a:solidFill>
                          <a:latin typeface="Calibri"/>
                        </a:rPr>
                        <a:t>AS7  Final Business Solution &amp; Defence</a:t>
                      </a:r>
                    </a:p>
                  </a:txBody>
                  <a:tcPr marL="91440" marR="91440" marT="13716" marB="13716" anchor="ctr">
                    <a:solidFill>
                      <a:srgbClr val="F8F0DF"/>
                    </a:solidFill>
                  </a:tcPr>
                </a:tc>
                <a:tc>
                  <a:txBody>
                    <a:bodyPr/>
                    <a:lstStyle/>
                    <a:p>
                      <a:pPr algn="r"/>
                      <a:r>
                        <a:rPr sz="1050" b="1" i="0">
                          <a:solidFill>
                            <a:srgbClr val="1E4173"/>
                          </a:solidFill>
                          <a:latin typeface="Calibri"/>
                        </a:rPr>
                        <a:t>40</a:t>
                      </a:r>
                    </a:p>
                  </a:txBody>
                  <a:tcPr marL="91440" marR="91440" marT="13716" marB="13716" anchor="ctr">
                    <a:solidFill>
                      <a:srgbClr val="F8F0DF"/>
                    </a:solidFill>
                  </a:tcPr>
                </a:tc>
              </a:tr>
              <a:tr h="239572">
                <a:tc>
                  <a:txBody>
                    <a:bodyPr/>
                    <a:lstStyle/>
                    <a:p>
                      <a:pPr algn="l"/>
                      <a:r>
                        <a:rPr sz="950" b="0" i="1">
                          <a:solidFill>
                            <a:srgbClr val="5A6472"/>
                          </a:solidFill>
                          <a:latin typeface="Calibri"/>
                        </a:rPr>
                        <a:t>↳  Working AI-Enabled Business Solution</a:t>
                      </a:r>
                    </a:p>
                  </a:txBody>
                  <a:tcPr marL="320040" marR="91440" marT="13716" marB="13716" anchor="ctr">
                    <a:solidFill>
                      <a:srgbClr val="F8F0DF"/>
                    </a:solidFill>
                  </a:tcPr>
                </a:tc>
                <a:tc>
                  <a:txBody>
                    <a:bodyPr/>
                    <a:lstStyle/>
                    <a:p>
                      <a:pPr algn="r"/>
                      <a:r>
                        <a:rPr sz="950" b="0" i="1">
                          <a:solidFill>
                            <a:srgbClr val="5A6472"/>
                          </a:solidFill>
                          <a:latin typeface="Calibri"/>
                        </a:rPr>
                        <a:t>24</a:t>
                      </a:r>
                    </a:p>
                  </a:txBody>
                  <a:tcPr marL="91440" marR="91440" marT="13716" marB="13716" anchor="ctr">
                    <a:solidFill>
                      <a:srgbClr val="F8F0DF"/>
                    </a:solidFill>
                  </a:tcPr>
                </a:tc>
              </a:tr>
              <a:tr h="239572">
                <a:tc>
                  <a:txBody>
                    <a:bodyPr/>
                    <a:lstStyle/>
                    <a:p>
                      <a:pPr algn="l"/>
                      <a:r>
                        <a:rPr sz="950" b="0" i="1">
                          <a:solidFill>
                            <a:srgbClr val="5A6472"/>
                          </a:solidFill>
                          <a:latin typeface="Calibri"/>
                        </a:rPr>
                        <a:t>↳  Presentation &amp; Defence</a:t>
                      </a:r>
                    </a:p>
                  </a:txBody>
                  <a:tcPr marL="320040" marR="91440" marT="13716" marB="13716" anchor="ctr">
                    <a:solidFill>
                      <a:srgbClr val="F8F0DF"/>
                    </a:solidFill>
                  </a:tcPr>
                </a:tc>
                <a:tc>
                  <a:txBody>
                    <a:bodyPr/>
                    <a:lstStyle/>
                    <a:p>
                      <a:pPr algn="r"/>
                      <a:r>
                        <a:rPr sz="950" b="0" i="1">
                          <a:solidFill>
                            <a:srgbClr val="5A6472"/>
                          </a:solidFill>
                          <a:latin typeface="Calibri"/>
                        </a:rPr>
                        <a:t>16</a:t>
                      </a:r>
                    </a:p>
                  </a:txBody>
                  <a:tcPr marL="91440" marR="91440" marT="13716" marB="13716" anchor="ctr">
                    <a:solidFill>
                      <a:srgbClr val="F8F0DF"/>
                    </a:solidFill>
                  </a:tcPr>
                </a:tc>
              </a:tr>
              <a:tr h="239572">
                <a:tc>
                  <a:txBody>
                    <a:bodyPr/>
                    <a:lstStyle/>
                    <a:p>
                      <a:pPr algn="l"/>
                      <a:r>
                        <a:rPr sz="1050" b="1" i="0">
                          <a:solidFill>
                            <a:srgbClr val="FFFFFF"/>
                          </a:solidFill>
                          <a:latin typeface="Calibri"/>
                        </a:rPr>
                        <a:t>Total</a:t>
                      </a:r>
                    </a:p>
                  </a:txBody>
                  <a:tcPr marL="91440" marR="91440" marT="13716" marB="13716" anchor="ctr">
                    <a:solidFill>
                      <a:srgbClr val="1E4173"/>
                    </a:solidFill>
                  </a:tcPr>
                </a:tc>
                <a:tc>
                  <a:txBody>
                    <a:bodyPr/>
                    <a:lstStyle/>
                    <a:p>
                      <a:pPr algn="r"/>
                      <a:r>
                        <a:rPr sz="1050" b="1" i="0">
                          <a:solidFill>
                            <a:srgbClr val="FFFFFF"/>
                          </a:solidFill>
                          <a:latin typeface="Calibri"/>
                        </a:rPr>
                        <a:t>100</a:t>
                      </a:r>
                    </a:p>
                  </a:txBody>
                  <a:tcPr marL="91440" marR="91440" marT="13716" marB="13716" anchor="ctr">
                    <a:solidFill>
                      <a:srgbClr val="1E4173"/>
                    </a:solidFill>
                  </a:tcPr>
                </a:tc>
              </a:tr>
            </a:tbl>
          </a:graphicData>
        </a:graphic>
      </p:graphicFrame>
      <p:sp>
        <p:nvSpPr>
          <p:cNvPr id="10" name="TextBox 9"/>
          <p:cNvSpPr txBox="1"/>
          <p:nvPr/>
        </p:nvSpPr>
        <p:spPr>
          <a:xfrm>
            <a:off x="5138928" y="1499616"/>
            <a:ext cx="3502152" cy="182880"/>
          </a:xfrm>
          <a:prstGeom prst="rect">
            <a:avLst/>
          </a:prstGeom>
          <a:noFill/>
        </p:spPr>
        <p:txBody>
          <a:bodyPr wrap="square" lIns="0" rIns="0" tIns="0" bIns="0" anchor="t">
            <a:spAutoFit/>
          </a:bodyPr>
          <a:lstStyle/>
          <a:p>
            <a:pPr algn="l"/>
            <a:r>
              <a:rPr sz="850" b="1" i="0">
                <a:solidFill>
                  <a:srgbClr val="A9740A"/>
                </a:solidFill>
                <a:latin typeface="Calibri"/>
              </a:rPr>
              <a:t>WHERE THE 100 MARKS GO</a:t>
            </a:r>
          </a:p>
        </p:txBody>
      </p:sp>
      <p:sp>
        <p:nvSpPr>
          <p:cNvPr id="11" name="Rectangle 10"/>
          <p:cNvSpPr/>
          <p:nvPr/>
        </p:nvSpPr>
        <p:spPr>
          <a:xfrm>
            <a:off x="5138928" y="1737360"/>
            <a:ext cx="156819" cy="402336"/>
          </a:xfrm>
          <a:prstGeom prst="rect">
            <a:avLst/>
          </a:prstGeom>
          <a:solidFill>
            <a:srgbClr val="8FA3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00" b="1" i="0">
                <a:solidFill>
                  <a:srgbClr val="FFFFFF"/>
                </a:solidFill>
                <a:latin typeface="Calibri"/>
              </a:rPr>
              <a:t>5</a:t>
            </a:r>
          </a:p>
        </p:txBody>
      </p:sp>
      <p:sp>
        <p:nvSpPr>
          <p:cNvPr id="12" name="Rectangle 11"/>
          <p:cNvSpPr/>
          <p:nvPr/>
        </p:nvSpPr>
        <p:spPr>
          <a:xfrm>
            <a:off x="5314035" y="1737360"/>
            <a:ext cx="331927" cy="402336"/>
          </a:xfrm>
          <a:prstGeom prst="rect">
            <a:avLst/>
          </a:prstGeom>
          <a:solidFill>
            <a:srgbClr val="5C77A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50" b="1" i="0">
                <a:solidFill>
                  <a:srgbClr val="FFFFFF"/>
                </a:solidFill>
                <a:latin typeface="Calibri"/>
              </a:rPr>
              <a:t>10</a:t>
            </a:r>
          </a:p>
        </p:txBody>
      </p:sp>
      <p:sp>
        <p:nvSpPr>
          <p:cNvPr id="13" name="Rectangle 12"/>
          <p:cNvSpPr/>
          <p:nvPr/>
        </p:nvSpPr>
        <p:spPr>
          <a:xfrm>
            <a:off x="5664250" y="1737360"/>
            <a:ext cx="331927" cy="402336"/>
          </a:xfrm>
          <a:prstGeom prst="rect">
            <a:avLst/>
          </a:prstGeom>
          <a:solidFill>
            <a:srgbClr val="3D5C8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50" b="1" i="0">
                <a:solidFill>
                  <a:srgbClr val="FFFFFF"/>
                </a:solidFill>
                <a:latin typeface="Calibri"/>
              </a:rPr>
              <a:t>10</a:t>
            </a:r>
          </a:p>
        </p:txBody>
      </p:sp>
      <p:sp>
        <p:nvSpPr>
          <p:cNvPr id="14" name="Rectangle 13"/>
          <p:cNvSpPr/>
          <p:nvPr/>
        </p:nvSpPr>
        <p:spPr>
          <a:xfrm>
            <a:off x="6014466" y="1737360"/>
            <a:ext cx="331927" cy="402336"/>
          </a:xfrm>
          <a:prstGeom prst="rect">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50" b="1" i="0">
                <a:solidFill>
                  <a:srgbClr val="FFFFFF"/>
                </a:solidFill>
                <a:latin typeface="Calibri"/>
              </a:rPr>
              <a:t>10</a:t>
            </a:r>
          </a:p>
        </p:txBody>
      </p:sp>
      <p:sp>
        <p:nvSpPr>
          <p:cNvPr id="15" name="Rectangle 14"/>
          <p:cNvSpPr/>
          <p:nvPr/>
        </p:nvSpPr>
        <p:spPr>
          <a:xfrm>
            <a:off x="6364681" y="1737360"/>
            <a:ext cx="331927" cy="402336"/>
          </a:xfrm>
          <a:prstGeom prst="rect">
            <a:avLst/>
          </a:prstGeom>
          <a:solidFill>
            <a:srgbClr val="6B7C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50" b="1" i="0">
                <a:solidFill>
                  <a:srgbClr val="FFFFFF"/>
                </a:solidFill>
                <a:latin typeface="Calibri"/>
              </a:rPr>
              <a:t>10</a:t>
            </a:r>
          </a:p>
        </p:txBody>
      </p:sp>
      <p:sp>
        <p:nvSpPr>
          <p:cNvPr id="16" name="Rectangle 15"/>
          <p:cNvSpPr/>
          <p:nvPr/>
        </p:nvSpPr>
        <p:spPr>
          <a:xfrm>
            <a:off x="6714896" y="1737360"/>
            <a:ext cx="507034" cy="402336"/>
          </a:xfrm>
          <a:prstGeom prst="rect">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50" b="1" i="0">
                <a:solidFill>
                  <a:srgbClr val="FFFFFF"/>
                </a:solidFill>
                <a:latin typeface="Calibri"/>
              </a:rPr>
              <a:t>15</a:t>
            </a:r>
          </a:p>
        </p:txBody>
      </p:sp>
      <p:sp>
        <p:nvSpPr>
          <p:cNvPr id="17" name="Rectangle 16"/>
          <p:cNvSpPr/>
          <p:nvPr/>
        </p:nvSpPr>
        <p:spPr>
          <a:xfrm>
            <a:off x="7240219" y="1737360"/>
            <a:ext cx="1382572" cy="402336"/>
          </a:xfrm>
          <a:prstGeom prst="rect">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50" b="1" i="0">
                <a:solidFill>
                  <a:srgbClr val="FFFFFF"/>
                </a:solidFill>
                <a:latin typeface="Calibri"/>
              </a:rPr>
              <a:t>40</a:t>
            </a:r>
          </a:p>
        </p:txBody>
      </p:sp>
      <p:sp>
        <p:nvSpPr>
          <p:cNvPr id="18" name="TextBox 17"/>
          <p:cNvSpPr txBox="1"/>
          <p:nvPr/>
        </p:nvSpPr>
        <p:spPr>
          <a:xfrm>
            <a:off x="5138928" y="2194560"/>
            <a:ext cx="2101291" cy="274320"/>
          </a:xfrm>
          <a:prstGeom prst="rect">
            <a:avLst/>
          </a:prstGeom>
          <a:noFill/>
        </p:spPr>
        <p:txBody>
          <a:bodyPr wrap="square" lIns="0" rIns="0" tIns="0" bIns="0" anchor="t">
            <a:spAutoFit/>
          </a:bodyPr>
          <a:lstStyle/>
          <a:p>
            <a:pPr algn="l"/>
            <a:r>
              <a:rPr sz="900" b="1" i="0">
                <a:solidFill>
                  <a:srgbClr val="5A6472"/>
                </a:solidFill>
                <a:latin typeface="Calibri"/>
              </a:rPr>
              <a:t>AS1–AS6 = 60</a:t>
            </a:r>
          </a:p>
        </p:txBody>
      </p:sp>
      <p:sp>
        <p:nvSpPr>
          <p:cNvPr id="19" name="TextBox 18"/>
          <p:cNvSpPr txBox="1"/>
          <p:nvPr/>
        </p:nvSpPr>
        <p:spPr>
          <a:xfrm>
            <a:off x="7240219" y="2194560"/>
            <a:ext cx="1400860" cy="274320"/>
          </a:xfrm>
          <a:prstGeom prst="rect">
            <a:avLst/>
          </a:prstGeom>
          <a:noFill/>
        </p:spPr>
        <p:txBody>
          <a:bodyPr wrap="square" lIns="0" rIns="0" tIns="0" bIns="0" anchor="t">
            <a:spAutoFit/>
          </a:bodyPr>
          <a:lstStyle/>
          <a:p>
            <a:pPr algn="r"/>
            <a:r>
              <a:rPr sz="900" b="1" i="0">
                <a:solidFill>
                  <a:srgbClr val="A9740A"/>
                </a:solidFill>
                <a:latin typeface="Calibri"/>
              </a:rPr>
              <a:t>AS7 = 40</a:t>
            </a:r>
          </a:p>
        </p:txBody>
      </p:sp>
      <p:sp>
        <p:nvSpPr>
          <p:cNvPr id="20" name="Rounded Rectangle 19"/>
          <p:cNvSpPr/>
          <p:nvPr/>
        </p:nvSpPr>
        <p:spPr>
          <a:xfrm>
            <a:off x="5138928" y="2578608"/>
            <a:ext cx="3502152" cy="1554480"/>
          </a:xfrm>
          <a:prstGeom prst="roundRect">
            <a:avLst>
              <a:gd name="adj" fmla="val 5882"/>
            </a:avLst>
          </a:prstGeom>
          <a:solidFill>
            <a:srgbClr val="F8F0DF"/>
          </a:solidFill>
          <a:ln w="15875">
            <a:solidFill>
              <a:srgbClr val="A9740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1" name="TextBox 20"/>
          <p:cNvSpPr txBox="1"/>
          <p:nvPr/>
        </p:nvSpPr>
        <p:spPr>
          <a:xfrm>
            <a:off x="5321808" y="2651760"/>
            <a:ext cx="3136392" cy="274320"/>
          </a:xfrm>
          <a:prstGeom prst="rect">
            <a:avLst/>
          </a:prstGeom>
          <a:noFill/>
        </p:spPr>
        <p:txBody>
          <a:bodyPr wrap="square" lIns="0" rIns="0" tIns="0" bIns="0" anchor="t">
            <a:spAutoFit/>
          </a:bodyPr>
          <a:lstStyle/>
          <a:p>
            <a:pPr algn="l"/>
            <a:r>
              <a:rPr sz="1050" b="1" i="0">
                <a:solidFill>
                  <a:srgbClr val="1E4173"/>
                </a:solidFill>
                <a:latin typeface="Calibri"/>
              </a:rPr>
              <a:t>Inside AS7’s 40: Final Business Solution &amp; Defence</a:t>
            </a:r>
          </a:p>
        </p:txBody>
      </p:sp>
      <p:sp>
        <p:nvSpPr>
          <p:cNvPr id="22" name="Rounded Rectangle 21"/>
          <p:cNvSpPr/>
          <p:nvPr/>
        </p:nvSpPr>
        <p:spPr>
          <a:xfrm>
            <a:off x="5321808" y="2980944"/>
            <a:ext cx="1836115" cy="676656"/>
          </a:xfrm>
          <a:prstGeom prst="roundRect">
            <a:avLst>
              <a:gd name="adj" fmla="val 8108"/>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3" name="TextBox 22"/>
          <p:cNvSpPr txBox="1"/>
          <p:nvPr/>
        </p:nvSpPr>
        <p:spPr>
          <a:xfrm>
            <a:off x="5376672" y="3017520"/>
            <a:ext cx="1726387" cy="274320"/>
          </a:xfrm>
          <a:prstGeom prst="rect">
            <a:avLst/>
          </a:prstGeom>
          <a:noFill/>
        </p:spPr>
        <p:txBody>
          <a:bodyPr wrap="square" lIns="0" rIns="0" tIns="0" bIns="0" anchor="t">
            <a:spAutoFit/>
          </a:bodyPr>
          <a:lstStyle/>
          <a:p>
            <a:pPr algn="ctr"/>
            <a:r>
              <a:rPr sz="1700" b="1" i="0">
                <a:solidFill>
                  <a:srgbClr val="FFFFFF"/>
                </a:solidFill>
                <a:latin typeface="Cambria"/>
              </a:rPr>
              <a:t>24</a:t>
            </a:r>
          </a:p>
        </p:txBody>
      </p:sp>
      <p:sp>
        <p:nvSpPr>
          <p:cNvPr id="24" name="TextBox 23"/>
          <p:cNvSpPr txBox="1"/>
          <p:nvPr/>
        </p:nvSpPr>
        <p:spPr>
          <a:xfrm>
            <a:off x="5376672" y="3310128"/>
            <a:ext cx="1726387" cy="329184"/>
          </a:xfrm>
          <a:prstGeom prst="rect">
            <a:avLst/>
          </a:prstGeom>
          <a:noFill/>
        </p:spPr>
        <p:txBody>
          <a:bodyPr wrap="square" lIns="0" rIns="0" tIns="0" bIns="0" anchor="t">
            <a:spAutoFit/>
          </a:bodyPr>
          <a:lstStyle/>
          <a:p>
            <a:pPr algn="ctr"/>
            <a:r>
              <a:rPr sz="850" b="1" i="0">
                <a:solidFill>
                  <a:srgbClr val="FFFFFF"/>
                </a:solidFill>
                <a:latin typeface="Calibri"/>
              </a:rPr>
              <a:t>Working AI-Enabled Business Solution</a:t>
            </a:r>
          </a:p>
        </p:txBody>
      </p:sp>
      <p:sp>
        <p:nvSpPr>
          <p:cNvPr id="25" name="Rounded Rectangle 24"/>
          <p:cNvSpPr/>
          <p:nvPr/>
        </p:nvSpPr>
        <p:spPr>
          <a:xfrm>
            <a:off x="7249363" y="2980944"/>
            <a:ext cx="1208836" cy="676656"/>
          </a:xfrm>
          <a:prstGeom prst="roundRect">
            <a:avLst>
              <a:gd name="adj" fmla="val 8108"/>
            </a:avLst>
          </a:prstGeom>
          <a:solidFill>
            <a:srgbClr val="3D5C8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6" name="TextBox 25"/>
          <p:cNvSpPr txBox="1"/>
          <p:nvPr/>
        </p:nvSpPr>
        <p:spPr>
          <a:xfrm>
            <a:off x="7304227" y="3017520"/>
            <a:ext cx="1099108" cy="274320"/>
          </a:xfrm>
          <a:prstGeom prst="rect">
            <a:avLst/>
          </a:prstGeom>
          <a:noFill/>
        </p:spPr>
        <p:txBody>
          <a:bodyPr wrap="square" lIns="0" rIns="0" tIns="0" bIns="0" anchor="t">
            <a:spAutoFit/>
          </a:bodyPr>
          <a:lstStyle/>
          <a:p>
            <a:pPr algn="ctr"/>
            <a:r>
              <a:rPr sz="1700" b="1" i="0">
                <a:solidFill>
                  <a:srgbClr val="FFFFFF"/>
                </a:solidFill>
                <a:latin typeface="Cambria"/>
              </a:rPr>
              <a:t>16</a:t>
            </a:r>
          </a:p>
        </p:txBody>
      </p:sp>
      <p:sp>
        <p:nvSpPr>
          <p:cNvPr id="27" name="TextBox 26"/>
          <p:cNvSpPr txBox="1"/>
          <p:nvPr/>
        </p:nvSpPr>
        <p:spPr>
          <a:xfrm>
            <a:off x="7304227" y="3310128"/>
            <a:ext cx="1099108" cy="329184"/>
          </a:xfrm>
          <a:prstGeom prst="rect">
            <a:avLst/>
          </a:prstGeom>
          <a:noFill/>
        </p:spPr>
        <p:txBody>
          <a:bodyPr wrap="square" lIns="0" rIns="0" tIns="0" bIns="0" anchor="t">
            <a:spAutoFit/>
          </a:bodyPr>
          <a:lstStyle/>
          <a:p>
            <a:pPr algn="ctr"/>
            <a:r>
              <a:rPr sz="850" b="1" i="0">
                <a:solidFill>
                  <a:srgbClr val="FFFFFF"/>
                </a:solidFill>
                <a:latin typeface="Calibri"/>
              </a:rPr>
              <a:t>Presentation &amp; Defence</a:t>
            </a:r>
          </a:p>
        </p:txBody>
      </p:sp>
      <p:sp>
        <p:nvSpPr>
          <p:cNvPr id="28" name="TextBox 27"/>
          <p:cNvSpPr txBox="1"/>
          <p:nvPr/>
        </p:nvSpPr>
        <p:spPr>
          <a:xfrm>
            <a:off x="5321808" y="3749039"/>
            <a:ext cx="3136392" cy="329184"/>
          </a:xfrm>
          <a:prstGeom prst="rect">
            <a:avLst/>
          </a:prstGeom>
          <a:noFill/>
        </p:spPr>
        <p:txBody>
          <a:bodyPr wrap="square" lIns="0" rIns="0" tIns="0" bIns="0" anchor="t">
            <a:spAutoFit/>
          </a:bodyPr>
          <a:lstStyle/>
          <a:p>
            <a:pPr algn="l"/>
            <a:r>
              <a:rPr sz="1000" b="0" i="1">
                <a:solidFill>
                  <a:srgbClr val="3A4450"/>
                </a:solidFill>
                <a:latin typeface="Calibri"/>
              </a:rPr>
              <a:t>24 + 16 = 40. Counted once, not added again.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16</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Ground rules and class contract</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How we will work together this term.</a:t>
            </a:r>
            <a:endParaRPr lang="en-US" sz="900" dirty="0"/>
          </a:p>
        </p:txBody>
      </p:sp>
      <p:sp>
        <p:nvSpPr>
          <p:cNvPr id="7" name="Oval 6"/>
          <p:cNvSpPr/>
          <p:nvPr/>
        </p:nvSpPr>
        <p:spPr>
          <a:xfrm>
            <a:off x="502920" y="1517904"/>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8" name="Picture 7" descr="clock_w.png"/>
          <p:cNvPicPr>
            <a:picLocks noChangeAspect="1"/>
          </p:cNvPicPr>
          <p:nvPr/>
        </p:nvPicPr>
        <p:blipFill>
          <a:blip r:embed="rId2"/>
          <a:stretch>
            <a:fillRect/>
          </a:stretch>
        </p:blipFill>
        <p:spPr>
          <a:xfrm>
            <a:off x="617037" y="1632021"/>
            <a:ext cx="210677" cy="210677"/>
          </a:xfrm>
          <a:prstGeom prst="rect">
            <a:avLst/>
          </a:prstGeom>
        </p:spPr>
      </p:pic>
      <p:sp>
        <p:nvSpPr>
          <p:cNvPr id="9" name="TextBox 8"/>
          <p:cNvSpPr txBox="1"/>
          <p:nvPr/>
        </p:nvSpPr>
        <p:spPr>
          <a:xfrm>
            <a:off x="1097280" y="1508760"/>
            <a:ext cx="3931920" cy="237744"/>
          </a:xfrm>
          <a:prstGeom prst="rect">
            <a:avLst/>
          </a:prstGeom>
          <a:noFill/>
        </p:spPr>
        <p:txBody>
          <a:bodyPr wrap="square" lIns="0" rIns="0" tIns="0" bIns="0" anchor="t">
            <a:spAutoFit/>
          </a:bodyPr>
          <a:lstStyle/>
          <a:p>
            <a:pPr algn="l"/>
            <a:r>
              <a:rPr sz="1200" b="1" i="0">
                <a:solidFill>
                  <a:srgbClr val="1E4173"/>
                </a:solidFill>
                <a:latin typeface="Calibri"/>
              </a:rPr>
              <a:t>Punctuality and attendance</a:t>
            </a:r>
          </a:p>
        </p:txBody>
      </p:sp>
      <p:sp>
        <p:nvSpPr>
          <p:cNvPr id="10" name="TextBox 9"/>
          <p:cNvSpPr txBox="1"/>
          <p:nvPr/>
        </p:nvSpPr>
        <p:spPr>
          <a:xfrm>
            <a:off x="1097280" y="1737360"/>
            <a:ext cx="3931920" cy="256032"/>
          </a:xfrm>
          <a:prstGeom prst="rect">
            <a:avLst/>
          </a:prstGeom>
          <a:noFill/>
        </p:spPr>
        <p:txBody>
          <a:bodyPr wrap="square" lIns="0" rIns="0" tIns="0" bIns="0" anchor="t">
            <a:spAutoFit/>
          </a:bodyPr>
          <a:lstStyle/>
          <a:p>
            <a:pPr algn="l"/>
            <a:r>
              <a:rPr sz="1100" b="0" i="0">
                <a:solidFill>
                  <a:srgbClr val="3A4450"/>
                </a:solidFill>
                <a:latin typeface="Calibri"/>
              </a:rPr>
              <a:t>Be on time. Attendance follows FIIB policy.</a:t>
            </a:r>
          </a:p>
        </p:txBody>
      </p:sp>
      <p:sp>
        <p:nvSpPr>
          <p:cNvPr id="11" name="Oval 10"/>
          <p:cNvSpPr/>
          <p:nvPr/>
        </p:nvSpPr>
        <p:spPr>
          <a:xfrm>
            <a:off x="502920" y="2103120"/>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12" name="Picture 11" descr="laptop_w.png"/>
          <p:cNvPicPr>
            <a:picLocks noChangeAspect="1"/>
          </p:cNvPicPr>
          <p:nvPr/>
        </p:nvPicPr>
        <p:blipFill>
          <a:blip r:embed="rId7"/>
          <a:stretch>
            <a:fillRect/>
          </a:stretch>
        </p:blipFill>
        <p:spPr>
          <a:xfrm>
            <a:off x="617037" y="2217237"/>
            <a:ext cx="210677" cy="210677"/>
          </a:xfrm>
          <a:prstGeom prst="rect">
            <a:avLst/>
          </a:prstGeom>
        </p:spPr>
      </p:pic>
      <p:sp>
        <p:nvSpPr>
          <p:cNvPr id="13" name="TextBox 12"/>
          <p:cNvSpPr txBox="1"/>
          <p:nvPr/>
        </p:nvSpPr>
        <p:spPr>
          <a:xfrm>
            <a:off x="1097280" y="2093976"/>
            <a:ext cx="3931920" cy="237744"/>
          </a:xfrm>
          <a:prstGeom prst="rect">
            <a:avLst/>
          </a:prstGeom>
          <a:noFill/>
        </p:spPr>
        <p:txBody>
          <a:bodyPr wrap="square" lIns="0" rIns="0" tIns="0" bIns="0" anchor="t">
            <a:spAutoFit/>
          </a:bodyPr>
          <a:lstStyle/>
          <a:p>
            <a:pPr algn="l"/>
            <a:r>
              <a:rPr sz="1200" b="1" i="0">
                <a:solidFill>
                  <a:srgbClr val="1E4173"/>
                </a:solidFill>
                <a:latin typeface="Calibri"/>
              </a:rPr>
              <a:t>Devices</a:t>
            </a:r>
          </a:p>
        </p:txBody>
      </p:sp>
      <p:sp>
        <p:nvSpPr>
          <p:cNvPr id="14" name="TextBox 13"/>
          <p:cNvSpPr txBox="1"/>
          <p:nvPr/>
        </p:nvSpPr>
        <p:spPr>
          <a:xfrm>
            <a:off x="1097280" y="2322576"/>
            <a:ext cx="3931920" cy="256032"/>
          </a:xfrm>
          <a:prstGeom prst="rect">
            <a:avLst/>
          </a:prstGeom>
          <a:noFill/>
        </p:spPr>
        <p:txBody>
          <a:bodyPr wrap="square" lIns="0" rIns="0" tIns="0" bIns="0" anchor="t">
            <a:spAutoFit/>
          </a:bodyPr>
          <a:lstStyle/>
          <a:p>
            <a:pPr algn="l"/>
            <a:r>
              <a:rPr sz="1100" b="0" i="0">
                <a:solidFill>
                  <a:srgbClr val="3A4450"/>
                </a:solidFill>
                <a:latin typeface="Calibri"/>
              </a:rPr>
              <a:t>Devices are for class work: building, testing, research.</a:t>
            </a:r>
          </a:p>
        </p:txBody>
      </p:sp>
      <p:sp>
        <p:nvSpPr>
          <p:cNvPr id="15" name="Oval 14"/>
          <p:cNvSpPr/>
          <p:nvPr/>
        </p:nvSpPr>
        <p:spPr>
          <a:xfrm>
            <a:off x="502920" y="2688336"/>
            <a:ext cx="438912" cy="438912"/>
          </a:xfrm>
          <a:prstGeom prst="ellipse">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16" name="Picture 15" descr="hourglass_w.png"/>
          <p:cNvPicPr>
            <a:picLocks noChangeAspect="1"/>
          </p:cNvPicPr>
          <p:nvPr/>
        </p:nvPicPr>
        <p:blipFill>
          <a:blip r:embed="rId8"/>
          <a:stretch>
            <a:fillRect/>
          </a:stretch>
        </p:blipFill>
        <p:spPr>
          <a:xfrm>
            <a:off x="617037" y="2802453"/>
            <a:ext cx="210677" cy="210677"/>
          </a:xfrm>
          <a:prstGeom prst="rect">
            <a:avLst/>
          </a:prstGeom>
        </p:spPr>
      </p:pic>
      <p:sp>
        <p:nvSpPr>
          <p:cNvPr id="17" name="TextBox 16"/>
          <p:cNvSpPr txBox="1"/>
          <p:nvPr/>
        </p:nvSpPr>
        <p:spPr>
          <a:xfrm>
            <a:off x="1097280" y="2679192"/>
            <a:ext cx="3931920" cy="237744"/>
          </a:xfrm>
          <a:prstGeom prst="rect">
            <a:avLst/>
          </a:prstGeom>
          <a:noFill/>
        </p:spPr>
        <p:txBody>
          <a:bodyPr wrap="square" lIns="0" rIns="0" tIns="0" bIns="0" anchor="t">
            <a:spAutoFit/>
          </a:bodyPr>
          <a:lstStyle/>
          <a:p>
            <a:pPr algn="l"/>
            <a:r>
              <a:rPr sz="1200" b="1" i="0">
                <a:solidFill>
                  <a:srgbClr val="1E4173"/>
                </a:solidFill>
                <a:latin typeface="Calibri"/>
              </a:rPr>
              <a:t>Deadlines</a:t>
            </a:r>
          </a:p>
        </p:txBody>
      </p:sp>
      <p:sp>
        <p:nvSpPr>
          <p:cNvPr id="18" name="TextBox 17"/>
          <p:cNvSpPr txBox="1"/>
          <p:nvPr/>
        </p:nvSpPr>
        <p:spPr>
          <a:xfrm>
            <a:off x="1097280" y="2907791"/>
            <a:ext cx="3931920" cy="256032"/>
          </a:xfrm>
          <a:prstGeom prst="rect">
            <a:avLst/>
          </a:prstGeom>
          <a:noFill/>
        </p:spPr>
        <p:txBody>
          <a:bodyPr wrap="square" lIns="0" rIns="0" tIns="0" bIns="0" anchor="t">
            <a:spAutoFit/>
          </a:bodyPr>
          <a:lstStyle/>
          <a:p>
            <a:pPr algn="l"/>
            <a:r>
              <a:rPr sz="1100" b="1" i="0">
                <a:solidFill>
                  <a:srgbClr val="A9740A"/>
                </a:solidFill>
                <a:latin typeface="Calibri"/>
              </a:rPr>
              <a:t>Late submission is no submission.</a:t>
            </a:r>
          </a:p>
        </p:txBody>
      </p:sp>
      <p:sp>
        <p:nvSpPr>
          <p:cNvPr id="19" name="Oval 18"/>
          <p:cNvSpPr/>
          <p:nvPr/>
        </p:nvSpPr>
        <p:spPr>
          <a:xfrm>
            <a:off x="502920" y="3273552"/>
            <a:ext cx="438912" cy="438912"/>
          </a:xfrm>
          <a:prstGeom prst="ellipse">
            <a:avLst/>
          </a:prstGeom>
          <a:solidFill>
            <a:srgbClr val="1E41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pic>
        <p:nvPicPr>
          <p:cNvPr id="20" name="Picture 19" descr="comments_w.png"/>
          <p:cNvPicPr>
            <a:picLocks noChangeAspect="1"/>
          </p:cNvPicPr>
          <p:nvPr/>
        </p:nvPicPr>
        <p:blipFill>
          <a:blip r:embed="rId9"/>
          <a:stretch>
            <a:fillRect/>
          </a:stretch>
        </p:blipFill>
        <p:spPr>
          <a:xfrm>
            <a:off x="617037" y="3387669"/>
            <a:ext cx="210677" cy="210677"/>
          </a:xfrm>
          <a:prstGeom prst="rect">
            <a:avLst/>
          </a:prstGeom>
        </p:spPr>
      </p:pic>
      <p:sp>
        <p:nvSpPr>
          <p:cNvPr id="21" name="TextBox 20"/>
          <p:cNvSpPr txBox="1"/>
          <p:nvPr/>
        </p:nvSpPr>
        <p:spPr>
          <a:xfrm>
            <a:off x="1097280" y="3264408"/>
            <a:ext cx="3931920" cy="237744"/>
          </a:xfrm>
          <a:prstGeom prst="rect">
            <a:avLst/>
          </a:prstGeom>
          <a:noFill/>
        </p:spPr>
        <p:txBody>
          <a:bodyPr wrap="square" lIns="0" rIns="0" tIns="0" bIns="0" anchor="t">
            <a:spAutoFit/>
          </a:bodyPr>
          <a:lstStyle/>
          <a:p>
            <a:pPr algn="l"/>
            <a:r>
              <a:rPr sz="1200" b="1" i="0">
                <a:solidFill>
                  <a:srgbClr val="1E4173"/>
                </a:solidFill>
                <a:latin typeface="Calibri"/>
              </a:rPr>
              <a:t>Respect</a:t>
            </a:r>
          </a:p>
        </p:txBody>
      </p:sp>
      <p:sp>
        <p:nvSpPr>
          <p:cNvPr id="22" name="TextBox 21"/>
          <p:cNvSpPr txBox="1"/>
          <p:nvPr/>
        </p:nvSpPr>
        <p:spPr>
          <a:xfrm>
            <a:off x="1097280" y="3493008"/>
            <a:ext cx="3931920" cy="256032"/>
          </a:xfrm>
          <a:prstGeom prst="rect">
            <a:avLst/>
          </a:prstGeom>
          <a:noFill/>
        </p:spPr>
        <p:txBody>
          <a:bodyPr wrap="square" lIns="0" rIns="0" tIns="0" bIns="0" anchor="t">
            <a:spAutoFit/>
          </a:bodyPr>
          <a:lstStyle/>
          <a:p>
            <a:pPr algn="l"/>
            <a:r>
              <a:rPr sz="1100" b="0" i="0">
                <a:solidFill>
                  <a:srgbClr val="3A4450"/>
                </a:solidFill>
                <a:latin typeface="Calibri"/>
              </a:rPr>
              <a:t>Challenge ideas, not people. Disagree constructively.</a:t>
            </a:r>
          </a:p>
        </p:txBody>
      </p:sp>
      <p:sp>
        <p:nvSpPr>
          <p:cNvPr id="23" name="Rounded Rectangle 22"/>
          <p:cNvSpPr/>
          <p:nvPr/>
        </p:nvSpPr>
        <p:spPr>
          <a:xfrm>
            <a:off x="5349240" y="1481328"/>
            <a:ext cx="3291840" cy="2432304"/>
          </a:xfrm>
          <a:prstGeom prst="roundRect">
            <a:avLst>
              <a:gd name="adj" fmla="val 4511"/>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24" name="TextBox 23"/>
          <p:cNvSpPr txBox="1"/>
          <p:nvPr/>
        </p:nvSpPr>
        <p:spPr>
          <a:xfrm>
            <a:off x="5550408" y="1591056"/>
            <a:ext cx="2926080" cy="182880"/>
          </a:xfrm>
          <a:prstGeom prst="rect">
            <a:avLst/>
          </a:prstGeom>
          <a:noFill/>
        </p:spPr>
        <p:txBody>
          <a:bodyPr wrap="square" lIns="0" rIns="0" tIns="0" bIns="0" anchor="t">
            <a:spAutoFit/>
          </a:bodyPr>
          <a:lstStyle/>
          <a:p>
            <a:pPr algn="l"/>
            <a:r>
              <a:rPr sz="850" b="1" i="0">
                <a:solidFill>
                  <a:srgbClr val="1E4173"/>
                </a:solidFill>
                <a:latin typeface="Calibri"/>
              </a:rPr>
              <a:t>OUR CLASS CONTRACT</a:t>
            </a:r>
          </a:p>
        </p:txBody>
      </p:sp>
      <p:sp>
        <p:nvSpPr>
          <p:cNvPr id="25" name="TextBox 24"/>
          <p:cNvSpPr txBox="1"/>
          <p:nvPr/>
        </p:nvSpPr>
        <p:spPr>
          <a:xfrm>
            <a:off x="5550408" y="1792224"/>
            <a:ext cx="2926080" cy="274320"/>
          </a:xfrm>
          <a:prstGeom prst="rect">
            <a:avLst/>
          </a:prstGeom>
          <a:noFill/>
        </p:spPr>
        <p:txBody>
          <a:bodyPr wrap="square" lIns="0" rIns="0" tIns="0" bIns="0" anchor="t">
            <a:spAutoFit/>
          </a:bodyPr>
          <a:lstStyle/>
          <a:p>
            <a:pPr algn="l"/>
            <a:r>
              <a:rPr sz="1050" b="0" i="0">
                <a:solidFill>
                  <a:srgbClr val="3A4450"/>
                </a:solidFill>
                <a:latin typeface="Calibri"/>
              </a:rPr>
              <a:t>Agree 3–5 shared habits today.</a:t>
            </a:r>
          </a:p>
        </p:txBody>
      </p:sp>
      <p:sp>
        <p:nvSpPr>
          <p:cNvPr id="26" name="Rectangle 25"/>
          <p:cNvSpPr/>
          <p:nvPr/>
        </p:nvSpPr>
        <p:spPr>
          <a:xfrm>
            <a:off x="5550408" y="2157984"/>
            <a:ext cx="1371600" cy="731520"/>
          </a:xfrm>
          <a:prstGeom prst="rect">
            <a:avLst/>
          </a:prstGeom>
          <a:solidFill>
            <a:srgbClr val="FBEFC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0" i="1">
                <a:solidFill>
                  <a:srgbClr val="5A6472"/>
                </a:solidFill>
                <a:latin typeface="Calibri"/>
              </a:rPr>
              <a:t>Habit 1</a:t>
            </a:r>
          </a:p>
        </p:txBody>
      </p:sp>
      <p:sp>
        <p:nvSpPr>
          <p:cNvPr id="27" name="Rectangle 26"/>
          <p:cNvSpPr/>
          <p:nvPr/>
        </p:nvSpPr>
        <p:spPr>
          <a:xfrm>
            <a:off x="7031736" y="2157984"/>
            <a:ext cx="1371600" cy="731520"/>
          </a:xfrm>
          <a:prstGeom prst="rect">
            <a:avLst/>
          </a:prstGeom>
          <a:solidFill>
            <a:srgbClr val="FBEFC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0" i="1">
                <a:solidFill>
                  <a:srgbClr val="5A6472"/>
                </a:solidFill>
                <a:latin typeface="Calibri"/>
              </a:rPr>
              <a:t>Habit 2</a:t>
            </a:r>
          </a:p>
        </p:txBody>
      </p:sp>
      <p:sp>
        <p:nvSpPr>
          <p:cNvPr id="28" name="Rectangle 27"/>
          <p:cNvSpPr/>
          <p:nvPr/>
        </p:nvSpPr>
        <p:spPr>
          <a:xfrm>
            <a:off x="5550408" y="2999232"/>
            <a:ext cx="1371600" cy="731520"/>
          </a:xfrm>
          <a:prstGeom prst="rect">
            <a:avLst/>
          </a:prstGeom>
          <a:solidFill>
            <a:srgbClr val="FBEFC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0" i="1">
                <a:solidFill>
                  <a:srgbClr val="5A6472"/>
                </a:solidFill>
                <a:latin typeface="Calibri"/>
              </a:rPr>
              <a:t>Habit 3</a:t>
            </a:r>
          </a:p>
        </p:txBody>
      </p:sp>
      <p:sp>
        <p:nvSpPr>
          <p:cNvPr id="29" name="Rectangle 28"/>
          <p:cNvSpPr/>
          <p:nvPr/>
        </p:nvSpPr>
        <p:spPr>
          <a:xfrm>
            <a:off x="7031736" y="2999232"/>
            <a:ext cx="1371600" cy="731520"/>
          </a:xfrm>
          <a:prstGeom prst="rect">
            <a:avLst/>
          </a:prstGeom>
          <a:solidFill>
            <a:srgbClr val="FBEFC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000" b="0" i="1">
                <a:solidFill>
                  <a:srgbClr val="5A6472"/>
                </a:solidFill>
                <a:latin typeface="Calibri"/>
              </a:rPr>
              <a:t>Habit 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17</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What you do after this class</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Your first move starts today.</a:t>
            </a:r>
            <a:endParaRPr lang="en-US" sz="900" dirty="0"/>
          </a:p>
        </p:txBody>
      </p:sp>
      <p:sp>
        <p:nvSpPr>
          <p:cNvPr id="11" name="Shape 8"/>
          <p:cNvSpPr/>
          <p:nvPr/>
        </p:nvSpPr>
        <p:spPr>
          <a:xfrm>
            <a:off x="502920" y="3968496"/>
            <a:ext cx="8138160" cy="384048"/>
          </a:xfrm>
          <a:prstGeom prst="roundRect">
            <a:avLst>
              <a:gd name="adj" fmla="val 9524"/>
            </a:avLst>
          </a:prstGeom>
          <a:solidFill>
            <a:srgbClr val="1E4173"/>
          </a:solidFill>
          <a:ln w="9525">
            <a:solidFill>
              <a:srgbClr val="1E4173"/>
            </a:solidFill>
            <a:prstDash val="solid"/>
          </a:ln>
        </p:spPr>
        <p:txBody>
          <a:bodyPr/>
          <a:p/>
        </p:txBody>
      </p:sp>
      <p:sp>
        <p:nvSpPr>
          <p:cNvPr id="12" name="Text 9"/>
          <p:cNvSpPr/>
          <p:nvPr/>
        </p:nvSpPr>
        <p:spPr>
          <a:xfrm>
            <a:off x="667512" y="3968496"/>
            <a:ext cx="7808976" cy="384048"/>
          </a:xfrm>
          <a:prstGeom prst="rect">
            <a:avLst/>
          </a:prstGeom>
          <a:noFill/>
          <a:ln/>
        </p:spPr>
        <p:txBody>
          <a:bodyPr wrap="square" lIns="0" tIns="0" rIns="0" bIns="0" rtlCol="0" anchor="ctr"/>
          <a:lstStyle/>
          <a:p>
            <a:pPr marL="0" indent="0">
              <a:buNone/>
            </a:pPr>
            <a:r>
              <a:rPr lang="en-US" sz="950" b="1" i="1" dirty="0">
                <a:solidFill>
                  <a:srgbClr val="FFFFFF"/>
                </a:solidFill>
                <a:latin typeface="Calibri" pitchFamily="34" charset="0"/>
                <a:ea typeface="Calibri" pitchFamily="34" charset="-122"/>
                <a:cs typeface="Calibri" pitchFamily="34" charset="-120"/>
              </a:rPr>
              <a:t>Do not invent a client problem in the final week. Start the conversation now.</a:t>
            </a:r>
            <a:endParaRPr lang="en-US" sz="950" dirty="0"/>
          </a:p>
        </p:txBody>
      </p:sp>
      <p:sp>
        <p:nvSpPr>
          <p:cNvPr id="13" name="Rounded Rectangle 12"/>
          <p:cNvSpPr/>
          <p:nvPr/>
        </p:nvSpPr>
        <p:spPr>
          <a:xfrm>
            <a:off x="502920" y="1499616"/>
            <a:ext cx="822960" cy="237744"/>
          </a:xfrm>
          <a:prstGeom prst="roundRect">
            <a:avLst>
              <a:gd name="adj" fmla="val 50000"/>
            </a:avLst>
          </a:prstGeom>
          <a:solidFill>
            <a:srgbClr val="A9740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00" b="1" i="0">
                <a:solidFill>
                  <a:srgbClr val="FFFFFF"/>
                </a:solidFill>
                <a:latin typeface="Calibri"/>
              </a:rPr>
              <a:t>TODAY</a:t>
            </a:r>
          </a:p>
        </p:txBody>
      </p:sp>
      <p:sp>
        <p:nvSpPr>
          <p:cNvPr id="26" name="Rounded Rectangle 25"/>
          <p:cNvSpPr/>
          <p:nvPr/>
        </p:nvSpPr>
        <p:spPr>
          <a:xfrm>
            <a:off x="5486400" y="1499616"/>
            <a:ext cx="3154680" cy="2322576"/>
          </a:xfrm>
          <a:prstGeom prst="roundRect">
            <a:avLst>
              <a:gd name="adj" fmla="val 4724"/>
            </a:avLst>
          </a:prstGeom>
          <a:solidFill>
            <a:srgbClr val="E6ECF5"/>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endParaRPr/>
          </a:p>
        </p:txBody>
      </p:sp>
      <p:sp>
        <p:nvSpPr>
          <p:cNvPr id="27" name="TextBox 26"/>
          <p:cNvSpPr txBox="1"/>
          <p:nvPr/>
        </p:nvSpPr>
        <p:spPr>
          <a:xfrm>
            <a:off x="5715000" y="1627632"/>
            <a:ext cx="2743200" cy="182880"/>
          </a:xfrm>
          <a:prstGeom prst="rect">
            <a:avLst/>
          </a:prstGeom>
          <a:noFill/>
        </p:spPr>
        <p:txBody>
          <a:bodyPr wrap="square" lIns="0" tIns="0" rIns="0" bIns="0" anchor="t">
            <a:spAutoFit/>
          </a:bodyPr>
          <a:lstStyle/>
          <a:p>
            <a:pPr algn="l"/>
            <a:r>
              <a:rPr sz="850" b="1" i="0">
                <a:solidFill>
                  <a:srgbClr val="1E4173"/>
                </a:solidFill>
                <a:latin typeface="Calibri"/>
              </a:rPr>
              <a:t>BY THE END OF AFW, YOU CAN SHOW</a:t>
            </a:r>
          </a:p>
        </p:txBody>
      </p:sp>
      <p:pic>
        <p:nvPicPr>
          <p:cNvPr id="28" name="Picture 27" descr="check_n.png"/>
          <p:cNvPicPr>
            <a:picLocks noChangeAspect="1"/>
          </p:cNvPicPr>
          <p:nvPr/>
        </p:nvPicPr>
        <p:blipFill>
          <a:blip r:embed="rId5"/>
          <a:stretch>
            <a:fillRect/>
          </a:stretch>
        </p:blipFill>
        <p:spPr>
          <a:xfrm>
            <a:off x="5715000" y="1947672"/>
            <a:ext cx="201168" cy="201168"/>
          </a:xfrm>
          <a:prstGeom prst="rect">
            <a:avLst/>
          </a:prstGeom>
        </p:spPr>
      </p:pic>
      <p:sp>
        <p:nvSpPr>
          <p:cNvPr id="29" name="TextBox 28"/>
          <p:cNvSpPr txBox="1"/>
          <p:nvPr/>
        </p:nvSpPr>
        <p:spPr>
          <a:xfrm>
            <a:off x="6035040" y="1920240"/>
            <a:ext cx="2468880" cy="310896"/>
          </a:xfrm>
          <a:prstGeom prst="rect">
            <a:avLst/>
          </a:prstGeom>
          <a:noFill/>
        </p:spPr>
        <p:txBody>
          <a:bodyPr wrap="square" lIns="0" tIns="0" rIns="0" bIns="0" anchor="t">
            <a:spAutoFit/>
          </a:bodyPr>
          <a:lstStyle/>
          <a:p>
            <a:pPr algn="l"/>
            <a:r>
              <a:rPr sz="1150" b="1" i="0">
                <a:solidFill>
                  <a:srgbClr val="1E4173"/>
                </a:solidFill>
                <a:latin typeface="Calibri"/>
              </a:rPr>
              <a:t>A real problem</a:t>
            </a:r>
          </a:p>
        </p:txBody>
      </p:sp>
      <p:pic>
        <p:nvPicPr>
          <p:cNvPr id="30" name="Picture 29" descr="check_n.png"/>
          <p:cNvPicPr>
            <a:picLocks noChangeAspect="1"/>
          </p:cNvPicPr>
          <p:nvPr/>
        </p:nvPicPr>
        <p:blipFill>
          <a:blip r:embed="rId5"/>
          <a:stretch>
            <a:fillRect/>
          </a:stretch>
        </p:blipFill>
        <p:spPr>
          <a:xfrm>
            <a:off x="5715000" y="2313432"/>
            <a:ext cx="201168" cy="201168"/>
          </a:xfrm>
          <a:prstGeom prst="rect">
            <a:avLst/>
          </a:prstGeom>
        </p:spPr>
      </p:pic>
      <p:sp>
        <p:nvSpPr>
          <p:cNvPr id="31" name="TextBox 30"/>
          <p:cNvSpPr txBox="1"/>
          <p:nvPr/>
        </p:nvSpPr>
        <p:spPr>
          <a:xfrm>
            <a:off x="6035040" y="2286000"/>
            <a:ext cx="2468880" cy="310896"/>
          </a:xfrm>
          <a:prstGeom prst="rect">
            <a:avLst/>
          </a:prstGeom>
          <a:noFill/>
        </p:spPr>
        <p:txBody>
          <a:bodyPr wrap="square" lIns="0" tIns="0" rIns="0" bIns="0" anchor="t">
            <a:spAutoFit/>
          </a:bodyPr>
          <a:lstStyle/>
          <a:p>
            <a:pPr algn="l"/>
            <a:r>
              <a:rPr sz="1150" b="1" i="0">
                <a:solidFill>
                  <a:srgbClr val="1E4173"/>
                </a:solidFill>
                <a:latin typeface="Calibri"/>
              </a:rPr>
              <a:t>How you studied it</a:t>
            </a:r>
          </a:p>
        </p:txBody>
      </p:sp>
      <p:pic>
        <p:nvPicPr>
          <p:cNvPr id="32" name="Picture 31" descr="check_n.png"/>
          <p:cNvPicPr>
            <a:picLocks noChangeAspect="1"/>
          </p:cNvPicPr>
          <p:nvPr/>
        </p:nvPicPr>
        <p:blipFill>
          <a:blip r:embed="rId5"/>
          <a:stretch>
            <a:fillRect/>
          </a:stretch>
        </p:blipFill>
        <p:spPr>
          <a:xfrm>
            <a:off x="5715000" y="2679192"/>
            <a:ext cx="201168" cy="201168"/>
          </a:xfrm>
          <a:prstGeom prst="rect">
            <a:avLst/>
          </a:prstGeom>
        </p:spPr>
      </p:pic>
      <p:sp>
        <p:nvSpPr>
          <p:cNvPr id="33" name="TextBox 32"/>
          <p:cNvSpPr txBox="1"/>
          <p:nvPr/>
        </p:nvSpPr>
        <p:spPr>
          <a:xfrm>
            <a:off x="6035040" y="2651760"/>
            <a:ext cx="2468880" cy="310896"/>
          </a:xfrm>
          <a:prstGeom prst="rect">
            <a:avLst/>
          </a:prstGeom>
          <a:noFill/>
        </p:spPr>
        <p:txBody>
          <a:bodyPr wrap="square" lIns="0" tIns="0" rIns="0" bIns="0" anchor="t">
            <a:spAutoFit/>
          </a:bodyPr>
          <a:lstStyle/>
          <a:p>
            <a:pPr algn="l"/>
            <a:r>
              <a:rPr sz="1150" b="1" i="0">
                <a:solidFill>
                  <a:srgbClr val="1E4173"/>
                </a:solidFill>
                <a:latin typeface="Calibri"/>
              </a:rPr>
              <a:t>A working solution</a:t>
            </a:r>
          </a:p>
        </p:txBody>
      </p:sp>
      <p:pic>
        <p:nvPicPr>
          <p:cNvPr id="34" name="Picture 33" descr="check_n.png"/>
          <p:cNvPicPr>
            <a:picLocks noChangeAspect="1"/>
          </p:cNvPicPr>
          <p:nvPr/>
        </p:nvPicPr>
        <p:blipFill>
          <a:blip r:embed="rId5"/>
          <a:stretch>
            <a:fillRect/>
          </a:stretch>
        </p:blipFill>
        <p:spPr>
          <a:xfrm>
            <a:off x="5715000" y="3044952"/>
            <a:ext cx="201168" cy="201168"/>
          </a:xfrm>
          <a:prstGeom prst="rect">
            <a:avLst/>
          </a:prstGeom>
        </p:spPr>
      </p:pic>
      <p:sp>
        <p:nvSpPr>
          <p:cNvPr id="35" name="TextBox 34"/>
          <p:cNvSpPr txBox="1"/>
          <p:nvPr/>
        </p:nvSpPr>
        <p:spPr>
          <a:xfrm>
            <a:off x="6035040" y="3017520"/>
            <a:ext cx="2468880" cy="310896"/>
          </a:xfrm>
          <a:prstGeom prst="rect">
            <a:avLst/>
          </a:prstGeom>
          <a:noFill/>
        </p:spPr>
        <p:txBody>
          <a:bodyPr wrap="square" lIns="0" tIns="0" rIns="0" bIns="0" anchor="t">
            <a:spAutoFit/>
          </a:bodyPr>
          <a:lstStyle/>
          <a:p>
            <a:pPr algn="l"/>
            <a:r>
              <a:rPr sz="1150" b="1" i="0">
                <a:solidFill>
                  <a:srgbClr val="1E4173"/>
                </a:solidFill>
                <a:latin typeface="Calibri"/>
              </a:rPr>
              <a:t>Where it fails and how you improved it</a:t>
            </a:r>
          </a:p>
        </p:txBody>
      </p:sp>
      <p:pic>
        <p:nvPicPr>
          <p:cNvPr id="36" name="Picture 35" descr="check_n.png"/>
          <p:cNvPicPr>
            <a:picLocks noChangeAspect="1"/>
          </p:cNvPicPr>
          <p:nvPr/>
        </p:nvPicPr>
        <p:blipFill>
          <a:blip r:embed="rId5"/>
          <a:stretch>
            <a:fillRect/>
          </a:stretch>
        </p:blipFill>
        <p:spPr>
          <a:xfrm>
            <a:off x="5715000" y="3410712"/>
            <a:ext cx="201168" cy="201168"/>
          </a:xfrm>
          <a:prstGeom prst="rect">
            <a:avLst/>
          </a:prstGeom>
        </p:spPr>
      </p:pic>
      <p:sp>
        <p:nvSpPr>
          <p:cNvPr id="37" name="TextBox 36"/>
          <p:cNvSpPr txBox="1"/>
          <p:nvPr/>
        </p:nvSpPr>
        <p:spPr>
          <a:xfrm>
            <a:off x="6035040" y="3383280"/>
            <a:ext cx="2468880" cy="310896"/>
          </a:xfrm>
          <a:prstGeom prst="rect">
            <a:avLst/>
          </a:prstGeom>
          <a:noFill/>
        </p:spPr>
        <p:txBody>
          <a:bodyPr wrap="square" lIns="0" tIns="0" rIns="0" bIns="0" anchor="t">
            <a:spAutoFit/>
          </a:bodyPr>
          <a:lstStyle/>
          <a:p>
            <a:pPr algn="l"/>
            <a:r>
              <a:rPr sz="1150" b="1" i="0">
                <a:solidFill>
                  <a:srgbClr val="1E4173"/>
                </a:solidFill>
                <a:latin typeface="Calibri"/>
              </a:rPr>
              <a:t>Your personal contribution</a:t>
            </a:r>
          </a:p>
        </p:txBody>
      </p:sp>
      <p:sp>
        <p:nvSpPr>
          <p:cNvPr id="38" name="Rounded Rectangle 37"/>
          <p:cNvSpPr/>
          <p:nvPr/>
        </p:nvSpPr>
        <p:spPr>
          <a:xfrm>
            <a:off x="548640" y="1837943"/>
            <a:ext cx="201168" cy="201168"/>
          </a:xfrm>
          <a:prstGeom prst="roundRect">
            <a:avLst>
              <a:gd name="adj" fmla="val 18181"/>
            </a:avLst>
          </a:prstGeom>
          <a:solidFill>
            <a:srgbClr val="FFFFFF"/>
          </a:solidFill>
          <a:ln w="19050">
            <a:solidFill>
              <a:srgbClr val="1E417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39" name="TextBox 38"/>
          <p:cNvSpPr txBox="1"/>
          <p:nvPr/>
        </p:nvSpPr>
        <p:spPr>
          <a:xfrm>
            <a:off x="914400" y="1810512"/>
            <a:ext cx="4343400" cy="301752"/>
          </a:xfrm>
          <a:prstGeom prst="rect">
            <a:avLst/>
          </a:prstGeom>
          <a:noFill/>
        </p:spPr>
        <p:txBody>
          <a:bodyPr wrap="square" lIns="0" rIns="0" tIns="0" bIns="0" anchor="t">
            <a:spAutoFit/>
          </a:bodyPr>
          <a:lstStyle/>
          <a:p>
            <a:pPr algn="l"/>
            <a:r>
              <a:rPr sz="1200" b="0" i="0">
                <a:solidFill>
                  <a:srgbClr val="3A4450"/>
                </a:solidFill>
                <a:latin typeface="Calibri"/>
              </a:rPr>
              <a:t>Confer with your Learning Teams.</a:t>
            </a:r>
          </a:p>
        </p:txBody>
      </p:sp>
      <p:sp>
        <p:nvSpPr>
          <p:cNvPr id="40" name="Rounded Rectangle 39"/>
          <p:cNvSpPr/>
          <p:nvPr/>
        </p:nvSpPr>
        <p:spPr>
          <a:xfrm>
            <a:off x="548640" y="2139696"/>
            <a:ext cx="201168" cy="201168"/>
          </a:xfrm>
          <a:prstGeom prst="roundRect">
            <a:avLst>
              <a:gd name="adj" fmla="val 18181"/>
            </a:avLst>
          </a:prstGeom>
          <a:solidFill>
            <a:srgbClr val="FFFFFF"/>
          </a:solidFill>
          <a:ln w="19050">
            <a:solidFill>
              <a:srgbClr val="1E417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41" name="TextBox 40"/>
          <p:cNvSpPr txBox="1"/>
          <p:nvPr/>
        </p:nvSpPr>
        <p:spPr>
          <a:xfrm>
            <a:off x="914400" y="2112264"/>
            <a:ext cx="4343400" cy="301752"/>
          </a:xfrm>
          <a:prstGeom prst="rect">
            <a:avLst/>
          </a:prstGeom>
          <a:noFill/>
        </p:spPr>
        <p:txBody>
          <a:bodyPr wrap="square" lIns="0" rIns="0" tIns="0" bIns="0" anchor="t">
            <a:spAutoFit/>
          </a:bodyPr>
          <a:lstStyle/>
          <a:p>
            <a:pPr algn="l"/>
            <a:r>
              <a:rPr sz="1200" b="0" i="0">
                <a:solidFill>
                  <a:srgbClr val="3A4450"/>
                </a:solidFill>
                <a:latin typeface="Calibri"/>
              </a:rPr>
              <a:t>Choose a sector and list possible organisations.</a:t>
            </a:r>
          </a:p>
        </p:txBody>
      </p:sp>
      <p:sp>
        <p:nvSpPr>
          <p:cNvPr id="42" name="Rounded Rectangle 41"/>
          <p:cNvSpPr/>
          <p:nvPr/>
        </p:nvSpPr>
        <p:spPr>
          <a:xfrm>
            <a:off x="548640" y="2441448"/>
            <a:ext cx="201168" cy="201168"/>
          </a:xfrm>
          <a:prstGeom prst="roundRect">
            <a:avLst>
              <a:gd name="adj" fmla="val 18181"/>
            </a:avLst>
          </a:prstGeom>
          <a:solidFill>
            <a:srgbClr val="FFFFFF"/>
          </a:solidFill>
          <a:ln w="19050">
            <a:solidFill>
              <a:srgbClr val="1E417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43" name="TextBox 42"/>
          <p:cNvSpPr txBox="1"/>
          <p:nvPr/>
        </p:nvSpPr>
        <p:spPr>
          <a:xfrm>
            <a:off x="914400" y="2414016"/>
            <a:ext cx="4343400" cy="301752"/>
          </a:xfrm>
          <a:prstGeom prst="rect">
            <a:avLst/>
          </a:prstGeom>
          <a:noFill/>
        </p:spPr>
        <p:txBody>
          <a:bodyPr wrap="square" lIns="0" rIns="0" tIns="0" bIns="0" anchor="t">
            <a:spAutoFit/>
          </a:bodyPr>
          <a:lstStyle/>
          <a:p>
            <a:pPr algn="l"/>
            <a:r>
              <a:rPr sz="1200" b="0" i="0">
                <a:solidFill>
                  <a:srgbClr val="3A4450"/>
                </a:solidFill>
                <a:latin typeface="Calibri"/>
              </a:rPr>
              <a:t>Identify at least one relevant practitioner per team member.</a:t>
            </a:r>
          </a:p>
        </p:txBody>
      </p:sp>
      <p:sp>
        <p:nvSpPr>
          <p:cNvPr id="44" name="Rounded Rectangle 43"/>
          <p:cNvSpPr/>
          <p:nvPr/>
        </p:nvSpPr>
        <p:spPr>
          <a:xfrm>
            <a:off x="548640" y="2743200"/>
            <a:ext cx="201168" cy="201168"/>
          </a:xfrm>
          <a:prstGeom prst="roundRect">
            <a:avLst>
              <a:gd name="adj" fmla="val 18181"/>
            </a:avLst>
          </a:prstGeom>
          <a:solidFill>
            <a:srgbClr val="FFFFFF"/>
          </a:solidFill>
          <a:ln w="19050">
            <a:solidFill>
              <a:srgbClr val="1E417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45" name="TextBox 44"/>
          <p:cNvSpPr txBox="1"/>
          <p:nvPr/>
        </p:nvSpPr>
        <p:spPr>
          <a:xfrm>
            <a:off x="914400" y="2715768"/>
            <a:ext cx="4343400" cy="301752"/>
          </a:xfrm>
          <a:prstGeom prst="rect">
            <a:avLst/>
          </a:prstGeom>
          <a:noFill/>
        </p:spPr>
        <p:txBody>
          <a:bodyPr wrap="square" lIns="0" rIns="0" tIns="0" bIns="0" anchor="t">
            <a:spAutoFit/>
          </a:bodyPr>
          <a:lstStyle/>
          <a:p>
            <a:pPr algn="l"/>
            <a:r>
              <a:rPr sz="1200" b="0" i="0">
                <a:solidFill>
                  <a:srgbClr val="3A4450"/>
                </a:solidFill>
                <a:latin typeface="Calibri"/>
              </a:rPr>
              <a:t>Send the first outreach </a:t>
            </a:r>
            <a:r>
              <a:rPr sz="1200" b="1" i="0">
                <a:solidFill>
                  <a:srgbClr val="1E4173"/>
                </a:solidFill>
                <a:latin typeface="Calibri"/>
              </a:rPr>
              <a:t>from your FIIB email</a:t>
            </a:r>
            <a:r>
              <a:rPr sz="1200" b="0" i="0">
                <a:solidFill>
                  <a:srgbClr val="3A4450"/>
                </a:solidFill>
                <a:latin typeface="Calibri"/>
              </a:rPr>
              <a:t>.</a:t>
            </a:r>
          </a:p>
        </p:txBody>
      </p:sp>
      <p:sp>
        <p:nvSpPr>
          <p:cNvPr id="46" name="Rounded Rectangle 45"/>
          <p:cNvSpPr/>
          <p:nvPr/>
        </p:nvSpPr>
        <p:spPr>
          <a:xfrm>
            <a:off x="548640" y="3044952"/>
            <a:ext cx="201168" cy="201168"/>
          </a:xfrm>
          <a:prstGeom prst="roundRect">
            <a:avLst>
              <a:gd name="adj" fmla="val 18181"/>
            </a:avLst>
          </a:prstGeom>
          <a:solidFill>
            <a:srgbClr val="FFFFFF"/>
          </a:solidFill>
          <a:ln w="19050">
            <a:solidFill>
              <a:srgbClr val="1E417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47" name="TextBox 46"/>
          <p:cNvSpPr txBox="1"/>
          <p:nvPr/>
        </p:nvSpPr>
        <p:spPr>
          <a:xfrm>
            <a:off x="914400" y="3017520"/>
            <a:ext cx="4343400" cy="457200"/>
          </a:xfrm>
          <a:prstGeom prst="rect">
            <a:avLst/>
          </a:prstGeom>
          <a:noFill/>
        </p:spPr>
        <p:txBody>
          <a:bodyPr wrap="square" lIns="0" rIns="0" tIns="0" bIns="0" anchor="t">
            <a:spAutoFit/>
          </a:bodyPr>
          <a:lstStyle/>
          <a:p>
            <a:pPr algn="l"/>
            <a:r>
              <a:rPr sz="1200" b="0" i="0">
                <a:solidFill>
                  <a:srgbClr val="3A4450"/>
                </a:solidFill>
                <a:latin typeface="Calibri"/>
              </a:rPr>
              <a:t>Start the team’s </a:t>
            </a:r>
            <a:r>
              <a:rPr sz="1200" b="1" i="0">
                <a:solidFill>
                  <a:srgbClr val="1E4173"/>
                </a:solidFill>
                <a:latin typeface="Calibri"/>
              </a:rPr>
              <a:t>cumulative physical evidence folder</a:t>
            </a:r>
            <a:r>
              <a:rPr sz="1200" b="0" i="0">
                <a:solidFill>
                  <a:srgbClr val="3A4450"/>
                </a:solidFill>
                <a:latin typeface="Calibri"/>
              </a:rPr>
              <a:t> and preserve the official communication trail. Keep your own copy.</a:t>
            </a:r>
          </a:p>
        </p:txBody>
      </p:sp>
      <p:sp>
        <p:nvSpPr>
          <p:cNvPr id="48" name="Rounded Rectangle 47"/>
          <p:cNvSpPr/>
          <p:nvPr/>
        </p:nvSpPr>
        <p:spPr>
          <a:xfrm>
            <a:off x="548640" y="3502152"/>
            <a:ext cx="201168" cy="201168"/>
          </a:xfrm>
          <a:prstGeom prst="roundRect">
            <a:avLst>
              <a:gd name="adj" fmla="val 18181"/>
            </a:avLst>
          </a:prstGeom>
          <a:solidFill>
            <a:srgbClr val="FFFFFF"/>
          </a:solidFill>
          <a:ln w="19050">
            <a:solidFill>
              <a:srgbClr val="1E417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49" name="TextBox 48"/>
          <p:cNvSpPr txBox="1"/>
          <p:nvPr/>
        </p:nvSpPr>
        <p:spPr>
          <a:xfrm>
            <a:off x="914400" y="3474720"/>
            <a:ext cx="4343400" cy="438912"/>
          </a:xfrm>
          <a:prstGeom prst="rect">
            <a:avLst/>
          </a:prstGeom>
          <a:noFill/>
        </p:spPr>
        <p:txBody>
          <a:bodyPr wrap="square" lIns="0" rIns="0" tIns="0" bIns="0" anchor="t">
            <a:spAutoFit/>
          </a:bodyPr>
          <a:lstStyle/>
          <a:p>
            <a:pPr algn="l"/>
            <a:r>
              <a:rPr sz="1400" b="0" i="0">
                <a:solidFill>
                  <a:srgbClr val="3A4450"/>
                </a:solidFill>
                <a:latin typeface="Calibri"/>
              </a:rPr>
              <a:t>Come to Session 1 ready to explain the problem you are exploring.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image2.png"/>
          <p:cNvPicPr>
            <a:picLocks noChangeAspect="1"/>
          </p:cNvPicPr>
          <p:nvPr/>
        </p:nvPicPr>
        <p:blipFill>
          <a:blip r:embed="rId4"/>
          <a:stretch>
            <a:fillRect/>
          </a:stretch>
        </p:blipFill>
        <p:spPr>
          <a:xfrm>
            <a:off x="1024128" y="274320"/>
            <a:ext cx="1051560" cy="420624"/>
          </a:xfrm>
          <a:prstGeom prst="rect">
            <a:avLst/>
          </a:prstGeom>
        </p:spPr>
      </p:pic>
      <p:sp>
        <p:nvSpPr>
          <p:cNvPr id="3" name="Text 0"/>
          <p:cNvSpPr/>
          <p:nvPr/>
        </p:nvSpPr>
        <p:spPr>
          <a:xfrm>
            <a:off x="2212848" y="274320"/>
            <a:ext cx="4754880" cy="420624"/>
          </a:xfrm>
          <a:prstGeom prst="rect">
            <a:avLst/>
          </a:prstGeom>
          <a:noFill/>
          <a:ln/>
        </p:spPr>
        <p:txBody>
          <a:bodyPr wrap="square" lIns="0" tIns="0" rIns="0" bIns="0" rtlCol="0" anchor="ctr"/>
          <a:lstStyle/>
          <a:p>
            <a:pPr marL="0" indent="0">
              <a:buNone/>
            </a:pPr>
            <a:r>
              <a:rPr lang="en-US" sz="750" b="1" kern="0" spc="100" dirty="0">
                <a:solidFill>
                  <a:srgbClr val="A9740A"/>
                </a:solidFill>
                <a:latin typeface="Calibri" pitchFamily="34" charset="0"/>
                <a:ea typeface="Calibri" pitchFamily="34" charset="-122"/>
                <a:cs typeface="Calibri" pitchFamily="34" charset="-120"/>
              </a:rPr>
              <a:t>AI &amp; THE FUTURE OF WORK   ·   SESSION 0 BRIEFING</a:t>
            </a:r>
            <a:endParaRPr lang="en-US" sz="750" dirty="0"/>
          </a:p>
        </p:txBody>
      </p:sp>
      <p:sp>
        <p:nvSpPr>
          <p:cNvPr id="4" name="Text 1"/>
          <p:cNvSpPr/>
          <p:nvPr/>
        </p:nvSpPr>
        <p:spPr>
          <a:xfrm>
            <a:off x="7086600" y="274320"/>
            <a:ext cx="548640" cy="420624"/>
          </a:xfrm>
          <a:prstGeom prst="rect">
            <a:avLst/>
          </a:prstGeom>
          <a:noFill/>
          <a:ln/>
        </p:spPr>
        <p:txBody>
          <a:bodyPr wrap="square" lIns="0" tIns="0" rIns="0" bIns="0" rtlCol="0" anchor="ctr"/>
          <a:lstStyle/>
          <a:p>
            <a:pPr marL="0" indent="0" algn="r">
              <a:buNone/>
            </a:pPr>
            <a:r>
              <a:rPr lang="en-US" sz="800" b="1" dirty="0">
                <a:solidFill>
                  <a:srgbClr val="1E4173"/>
                </a:solidFill>
                <a:latin typeface="Calibri" pitchFamily="34" charset="0"/>
                <a:ea typeface="Calibri" pitchFamily="34" charset="-122"/>
                <a:cs typeface="Calibri" pitchFamily="34" charset="-120"/>
              </a:rPr>
              <a:t>18</a:t>
            </a:r>
            <a:endParaRPr lang="en-US" sz="800" dirty="0"/>
          </a:p>
        </p:txBody>
      </p:sp>
      <p:sp>
        <p:nvSpPr>
          <p:cNvPr id="5" name="Text 2"/>
          <p:cNvSpPr/>
          <p:nvPr/>
        </p:nvSpPr>
        <p:spPr>
          <a:xfrm>
            <a:off x="502920" y="786384"/>
            <a:ext cx="8138160" cy="402336"/>
          </a:xfrm>
          <a:prstGeom prst="rect">
            <a:avLst/>
          </a:prstGeom>
          <a:noFill/>
          <a:ln/>
        </p:spPr>
        <p:txBody>
          <a:bodyPr wrap="square" lIns="0" tIns="0" rIns="0" bIns="0" rtlCol="0" anchor="ctr"/>
          <a:lstStyle/>
          <a:p>
            <a:pPr marL="0" indent="0">
              <a:buNone/>
            </a:pPr>
            <a:r>
              <a:rPr lang="en-US" sz="2000" b="1" dirty="0">
                <a:solidFill>
                  <a:srgbClr val="1E4173"/>
                </a:solidFill>
                <a:latin typeface="Cambria" pitchFamily="34" charset="0"/>
                <a:ea typeface="Cambria" pitchFamily="34" charset="-122"/>
                <a:cs typeface="Cambria" pitchFamily="34" charset="-120"/>
              </a:rPr>
              <a:t>Questions? A quick FAQ</a:t>
            </a:r>
            <a:endParaRPr lang="en-US" sz="2000" dirty="0"/>
          </a:p>
        </p:txBody>
      </p:sp>
      <p:sp>
        <p:nvSpPr>
          <p:cNvPr id="6" name="Text 3"/>
          <p:cNvSpPr/>
          <p:nvPr/>
        </p:nvSpPr>
        <p:spPr>
          <a:xfrm>
            <a:off x="502920" y="1170432"/>
            <a:ext cx="8138160" cy="237744"/>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Common questions, short answers.</a:t>
            </a:r>
            <a:endParaRPr lang="en-US" sz="900" dirty="0"/>
          </a:p>
        </p:txBody>
      </p:sp>
      <p:sp>
        <p:nvSpPr>
          <p:cNvPr id="11" name="Shape 8"/>
          <p:cNvSpPr/>
          <p:nvPr/>
        </p:nvSpPr>
        <p:spPr>
          <a:xfrm>
            <a:off x="502920" y="3968496"/>
            <a:ext cx="8138160" cy="384048"/>
          </a:xfrm>
          <a:prstGeom prst="roundRect">
            <a:avLst>
              <a:gd name="adj" fmla="val 9524"/>
            </a:avLst>
          </a:prstGeom>
          <a:solidFill>
            <a:srgbClr val="1E4173"/>
          </a:solidFill>
          <a:ln w="9525">
            <a:solidFill>
              <a:srgbClr val="1E4173"/>
            </a:solidFill>
            <a:prstDash val="solid"/>
          </a:ln>
        </p:spPr>
        <p:txBody>
          <a:bodyPr/>
          <a:p/>
        </p:txBody>
      </p:sp>
      <p:sp>
        <p:nvSpPr>
          <p:cNvPr id="12" name="Text 9"/>
          <p:cNvSpPr/>
          <p:nvPr/>
        </p:nvSpPr>
        <p:spPr>
          <a:xfrm>
            <a:off x="667512" y="3968496"/>
            <a:ext cx="7808976" cy="384048"/>
          </a:xfrm>
          <a:prstGeom prst="rect">
            <a:avLst/>
          </a:prstGeom>
          <a:noFill/>
          <a:ln/>
        </p:spPr>
        <p:txBody>
          <a:bodyPr wrap="square" lIns="0" tIns="0" rIns="0" bIns="0" rtlCol="0" anchor="ctr"/>
          <a:lstStyle/>
          <a:p>
            <a:pPr marL="0" indent="0">
              <a:buNone/>
            </a:pPr>
            <a:r>
              <a:rPr lang="en-US" sz="950" b="1" i="1" dirty="0">
                <a:solidFill>
                  <a:srgbClr val="FFFFFF"/>
                </a:solidFill>
                <a:latin typeface="Calibri" pitchFamily="34" charset="0"/>
                <a:ea typeface="Calibri" pitchFamily="34" charset="-122"/>
                <a:cs typeface="Calibri" pitchFamily="34" charset="-120"/>
              </a:rPr>
              <a:t>“How can managers redesign work, workflows, and professional value so humans and AI systems create better business outcomes together?”</a:t>
            </a:r>
            <a:endParaRPr lang="en-US" sz="950" dirty="0"/>
          </a:p>
        </p:txBody>
      </p:sp>
      <p:pic>
        <p:nvPicPr>
          <p:cNvPr id="13" name="Picture 12" descr="image.png"/>
          <p:cNvPicPr>
            <a:picLocks noChangeAspect="1"/>
          </p:cNvPicPr>
          <p:nvPr/>
        </p:nvPicPr>
        <p:blipFill>
          <a:blip r:embed="rId2"/>
          <a:stretch>
            <a:fillRect/>
          </a:stretch>
        </p:blipFill>
        <p:spPr>
          <a:xfrm>
            <a:off x="502920" y="1481328"/>
            <a:ext cx="201168" cy="201168"/>
          </a:xfrm>
          <a:prstGeom prst="rect">
            <a:avLst/>
          </a:prstGeom>
        </p:spPr>
      </p:pic>
      <p:sp>
        <p:nvSpPr>
          <p:cNvPr id="14" name="TextBox 13"/>
          <p:cNvSpPr txBox="1"/>
          <p:nvPr/>
        </p:nvSpPr>
        <p:spPr>
          <a:xfrm>
            <a:off x="813816" y="1463040"/>
            <a:ext cx="3703320" cy="237744"/>
          </a:xfrm>
          <a:prstGeom prst="rect">
            <a:avLst/>
          </a:prstGeom>
          <a:noFill/>
        </p:spPr>
        <p:txBody>
          <a:bodyPr wrap="square" lIns="0" rIns="0" tIns="0" bIns="0" anchor="t">
            <a:spAutoFit/>
          </a:bodyPr>
          <a:lstStyle/>
          <a:p>
            <a:pPr algn="l"/>
            <a:r>
              <a:rPr sz="1100" b="1" i="0">
                <a:solidFill>
                  <a:srgbClr val="1E4173"/>
                </a:solidFill>
                <a:latin typeface="Calibri"/>
              </a:rPr>
              <a:t>Can we choose our own organisation?</a:t>
            </a:r>
          </a:p>
        </p:txBody>
      </p:sp>
      <p:sp>
        <p:nvSpPr>
          <p:cNvPr id="15" name="TextBox 14"/>
          <p:cNvSpPr txBox="1"/>
          <p:nvPr/>
        </p:nvSpPr>
        <p:spPr>
          <a:xfrm>
            <a:off x="813816" y="1691640"/>
            <a:ext cx="3703320" cy="338328"/>
          </a:xfrm>
          <a:prstGeom prst="rect">
            <a:avLst/>
          </a:prstGeom>
          <a:noFill/>
        </p:spPr>
        <p:txBody>
          <a:bodyPr wrap="square" lIns="0" rIns="0" tIns="0" bIns="0" anchor="t">
            <a:spAutoFit/>
          </a:bodyPr>
          <a:lstStyle/>
          <a:p>
            <a:pPr algn="l"/>
            <a:r>
              <a:rPr sz="1000" b="0" i="0">
                <a:solidFill>
                  <a:srgbClr val="3A4450"/>
                </a:solidFill>
                <a:latin typeface="Calibri"/>
              </a:rPr>
              <a:t>Yes, if the problem is real and specific, and you can study the work.</a:t>
            </a:r>
          </a:p>
        </p:txBody>
      </p:sp>
      <p:pic>
        <p:nvPicPr>
          <p:cNvPr id="16" name="Picture 15" descr="image.png"/>
          <p:cNvPicPr>
            <a:picLocks noChangeAspect="1"/>
          </p:cNvPicPr>
          <p:nvPr/>
        </p:nvPicPr>
        <p:blipFill>
          <a:blip r:embed="rId2"/>
          <a:stretch>
            <a:fillRect/>
          </a:stretch>
        </p:blipFill>
        <p:spPr>
          <a:xfrm>
            <a:off x="502920" y="2048256"/>
            <a:ext cx="201168" cy="201168"/>
          </a:xfrm>
          <a:prstGeom prst="rect">
            <a:avLst/>
          </a:prstGeom>
        </p:spPr>
      </p:pic>
      <p:sp>
        <p:nvSpPr>
          <p:cNvPr id="17" name="TextBox 16"/>
          <p:cNvSpPr txBox="1"/>
          <p:nvPr/>
        </p:nvSpPr>
        <p:spPr>
          <a:xfrm>
            <a:off x="813816" y="2029968"/>
            <a:ext cx="3703320" cy="237744"/>
          </a:xfrm>
          <a:prstGeom prst="rect">
            <a:avLst/>
          </a:prstGeom>
          <a:noFill/>
        </p:spPr>
        <p:txBody>
          <a:bodyPr wrap="square" lIns="0" rIns="0" tIns="0" bIns="0" anchor="t">
            <a:spAutoFit/>
          </a:bodyPr>
          <a:lstStyle/>
          <a:p>
            <a:pPr algn="l"/>
            <a:r>
              <a:rPr sz="1100" b="1" i="0">
                <a:solidFill>
                  <a:srgbClr val="1E4173"/>
                </a:solidFill>
                <a:latin typeface="Calibri"/>
              </a:rPr>
              <a:t>What if the practitioner has no official email?</a:t>
            </a:r>
          </a:p>
        </p:txBody>
      </p:sp>
      <p:sp>
        <p:nvSpPr>
          <p:cNvPr id="18" name="TextBox 17"/>
          <p:cNvSpPr txBox="1"/>
          <p:nvPr/>
        </p:nvSpPr>
        <p:spPr>
          <a:xfrm>
            <a:off x="813816" y="2258568"/>
            <a:ext cx="3703320" cy="338328"/>
          </a:xfrm>
          <a:prstGeom prst="rect">
            <a:avLst/>
          </a:prstGeom>
          <a:noFill/>
        </p:spPr>
        <p:txBody>
          <a:bodyPr wrap="square" lIns="0" rIns="0" tIns="0" bIns="0" anchor="t">
            <a:spAutoFit/>
          </a:bodyPr>
          <a:lstStyle/>
          <a:p>
            <a:pPr algn="l"/>
            <a:r>
              <a:rPr sz="1000" b="0" i="0">
                <a:solidFill>
                  <a:srgbClr val="3A4450"/>
                </a:solidFill>
                <a:latin typeface="Calibri"/>
              </a:rPr>
              <a:t>Ask the faculty to approve another evidence route first.</a:t>
            </a:r>
          </a:p>
        </p:txBody>
      </p:sp>
      <p:pic>
        <p:nvPicPr>
          <p:cNvPr id="19" name="Picture 18" descr="image.png"/>
          <p:cNvPicPr>
            <a:picLocks noChangeAspect="1"/>
          </p:cNvPicPr>
          <p:nvPr/>
        </p:nvPicPr>
        <p:blipFill>
          <a:blip r:embed="rId2"/>
          <a:stretch>
            <a:fillRect/>
          </a:stretch>
        </p:blipFill>
        <p:spPr>
          <a:xfrm>
            <a:off x="502920" y="2615184"/>
            <a:ext cx="201168" cy="201168"/>
          </a:xfrm>
          <a:prstGeom prst="rect">
            <a:avLst/>
          </a:prstGeom>
        </p:spPr>
      </p:pic>
      <p:sp>
        <p:nvSpPr>
          <p:cNvPr id="20" name="TextBox 19"/>
          <p:cNvSpPr txBox="1"/>
          <p:nvPr/>
        </p:nvSpPr>
        <p:spPr>
          <a:xfrm>
            <a:off x="813816" y="2596896"/>
            <a:ext cx="3703320" cy="237744"/>
          </a:xfrm>
          <a:prstGeom prst="rect">
            <a:avLst/>
          </a:prstGeom>
          <a:noFill/>
        </p:spPr>
        <p:txBody>
          <a:bodyPr wrap="square" lIns="0" rIns="0" tIns="0" bIns="0" anchor="t">
            <a:spAutoFit/>
          </a:bodyPr>
          <a:lstStyle/>
          <a:p>
            <a:pPr algn="l"/>
            <a:r>
              <a:rPr sz="1100" b="1" i="0">
                <a:solidFill>
                  <a:srgbClr val="1E4173"/>
                </a:solidFill>
                <a:latin typeface="Calibri"/>
              </a:rPr>
              <a:t>Do I need to know how to code?</a:t>
            </a:r>
          </a:p>
        </p:txBody>
      </p:sp>
      <p:sp>
        <p:nvSpPr>
          <p:cNvPr id="21" name="TextBox 20"/>
          <p:cNvSpPr txBox="1"/>
          <p:nvPr/>
        </p:nvSpPr>
        <p:spPr>
          <a:xfrm>
            <a:off x="813816" y="2825496"/>
            <a:ext cx="3703320" cy="338328"/>
          </a:xfrm>
          <a:prstGeom prst="rect">
            <a:avLst/>
          </a:prstGeom>
          <a:noFill/>
        </p:spPr>
        <p:txBody>
          <a:bodyPr wrap="square" lIns="0" rIns="0" tIns="0" bIns="0" anchor="t">
            <a:spAutoFit/>
          </a:bodyPr>
          <a:lstStyle/>
          <a:p>
            <a:pPr algn="l"/>
            <a:r>
              <a:rPr sz="1000" b="0" i="0">
                <a:solidFill>
                  <a:srgbClr val="3A4450"/>
                </a:solidFill>
                <a:latin typeface="Calibri"/>
              </a:rPr>
              <a:t>No. Labs and the four LinkedIn Learning courses teach the tools.</a:t>
            </a:r>
          </a:p>
        </p:txBody>
      </p:sp>
      <p:pic>
        <p:nvPicPr>
          <p:cNvPr id="22" name="Picture 21" descr="image.png"/>
          <p:cNvPicPr>
            <a:picLocks noChangeAspect="1"/>
          </p:cNvPicPr>
          <p:nvPr/>
        </p:nvPicPr>
        <p:blipFill>
          <a:blip r:embed="rId2"/>
          <a:stretch>
            <a:fillRect/>
          </a:stretch>
        </p:blipFill>
        <p:spPr>
          <a:xfrm>
            <a:off x="502920" y="3182112"/>
            <a:ext cx="201168" cy="201168"/>
          </a:xfrm>
          <a:prstGeom prst="rect">
            <a:avLst/>
          </a:prstGeom>
        </p:spPr>
      </p:pic>
      <p:sp>
        <p:nvSpPr>
          <p:cNvPr id="23" name="TextBox 22"/>
          <p:cNvSpPr txBox="1"/>
          <p:nvPr/>
        </p:nvSpPr>
        <p:spPr>
          <a:xfrm>
            <a:off x="813816" y="3163824"/>
            <a:ext cx="3703320" cy="237744"/>
          </a:xfrm>
          <a:prstGeom prst="rect">
            <a:avLst/>
          </a:prstGeom>
          <a:noFill/>
        </p:spPr>
        <p:txBody>
          <a:bodyPr wrap="square" lIns="0" rIns="0" tIns="0" bIns="0" anchor="t">
            <a:spAutoFit/>
          </a:bodyPr>
          <a:lstStyle/>
          <a:p>
            <a:pPr algn="l"/>
            <a:r>
              <a:rPr sz="1100" b="1" i="0">
                <a:solidFill>
                  <a:srgbClr val="1E4173"/>
                </a:solidFill>
                <a:latin typeface="Calibri"/>
              </a:rPr>
              <a:t>Can we use AI in our work?</a:t>
            </a:r>
          </a:p>
        </p:txBody>
      </p:sp>
      <p:sp>
        <p:nvSpPr>
          <p:cNvPr id="24" name="TextBox 23"/>
          <p:cNvSpPr txBox="1"/>
          <p:nvPr/>
        </p:nvSpPr>
        <p:spPr>
          <a:xfrm>
            <a:off x="813816" y="3392424"/>
            <a:ext cx="3703320" cy="338328"/>
          </a:xfrm>
          <a:prstGeom prst="rect">
            <a:avLst/>
          </a:prstGeom>
          <a:noFill/>
        </p:spPr>
        <p:txBody>
          <a:bodyPr wrap="square" lIns="0" rIns="0" tIns="0" bIns="0" anchor="t">
            <a:spAutoFit/>
          </a:bodyPr>
          <a:lstStyle/>
          <a:p>
            <a:pPr algn="l"/>
            <a:r>
              <a:rPr sz="1000" b="0" i="0">
                <a:solidFill>
                  <a:srgbClr val="3A4450"/>
                </a:solidFill>
                <a:latin typeface="Calibri"/>
              </a:rPr>
              <a:t>Yes, within each assessment’s AI level. Judgement stays yours.</a:t>
            </a:r>
          </a:p>
        </p:txBody>
      </p:sp>
      <p:pic>
        <p:nvPicPr>
          <p:cNvPr id="25" name="Picture 24" descr="image.png"/>
          <p:cNvPicPr>
            <a:picLocks noChangeAspect="1"/>
          </p:cNvPicPr>
          <p:nvPr/>
        </p:nvPicPr>
        <p:blipFill>
          <a:blip r:embed="rId2"/>
          <a:stretch>
            <a:fillRect/>
          </a:stretch>
        </p:blipFill>
        <p:spPr>
          <a:xfrm>
            <a:off x="4663440" y="1481328"/>
            <a:ext cx="201168" cy="201168"/>
          </a:xfrm>
          <a:prstGeom prst="rect">
            <a:avLst/>
          </a:prstGeom>
        </p:spPr>
      </p:pic>
      <p:sp>
        <p:nvSpPr>
          <p:cNvPr id="26" name="TextBox 25"/>
          <p:cNvSpPr txBox="1"/>
          <p:nvPr/>
        </p:nvSpPr>
        <p:spPr>
          <a:xfrm>
            <a:off x="4974336" y="1463040"/>
            <a:ext cx="3703320" cy="237744"/>
          </a:xfrm>
          <a:prstGeom prst="rect">
            <a:avLst/>
          </a:prstGeom>
          <a:noFill/>
        </p:spPr>
        <p:txBody>
          <a:bodyPr wrap="square" lIns="0" rIns="0" tIns="0" bIns="0" anchor="t">
            <a:spAutoFit/>
          </a:bodyPr>
          <a:lstStyle/>
          <a:p>
            <a:pPr algn="l"/>
            <a:r>
              <a:rPr sz="1100" b="1" i="0">
                <a:solidFill>
                  <a:srgbClr val="1E4173"/>
                </a:solidFill>
                <a:latin typeface="Calibri"/>
              </a:rPr>
              <a:t>What if we submit late?</a:t>
            </a:r>
          </a:p>
        </p:txBody>
      </p:sp>
      <p:sp>
        <p:nvSpPr>
          <p:cNvPr id="27" name="TextBox 26"/>
          <p:cNvSpPr txBox="1"/>
          <p:nvPr/>
        </p:nvSpPr>
        <p:spPr>
          <a:xfrm>
            <a:off x="4974336" y="1691640"/>
            <a:ext cx="3703320" cy="228600"/>
          </a:xfrm>
          <a:prstGeom prst="rect">
            <a:avLst/>
          </a:prstGeom>
          <a:noFill/>
        </p:spPr>
        <p:txBody>
          <a:bodyPr wrap="square" lIns="0" rIns="0" tIns="0" bIns="0" anchor="t">
            <a:spAutoFit/>
          </a:bodyPr>
          <a:lstStyle/>
          <a:p>
            <a:pPr algn="l"/>
            <a:r>
              <a:rPr sz="1000" b="0" i="0">
                <a:solidFill>
                  <a:srgbClr val="3A4450"/>
                </a:solidFill>
                <a:latin typeface="Calibri"/>
              </a:rPr>
              <a:t>Late submission is no submission.</a:t>
            </a:r>
          </a:p>
        </p:txBody>
      </p:sp>
      <p:pic>
        <p:nvPicPr>
          <p:cNvPr id="28" name="Picture 27" descr="image.png"/>
          <p:cNvPicPr>
            <a:picLocks noChangeAspect="1"/>
          </p:cNvPicPr>
          <p:nvPr/>
        </p:nvPicPr>
        <p:blipFill>
          <a:blip r:embed="rId2"/>
          <a:stretch>
            <a:fillRect/>
          </a:stretch>
        </p:blipFill>
        <p:spPr>
          <a:xfrm>
            <a:off x="4663440" y="1938528"/>
            <a:ext cx="201168" cy="201168"/>
          </a:xfrm>
          <a:prstGeom prst="rect">
            <a:avLst/>
          </a:prstGeom>
        </p:spPr>
      </p:pic>
      <p:sp>
        <p:nvSpPr>
          <p:cNvPr id="29" name="TextBox 28"/>
          <p:cNvSpPr txBox="1"/>
          <p:nvPr/>
        </p:nvSpPr>
        <p:spPr>
          <a:xfrm>
            <a:off x="4974336" y="1920240"/>
            <a:ext cx="3703320" cy="237744"/>
          </a:xfrm>
          <a:prstGeom prst="rect">
            <a:avLst/>
          </a:prstGeom>
          <a:noFill/>
        </p:spPr>
        <p:txBody>
          <a:bodyPr wrap="square" lIns="0" rIns="0" tIns="0" bIns="0" anchor="t">
            <a:spAutoFit/>
          </a:bodyPr>
          <a:lstStyle/>
          <a:p>
            <a:pPr algn="l"/>
            <a:r>
              <a:rPr sz="1100" b="1" i="0">
                <a:solidFill>
                  <a:srgbClr val="1E4173"/>
                </a:solidFill>
                <a:latin typeface="Calibri"/>
              </a:rPr>
              <a:t>Is the e-portfolio a team task?</a:t>
            </a:r>
          </a:p>
        </p:txBody>
      </p:sp>
      <p:sp>
        <p:nvSpPr>
          <p:cNvPr id="30" name="TextBox 29"/>
          <p:cNvSpPr txBox="1"/>
          <p:nvPr/>
        </p:nvSpPr>
        <p:spPr>
          <a:xfrm>
            <a:off x="4974336" y="2148840"/>
            <a:ext cx="3703320" cy="265176"/>
          </a:xfrm>
          <a:prstGeom prst="rect">
            <a:avLst/>
          </a:prstGeom>
          <a:noFill/>
        </p:spPr>
        <p:txBody>
          <a:bodyPr wrap="square" lIns="0" rIns="0" tIns="0" bIns="0" anchor="t">
            <a:spAutoFit/>
          </a:bodyPr>
          <a:lstStyle/>
          <a:p>
            <a:pPr algn="l"/>
            <a:r>
              <a:rPr sz="1000" b="0" i="0">
                <a:solidFill>
                  <a:srgbClr val="3A4450"/>
                </a:solidFill>
                <a:latin typeface="Calibri"/>
              </a:rPr>
              <a:t>No. It is individual (15 marks) and shows your own contribution.</a:t>
            </a:r>
          </a:p>
        </p:txBody>
      </p:sp>
      <p:pic>
        <p:nvPicPr>
          <p:cNvPr id="31" name="Picture 30" descr="image.png"/>
          <p:cNvPicPr>
            <a:picLocks noChangeAspect="1"/>
          </p:cNvPicPr>
          <p:nvPr/>
        </p:nvPicPr>
        <p:blipFill>
          <a:blip r:embed="rId2"/>
          <a:stretch>
            <a:fillRect/>
          </a:stretch>
        </p:blipFill>
        <p:spPr>
          <a:xfrm>
            <a:off x="4663440" y="2432304"/>
            <a:ext cx="201168" cy="201168"/>
          </a:xfrm>
          <a:prstGeom prst="rect">
            <a:avLst/>
          </a:prstGeom>
        </p:spPr>
      </p:pic>
      <p:sp>
        <p:nvSpPr>
          <p:cNvPr id="32" name="TextBox 31"/>
          <p:cNvSpPr txBox="1"/>
          <p:nvPr/>
        </p:nvSpPr>
        <p:spPr>
          <a:xfrm>
            <a:off x="4974336" y="2414016"/>
            <a:ext cx="3703320" cy="237744"/>
          </a:xfrm>
          <a:prstGeom prst="rect">
            <a:avLst/>
          </a:prstGeom>
          <a:noFill/>
        </p:spPr>
        <p:txBody>
          <a:bodyPr wrap="square" lIns="0" rIns="0" tIns="0" bIns="0" anchor="t">
            <a:spAutoFit/>
          </a:bodyPr>
          <a:lstStyle/>
          <a:p>
            <a:pPr algn="l"/>
            <a:r>
              <a:rPr sz="1100" b="1" i="0">
                <a:solidFill>
                  <a:srgbClr val="1E4173"/>
                </a:solidFill>
                <a:latin typeface="Calibri"/>
              </a:rPr>
              <a:t>What if I miss a LinkedIn certificate?</a:t>
            </a:r>
          </a:p>
        </p:txBody>
      </p:sp>
      <p:sp>
        <p:nvSpPr>
          <p:cNvPr id="33" name="TextBox 32"/>
          <p:cNvSpPr txBox="1"/>
          <p:nvPr/>
        </p:nvSpPr>
        <p:spPr>
          <a:xfrm>
            <a:off x="4974336" y="2642616"/>
            <a:ext cx="3703320" cy="521207"/>
          </a:xfrm>
          <a:prstGeom prst="rect">
            <a:avLst/>
          </a:prstGeom>
          <a:noFill/>
        </p:spPr>
        <p:txBody>
          <a:bodyPr wrap="square" lIns="0" rIns="0" tIns="0" bIns="0" anchor="t">
            <a:spAutoFit/>
          </a:bodyPr>
          <a:lstStyle/>
          <a:p>
            <a:pPr algn="l"/>
            <a:r>
              <a:rPr sz="1000" b="0" i="0">
                <a:solidFill>
                  <a:srgbClr val="3A4450"/>
                </a:solidFill>
                <a:latin typeface="Calibri"/>
              </a:rPr>
              <a:t>Each valid certificate is 2.5 marks. All four, with verification links, are due by Session 17; without all four you are not eligible for Session 18 or Sessions 19–20.</a:t>
            </a:r>
          </a:p>
        </p:txBody>
      </p:sp>
      <p:pic>
        <p:nvPicPr>
          <p:cNvPr id="34" name="Picture 33" descr="image.png"/>
          <p:cNvPicPr>
            <a:picLocks noChangeAspect="1"/>
          </p:cNvPicPr>
          <p:nvPr/>
        </p:nvPicPr>
        <p:blipFill>
          <a:blip r:embed="rId2"/>
          <a:stretch>
            <a:fillRect/>
          </a:stretch>
        </p:blipFill>
        <p:spPr>
          <a:xfrm>
            <a:off x="4663440" y="3182112"/>
            <a:ext cx="201168" cy="201168"/>
          </a:xfrm>
          <a:prstGeom prst="rect">
            <a:avLst/>
          </a:prstGeom>
        </p:spPr>
      </p:pic>
      <p:sp>
        <p:nvSpPr>
          <p:cNvPr id="35" name="TextBox 34"/>
          <p:cNvSpPr txBox="1"/>
          <p:nvPr/>
        </p:nvSpPr>
        <p:spPr>
          <a:xfrm>
            <a:off x="4974336" y="3163824"/>
            <a:ext cx="3703320" cy="237744"/>
          </a:xfrm>
          <a:prstGeom prst="rect">
            <a:avLst/>
          </a:prstGeom>
          <a:noFill/>
        </p:spPr>
        <p:txBody>
          <a:bodyPr wrap="square" lIns="0" rIns="0" tIns="0" bIns="0" anchor="t">
            <a:spAutoFit/>
          </a:bodyPr>
          <a:lstStyle/>
          <a:p>
            <a:pPr algn="l"/>
            <a:r>
              <a:rPr sz="1100" b="1" i="0">
                <a:solidFill>
                  <a:srgbClr val="1E4173"/>
                </a:solidFill>
                <a:latin typeface="Calibri"/>
              </a:rPr>
              <a:t>What if our evidence folder is incomplete?</a:t>
            </a:r>
          </a:p>
        </p:txBody>
      </p:sp>
      <p:sp>
        <p:nvSpPr>
          <p:cNvPr id="36" name="TextBox 35"/>
          <p:cNvSpPr txBox="1"/>
          <p:nvPr/>
        </p:nvSpPr>
        <p:spPr>
          <a:xfrm>
            <a:off x="4974336" y="3392424"/>
            <a:ext cx="3703320" cy="411479"/>
          </a:xfrm>
          <a:prstGeom prst="rect">
            <a:avLst/>
          </a:prstGeom>
          <a:noFill/>
        </p:spPr>
        <p:txBody>
          <a:bodyPr wrap="square" lIns="0" rIns="0" tIns="0" bIns="0" anchor="t">
            <a:spAutoFit/>
          </a:bodyPr>
          <a:lstStyle/>
          <a:p>
            <a:pPr algn="l"/>
            <a:r>
              <a:rPr sz="1000" b="0" i="0">
                <a:solidFill>
                  <a:srgbClr val="3A4450"/>
                </a:solidFill>
                <a:latin typeface="Calibri"/>
              </a:rPr>
              <a:t>It is a gate. Without the required approved folder, the team cannot appear for that WIP or the final assessment.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3817</Words>
  <Application>Microsoft Office PowerPoint</Application>
  <PresentationFormat>On-screen Show (16:9)</PresentationFormat>
  <Paragraphs>405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FIIB Template — Opening / Content / Thank You</dc:title>
  <dc:subject>PptxGenJS Presentation</dc:subject>
  <dc:creator>FIIB</dc:creator>
  <cp:lastModifiedBy>Shardul Shankar</cp:lastModifiedBy>
  <cp:revision>3</cp:revision>
  <dcterms:created xsi:type="dcterms:W3CDTF">2026-08-24T19:12:00Z</dcterms:created>
  <dcterms:modified xsi:type="dcterms:W3CDTF">2026-09-28T07:29:06Z</dcterms:modified>
</cp:coreProperties>
</file>